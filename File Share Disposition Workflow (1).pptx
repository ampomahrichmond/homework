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path for expired records on the file shares. It starts with the Data Governance Solutions team running the BigID scan and retention rules. My team then runs automated Databricks checks to confirm two things: the record has truly expired, and it sits in the correct location. Anything that fails goes back to DGS and never reaches review. Validated folders go into quarantine, where they stay restricted but recoverable for the whole review window. The RIM Area Liaison gets the consolidated list for awareness and only needs to act if something looks wrong. Erica approves the batch, and Brett adds his approval for anything more than 10 years past creation, last modification or last access. Once approvals are in, DGS kicks off the deletion in BigID or through Python, and we keep the evidence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controls that make each deletion defensible. Validation happens before anyone is asked to review, so approvers only see records we have already confirmed as expired and correctly located, with legal holds excluded. The liaison step is for awareness, but any concern pulls the folder out of the batch. Erica approves every batch and Brett adds his sign-off on the oldest records. Quarantine gives us a safety net through the review window, and every batch ends with a disposition log. To launch, we need agreement on three things: how long quarantine lasts, how long each review gate has, and which business areas go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view is about partnerships and approvals. The RIM Program, led by Brett Wise, owns the retention schedules that DGS turns into BigID rules. DGS runs the scan and hands the candidate list to my team. We validate in Databricks, and anything that fails a check goes back to DGS to fix. Validated folders go into quarantine, and the consolidated folder list goes to the RIM Area Liaisons for awareness. If a liaison raises an issue, the folder comes out of the batch. The approval package then goes to Erica on the Data Governance side. Once she endorses it, Brett approves or rejects the planned disposition for the RIM Program. A rejection at either point is documented, and the content is retained or returned to us. Once approved, DGS executes the deletion in BigID or through Python and returns the deletion log. We verify it and send the evidence to the RIM Program, which accepts it and closes the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711178" y="660356"/>
            <a:ext cx="10769534" cy="408892"/>
          </a:xfrm>
          <a:prstGeom prst="rect">
            <a:avLst/>
          </a:prstGeom>
          <a:noFill/>
          <a:ln/>
        </p:spPr>
        <p:txBody>
          <a:bodyPr wrap="square" lIns="0" tIns="0" rIns="0" bIns="0" rtlCol="0" anchor="t"/>
          <a:lstStyle>
            <a:lvl1pPr algn="l" indent="0" marL="0">
              <a:lnSpc>
                <a:spcPct val="115000"/>
              </a:lnSpc>
              <a:buNone/>
              <a:defRPr lang="en-US" sz="2800" dirty="0">
                <a:solidFill>
                  <a:srgbClr val="2E3338"/>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711178" y="1374047"/>
            <a:ext cx="10668022" cy="4671153"/>
          </a:xfrm>
          <a:prstGeom prst="rect">
            <a:avLst/>
          </a:prstGeom>
          <a:noFill/>
          <a:ln/>
        </p:spPr>
        <p:txBody>
          <a:bodyPr wrap="square" lIns="0" tIns="0" rIns="0" bIns="0" rtlCol="0" anchor="t"/>
          <a:lstStyle>
            <a:lvl1pPr algn="l" indent="0" marL="0">
              <a:lnSpc>
                <a:spcPct val="140000"/>
              </a:lnSpc>
              <a:buNone/>
              <a:defRPr lang="en-US" sz="1600" dirty="0">
                <a:solidFill>
                  <a:srgbClr val="2E3338"/>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711178" y="660356"/>
            <a:ext cx="10769534" cy="408892"/>
          </a:xfrm>
          <a:prstGeom prst="rect">
            <a:avLst/>
          </a:prstGeom>
          <a:noFill/>
          <a:ln/>
        </p:spPr>
        <p:txBody>
          <a:bodyPr wrap="square" lIns="0" tIns="0" rIns="0" bIns="0" rtlCol="0" anchor="t"/>
          <a:lstStyle>
            <a:lvl1pPr algn="l" indent="0" marL="0">
              <a:lnSpc>
                <a:spcPct val="115000"/>
              </a:lnSpc>
              <a:buNone/>
              <a:defRPr lang="en-US" sz="2800" dirty="0">
                <a:solidFill>
                  <a:srgbClr val="2E3338"/>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711178" y="1374047"/>
            <a:ext cx="10668022" cy="4671153"/>
          </a:xfrm>
          <a:prstGeom prst="rect">
            <a:avLst/>
          </a:prstGeom>
          <a:noFill/>
          <a:ln/>
        </p:spPr>
        <p:txBody>
          <a:bodyPr wrap="square" lIns="0" tIns="0" rIns="0" bIns="0" rtlCol="0" anchor="t"/>
          <a:lstStyle>
            <a:lvl1pPr algn="l" indent="0" marL="0">
              <a:lnSpc>
                <a:spcPct val="140000"/>
              </a:lnSpc>
              <a:buNone/>
              <a:defRPr lang="en-US" sz="1600" dirty="0">
                <a:solidFill>
                  <a:srgbClr val="2E3338"/>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2.xml"/><Relationship Id="rId1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711178" y="495212"/>
            <a:ext cx="304712" cy="38034"/>
          </a:xfrm>
          <a:prstGeom prst="roundRect">
            <a:avLst>
              <a:gd name="adj" fmla="val 50000"/>
            </a:avLst>
          </a:prstGeom>
          <a:solidFill>
            <a:srgbClr val="FFC72C"/>
          </a:solidFill>
          <a:ln/>
        </p:spPr>
      </p:sp>
      <p:sp>
        <p:nvSpPr>
          <p:cNvPr id="3" name="Text 1"/>
          <p:cNvSpPr/>
          <p:nvPr/>
        </p:nvSpPr>
        <p:spPr>
          <a:xfrm>
            <a:off x="1117534" y="393678"/>
            <a:ext cx="9156701" cy="23861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3338"/>
                </a:solidFill>
                <a:latin typeface="Carlito" pitchFamily="34" charset="0"/>
                <a:ea typeface="Carlito" pitchFamily="34" charset="-122"/>
                <a:cs typeface="Carlito" pitchFamily="34" charset="-120"/>
              </a:rPr>
              <a:t>DATA RETENTION &amp; DISPOSITION | FILE SHARE REMEDIATION</a:t>
            </a:r>
            <a:endParaRPr lang="en-US" sz="1200" dirty="0"/>
          </a:p>
        </p:txBody>
      </p:sp>
      <p:sp>
        <p:nvSpPr>
          <p:cNvPr id="4" name="Text 2"/>
          <p:cNvSpPr/>
          <p:nvPr>
            <p:ph type="title"/>
          </p:nvPr>
        </p:nvSpPr>
        <p:spPr>
          <a:xfrm>
            <a:off x="711178" y="660356"/>
            <a:ext cx="11092620" cy="434292"/>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2E3338"/>
                </a:solidFill>
                <a:latin typeface="Libre Baskerville" pitchFamily="18" charset="0"/>
                <a:ea typeface="Libre Baskerville" pitchFamily="18" charset="-122"/>
                <a:cs typeface="Libre Baskerville" pitchFamily="18" charset="-120"/>
              </a:rPr>
              <a:t>From scan to deletion: one controlled path</a:t>
            </a:r>
            <a:endParaRPr lang="en-US" sz="2800" dirty="0"/>
          </a:p>
        </p:txBody>
      </p:sp>
      <p:sp>
        <p:nvSpPr>
          <p:cNvPr id="5" name="Text 3"/>
          <p:cNvSpPr/>
          <p:nvPr/>
        </p:nvSpPr>
        <p:spPr>
          <a:xfrm>
            <a:off x="711178" y="1143000"/>
            <a:ext cx="11092620" cy="256469"/>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A6066"/>
                </a:solidFill>
                <a:latin typeface="Carlito" pitchFamily="34" charset="0"/>
                <a:ea typeface="Carlito" pitchFamily="34" charset="-122"/>
                <a:cs typeface="Carlito" pitchFamily="34" charset="-120"/>
              </a:rPr>
              <a:t>Every expired record is validated, held in quarantine and approved before it is deleted.</a:t>
            </a:r>
            <a:endParaRPr lang="en-US" sz="1400" dirty="0"/>
          </a:p>
        </p:txBody>
      </p:sp>
      <p:sp>
        <p:nvSpPr>
          <p:cNvPr id="6" name="Shape 4"/>
          <p:cNvSpPr/>
          <p:nvPr/>
        </p:nvSpPr>
        <p:spPr>
          <a:xfrm>
            <a:off x="711178" y="1746184"/>
            <a:ext cx="3522156" cy="0"/>
          </a:xfrm>
          <a:prstGeom prst="line">
            <a:avLst/>
          </a:prstGeom>
          <a:noFill/>
          <a:ln w="12700">
            <a:solidFill>
              <a:srgbClr val="2E3338"/>
            </a:solidFill>
            <a:prstDash val="solid"/>
          </a:ln>
        </p:spPr>
      </p:sp>
      <p:sp>
        <p:nvSpPr>
          <p:cNvPr id="7" name="Text 5"/>
          <p:cNvSpPr/>
          <p:nvPr/>
        </p:nvSpPr>
        <p:spPr>
          <a:xfrm>
            <a:off x="711178" y="1524000"/>
            <a:ext cx="1364677" cy="22339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2E3338"/>
                </a:solidFill>
                <a:latin typeface="Carlito" pitchFamily="34" charset="0"/>
                <a:ea typeface="Carlito" pitchFamily="34" charset="-122"/>
                <a:cs typeface="Carlito" pitchFamily="34" charset="-120"/>
              </a:rPr>
              <a:t>SCAN &amp; VALIDATE</a:t>
            </a:r>
            <a:endParaRPr lang="en-US" sz="1200" dirty="0"/>
          </a:p>
        </p:txBody>
      </p:sp>
      <p:sp>
        <p:nvSpPr>
          <p:cNvPr id="8" name="Shape 6"/>
          <p:cNvSpPr/>
          <p:nvPr/>
        </p:nvSpPr>
        <p:spPr>
          <a:xfrm>
            <a:off x="4334868" y="1746184"/>
            <a:ext cx="5334000" cy="0"/>
          </a:xfrm>
          <a:prstGeom prst="line">
            <a:avLst/>
          </a:prstGeom>
          <a:noFill/>
          <a:ln w="12700">
            <a:solidFill>
              <a:srgbClr val="2E3338"/>
            </a:solidFill>
            <a:prstDash val="solid"/>
          </a:ln>
        </p:spPr>
      </p:sp>
      <p:sp>
        <p:nvSpPr>
          <p:cNvPr id="9" name="Text 7"/>
          <p:cNvSpPr/>
          <p:nvPr/>
        </p:nvSpPr>
        <p:spPr>
          <a:xfrm>
            <a:off x="4334868" y="1524000"/>
            <a:ext cx="1536876" cy="22339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2E3338"/>
                </a:solidFill>
                <a:latin typeface="Carlito" pitchFamily="34" charset="0"/>
                <a:ea typeface="Carlito" pitchFamily="34" charset="-122"/>
                <a:cs typeface="Carlito" pitchFamily="34" charset="-120"/>
              </a:rPr>
              <a:t>REVIEW &amp; APPROVE</a:t>
            </a:r>
            <a:endParaRPr lang="en-US" sz="1200" dirty="0"/>
          </a:p>
        </p:txBody>
      </p:sp>
      <p:sp>
        <p:nvSpPr>
          <p:cNvPr id="10" name="Shape 8"/>
          <p:cNvSpPr/>
          <p:nvPr/>
        </p:nvSpPr>
        <p:spPr>
          <a:xfrm>
            <a:off x="9770401" y="1746184"/>
            <a:ext cx="1710311" cy="0"/>
          </a:xfrm>
          <a:prstGeom prst="line">
            <a:avLst/>
          </a:prstGeom>
          <a:noFill/>
          <a:ln w="12700">
            <a:solidFill>
              <a:srgbClr val="2E3338"/>
            </a:solidFill>
            <a:prstDash val="solid"/>
          </a:ln>
        </p:spPr>
      </p:sp>
      <p:sp>
        <p:nvSpPr>
          <p:cNvPr id="11" name="Text 9"/>
          <p:cNvSpPr/>
          <p:nvPr/>
        </p:nvSpPr>
        <p:spPr>
          <a:xfrm>
            <a:off x="9770401" y="1524000"/>
            <a:ext cx="678744" cy="22339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2E3338"/>
                </a:solidFill>
                <a:latin typeface="Carlito" pitchFamily="34" charset="0"/>
                <a:ea typeface="Carlito" pitchFamily="34" charset="-122"/>
                <a:cs typeface="Carlito" pitchFamily="34" charset="-120"/>
              </a:rPr>
              <a:t>DISPOSE</a:t>
            </a:r>
            <a:endParaRPr lang="en-US" sz="1200" dirty="0"/>
          </a:p>
        </p:txBody>
      </p:sp>
      <p:sp>
        <p:nvSpPr>
          <p:cNvPr id="12" name="Shape 10"/>
          <p:cNvSpPr/>
          <p:nvPr/>
        </p:nvSpPr>
        <p:spPr>
          <a:xfrm>
            <a:off x="714353" y="1844565"/>
            <a:ext cx="1703961" cy="2787650"/>
          </a:xfrm>
          <a:prstGeom prst="roundRect">
            <a:avLst>
              <a:gd name="adj" fmla="val 5776"/>
            </a:avLst>
          </a:prstGeom>
          <a:solidFill>
            <a:srgbClr val="FFFEFB"/>
          </a:solidFill>
          <a:ln w="6350">
            <a:solidFill>
              <a:srgbClr val="E3E0D8"/>
            </a:solidFill>
            <a:prstDash val="solid"/>
          </a:ln>
          <a:effectLst>
            <a:outerShdw sx="100000" sy="100000" kx="0" ky="0" algn="bl" rotWithShape="0" blurRad="152400" dist="50800" dir="5400000">
              <a:srgbClr val="2E3338">
                <a:alpha val="6000"/>
              </a:srgbClr>
            </a:outerShdw>
          </a:effectLst>
        </p:spPr>
      </p:sp>
      <p:sp>
        <p:nvSpPr>
          <p:cNvPr id="13" name="Text 11"/>
          <p:cNvSpPr/>
          <p:nvPr/>
        </p:nvSpPr>
        <p:spPr>
          <a:xfrm>
            <a:off x="857911" y="2000801"/>
            <a:ext cx="1467644" cy="279400"/>
          </a:xfrm>
          <a:prstGeom prst="rect">
            <a:avLst/>
          </a:prstGeom>
          <a:noFill/>
          <a:ln/>
        </p:spPr>
        <p:txBody>
          <a:bodyPr wrap="square" lIns="0" tIns="0" rIns="0" bIns="0" rtlCol="0" anchor="t">
            <a:normAutofit/>
          </a:bodyPr>
          <a:lstStyle/>
          <a:p>
            <a:pPr algn="l" indent="0" marL="0">
              <a:lnSpc>
                <a:spcPts val="2000"/>
              </a:lnSpc>
              <a:buNone/>
            </a:pPr>
            <a:r>
              <a:rPr lang="en-US" sz="2000" dirty="0">
                <a:solidFill>
                  <a:srgbClr val="2E3338"/>
                </a:solidFill>
                <a:latin typeface="Libre Baskerville" pitchFamily="18" charset="0"/>
                <a:ea typeface="Libre Baskerville" pitchFamily="18" charset="-122"/>
                <a:cs typeface="Libre Baskerville" pitchFamily="18" charset="-120"/>
              </a:rPr>
              <a:t>01</a:t>
            </a:r>
            <a:endParaRPr lang="en-US" sz="2000" dirty="0"/>
          </a:p>
        </p:txBody>
      </p:sp>
      <p:sp>
        <p:nvSpPr>
          <p:cNvPr id="14" name="Shape 12"/>
          <p:cNvSpPr/>
          <p:nvPr/>
        </p:nvSpPr>
        <p:spPr>
          <a:xfrm>
            <a:off x="857911" y="2330979"/>
            <a:ext cx="279356" cy="31750"/>
          </a:xfrm>
          <a:prstGeom prst="roundRect">
            <a:avLst>
              <a:gd name="adj" fmla="val 50000"/>
            </a:avLst>
          </a:prstGeom>
          <a:solidFill>
            <a:srgbClr val="FFC72C"/>
          </a:solidFill>
          <a:ln/>
        </p:spPr>
      </p:sp>
      <p:sp>
        <p:nvSpPr>
          <p:cNvPr id="15" name="Text 13"/>
          <p:cNvSpPr/>
          <p:nvPr/>
        </p:nvSpPr>
        <p:spPr>
          <a:xfrm>
            <a:off x="857911" y="2438907"/>
            <a:ext cx="1467644"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2E3338"/>
                </a:solidFill>
                <a:latin typeface="Carlito" pitchFamily="34" charset="0"/>
                <a:ea typeface="Carlito" pitchFamily="34" charset="-122"/>
                <a:cs typeface="Carlito" pitchFamily="34" charset="-120"/>
              </a:rPr>
              <a:t>Identify</a:t>
            </a:r>
            <a:endParaRPr lang="en-US" sz="1400" dirty="0"/>
          </a:p>
        </p:txBody>
      </p:sp>
      <p:sp>
        <p:nvSpPr>
          <p:cNvPr id="16" name="Text 14"/>
          <p:cNvSpPr/>
          <p:nvPr/>
        </p:nvSpPr>
        <p:spPr>
          <a:xfrm>
            <a:off x="857911" y="2934119"/>
            <a:ext cx="790002" cy="248708"/>
          </a:xfrm>
          <a:custGeom>
            <a:avLst/>
            <a:gdLst/>
            <a:ahLst/>
            <a:cxnLst/>
            <a:rect l="l" t="t" r="r" b="b"/>
            <a:pathLst>
              <a:path w="790002" h="248708">
                <a:moveTo>
                  <a:pt x="124354" y="0"/>
                </a:moveTo>
                <a:lnTo>
                  <a:pt x="665648" y="0"/>
                </a:lnTo>
                <a:arcTo hR="124354" wR="124354" stAng="16200000" swAng="5400000"/>
                <a:lnTo>
                  <a:pt x="790002" y="124354"/>
                </a:lnTo>
                <a:arcTo hR="124354" wR="124354" stAng="0" swAng="5400000"/>
                <a:lnTo>
                  <a:pt x="124354" y="248708"/>
                </a:lnTo>
                <a:arcTo hR="124354" wR="124354" stAng="5400000" swAng="5400000"/>
                <a:lnTo>
                  <a:pt x="0" y="124354"/>
                </a:lnTo>
                <a:arcTo hR="124354" wR="124354" stAng="10800000" swAng="5400000"/>
                <a:close/>
              </a:path>
            </a:pathLst>
          </a:custGeom>
          <a:solidFill>
            <a:srgbClr val="FFF3CC"/>
          </a:solidFill>
          <a:ln/>
        </p:spPr>
        <p:txBody>
          <a:bodyPr wrap="none" lIns="0" tIns="0" rIns="0" bIns="0" rtlCol="0" anchor="ctr">
            <a:normAutofit/>
          </a:bodyPr>
          <a:lstStyle/>
          <a:p>
            <a:pPr algn="ctr" indent="0" marL="0">
              <a:lnSpc>
                <a:spcPts val="1560"/>
              </a:lnSpc>
              <a:buNone/>
            </a:pPr>
            <a:r>
              <a:rPr lang="en-US" sz="1200" b="1" dirty="0">
                <a:solidFill>
                  <a:srgbClr val="2E3338"/>
                </a:solidFill>
                <a:latin typeface="Carlito" pitchFamily="34" charset="0"/>
                <a:ea typeface="Carlito" pitchFamily="34" charset="-122"/>
                <a:cs typeface="Carlito" pitchFamily="34" charset="-120"/>
              </a:rPr>
              <a:t>DGS Team</a:t>
            </a:r>
            <a:endParaRPr lang="en-US" sz="1200" dirty="0"/>
          </a:p>
        </p:txBody>
      </p:sp>
      <p:sp>
        <p:nvSpPr>
          <p:cNvPr id="17" name="Text 15"/>
          <p:cNvSpPr/>
          <p:nvPr/>
        </p:nvSpPr>
        <p:spPr>
          <a:xfrm>
            <a:off x="857911" y="3259005"/>
            <a:ext cx="1467644" cy="847813"/>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066"/>
                </a:solidFill>
                <a:latin typeface="Carlito" pitchFamily="34" charset="0"/>
                <a:ea typeface="Carlito" pitchFamily="34" charset="-122"/>
                <a:cs typeface="Carlito" pitchFamily="34" charset="-120"/>
              </a:rPr>
              <a:t>DGS runs the BigID scan and retention rules to flag expired folders.</a:t>
            </a:r>
            <a:endParaRPr lang="en-US" sz="1200" dirty="0"/>
          </a:p>
        </p:txBody>
      </p:sp>
      <p:sp>
        <p:nvSpPr>
          <p:cNvPr id="18" name="Shape 16"/>
          <p:cNvSpPr/>
          <p:nvPr/>
        </p:nvSpPr>
        <p:spPr>
          <a:xfrm>
            <a:off x="2526198" y="1844565"/>
            <a:ext cx="1703961" cy="2787650"/>
          </a:xfrm>
          <a:prstGeom prst="roundRect">
            <a:avLst>
              <a:gd name="adj" fmla="val 5776"/>
            </a:avLst>
          </a:prstGeom>
          <a:solidFill>
            <a:srgbClr val="FFFEFB"/>
          </a:solidFill>
          <a:ln w="6350">
            <a:solidFill>
              <a:srgbClr val="E3E0D8"/>
            </a:solidFill>
            <a:prstDash val="solid"/>
          </a:ln>
          <a:effectLst>
            <a:outerShdw sx="100000" sy="100000" kx="0" ky="0" algn="bl" rotWithShape="0" blurRad="152400" dist="50800" dir="5400000">
              <a:srgbClr val="2E3338">
                <a:alpha val="6000"/>
              </a:srgbClr>
            </a:outerShdw>
          </a:effectLst>
        </p:spPr>
      </p:sp>
      <p:sp>
        <p:nvSpPr>
          <p:cNvPr id="19" name="Text 17"/>
          <p:cNvSpPr/>
          <p:nvPr/>
        </p:nvSpPr>
        <p:spPr>
          <a:xfrm>
            <a:off x="2669756" y="2000801"/>
            <a:ext cx="1467644" cy="279400"/>
          </a:xfrm>
          <a:prstGeom prst="rect">
            <a:avLst/>
          </a:prstGeom>
          <a:noFill/>
          <a:ln/>
        </p:spPr>
        <p:txBody>
          <a:bodyPr wrap="square" lIns="0" tIns="0" rIns="0" bIns="0" rtlCol="0" anchor="t">
            <a:normAutofit/>
          </a:bodyPr>
          <a:lstStyle/>
          <a:p>
            <a:pPr algn="l" indent="0" marL="0">
              <a:lnSpc>
                <a:spcPts val="2000"/>
              </a:lnSpc>
              <a:buNone/>
            </a:pPr>
            <a:r>
              <a:rPr lang="en-US" sz="2000" dirty="0">
                <a:solidFill>
                  <a:srgbClr val="2E3338"/>
                </a:solidFill>
                <a:latin typeface="Libre Baskerville" pitchFamily="18" charset="0"/>
                <a:ea typeface="Libre Baskerville" pitchFamily="18" charset="-122"/>
                <a:cs typeface="Libre Baskerville" pitchFamily="18" charset="-120"/>
              </a:rPr>
              <a:t>02</a:t>
            </a:r>
            <a:endParaRPr lang="en-US" sz="2000" dirty="0"/>
          </a:p>
        </p:txBody>
      </p:sp>
      <p:sp>
        <p:nvSpPr>
          <p:cNvPr id="20" name="Shape 18"/>
          <p:cNvSpPr/>
          <p:nvPr/>
        </p:nvSpPr>
        <p:spPr>
          <a:xfrm>
            <a:off x="2669756" y="2330979"/>
            <a:ext cx="279356" cy="31750"/>
          </a:xfrm>
          <a:prstGeom prst="roundRect">
            <a:avLst>
              <a:gd name="adj" fmla="val 50000"/>
            </a:avLst>
          </a:prstGeom>
          <a:solidFill>
            <a:srgbClr val="FFC72C"/>
          </a:solidFill>
          <a:ln/>
        </p:spPr>
      </p:sp>
      <p:sp>
        <p:nvSpPr>
          <p:cNvPr id="21" name="Text 19"/>
          <p:cNvSpPr/>
          <p:nvPr/>
        </p:nvSpPr>
        <p:spPr>
          <a:xfrm>
            <a:off x="2669756" y="2438907"/>
            <a:ext cx="1467644"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2E3338"/>
                </a:solidFill>
                <a:latin typeface="Carlito" pitchFamily="34" charset="0"/>
                <a:ea typeface="Carlito" pitchFamily="34" charset="-122"/>
                <a:cs typeface="Carlito" pitchFamily="34" charset="-120"/>
              </a:rPr>
              <a:t>Validate</a:t>
            </a:r>
            <a:endParaRPr lang="en-US" sz="1400" dirty="0"/>
          </a:p>
        </p:txBody>
      </p:sp>
      <p:sp>
        <p:nvSpPr>
          <p:cNvPr id="22" name="Text 20"/>
          <p:cNvSpPr/>
          <p:nvPr/>
        </p:nvSpPr>
        <p:spPr>
          <a:xfrm>
            <a:off x="2669756" y="2934119"/>
            <a:ext cx="802680" cy="248708"/>
          </a:xfrm>
          <a:custGeom>
            <a:avLst/>
            <a:gdLst/>
            <a:ahLst/>
            <a:cxnLst/>
            <a:rect l="l" t="t" r="r" b="b"/>
            <a:pathLst>
              <a:path w="802680" h="248708">
                <a:moveTo>
                  <a:pt x="124354" y="0"/>
                </a:moveTo>
                <a:lnTo>
                  <a:pt x="678326" y="0"/>
                </a:lnTo>
                <a:arcTo hR="124354" wR="124354" stAng="16200000" swAng="5400000"/>
                <a:lnTo>
                  <a:pt x="802680" y="124354"/>
                </a:lnTo>
                <a:arcTo hR="124354" wR="124354" stAng="0" swAng="5400000"/>
                <a:lnTo>
                  <a:pt x="124354" y="248708"/>
                </a:lnTo>
                <a:arcTo hR="124354" wR="124354" stAng="5400000" swAng="5400000"/>
                <a:lnTo>
                  <a:pt x="0" y="124354"/>
                </a:lnTo>
                <a:arcTo hR="124354" wR="124354" stAng="10800000" swAng="5400000"/>
                <a:close/>
              </a:path>
            </a:pathLst>
          </a:custGeom>
          <a:solidFill>
            <a:srgbClr val="FFF3CC"/>
          </a:solidFill>
          <a:ln/>
        </p:spPr>
        <p:txBody>
          <a:bodyPr wrap="none" lIns="0" tIns="0" rIns="0" bIns="0" rtlCol="0" anchor="ctr">
            <a:normAutofit/>
          </a:bodyPr>
          <a:lstStyle/>
          <a:p>
            <a:pPr algn="ctr" indent="0" marL="0">
              <a:lnSpc>
                <a:spcPts val="1560"/>
              </a:lnSpc>
              <a:buNone/>
            </a:pPr>
            <a:r>
              <a:rPr lang="en-US" sz="1200" b="1" dirty="0">
                <a:solidFill>
                  <a:srgbClr val="2E3338"/>
                </a:solidFill>
                <a:latin typeface="Carlito" pitchFamily="34" charset="0"/>
                <a:ea typeface="Carlito" pitchFamily="34" charset="-122"/>
                <a:cs typeface="Carlito" pitchFamily="34" charset="-120"/>
              </a:rPr>
              <a:t>DRD Team</a:t>
            </a:r>
            <a:endParaRPr lang="en-US" sz="1200" dirty="0"/>
          </a:p>
        </p:txBody>
      </p:sp>
      <p:sp>
        <p:nvSpPr>
          <p:cNvPr id="23" name="Text 21"/>
          <p:cNvSpPr/>
          <p:nvPr/>
        </p:nvSpPr>
        <p:spPr>
          <a:xfrm>
            <a:off x="2669756" y="3259005"/>
            <a:ext cx="1467644" cy="105341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066"/>
                </a:solidFill>
                <a:latin typeface="Carlito" pitchFamily="34" charset="0"/>
                <a:ea typeface="Carlito" pitchFamily="34" charset="-122"/>
                <a:cs typeface="Carlito" pitchFamily="34" charset="-120"/>
              </a:rPr>
              <a:t>Automated Databricks checks confirm each record has truly expired and sits in the right location.</a:t>
            </a:r>
            <a:endParaRPr lang="en-US" sz="1200" dirty="0"/>
          </a:p>
        </p:txBody>
      </p:sp>
      <p:sp>
        <p:nvSpPr>
          <p:cNvPr id="24" name="Shape 22"/>
          <p:cNvSpPr/>
          <p:nvPr/>
        </p:nvSpPr>
        <p:spPr>
          <a:xfrm>
            <a:off x="4338043" y="1844565"/>
            <a:ext cx="1703961" cy="2787650"/>
          </a:xfrm>
          <a:prstGeom prst="roundRect">
            <a:avLst>
              <a:gd name="adj" fmla="val 5776"/>
            </a:avLst>
          </a:prstGeom>
          <a:solidFill>
            <a:srgbClr val="FFFEFB"/>
          </a:solidFill>
          <a:ln w="6350">
            <a:solidFill>
              <a:srgbClr val="E3E0D8"/>
            </a:solidFill>
            <a:prstDash val="solid"/>
          </a:ln>
          <a:effectLst>
            <a:outerShdw sx="100000" sy="100000" kx="0" ky="0" algn="bl" rotWithShape="0" blurRad="152400" dist="50800" dir="5400000">
              <a:srgbClr val="2E3338">
                <a:alpha val="6000"/>
              </a:srgbClr>
            </a:outerShdw>
          </a:effectLst>
        </p:spPr>
      </p:sp>
      <p:sp>
        <p:nvSpPr>
          <p:cNvPr id="25" name="Text 23"/>
          <p:cNvSpPr/>
          <p:nvPr/>
        </p:nvSpPr>
        <p:spPr>
          <a:xfrm>
            <a:off x="4481601" y="2000801"/>
            <a:ext cx="1467644" cy="279400"/>
          </a:xfrm>
          <a:prstGeom prst="rect">
            <a:avLst/>
          </a:prstGeom>
          <a:noFill/>
          <a:ln/>
        </p:spPr>
        <p:txBody>
          <a:bodyPr wrap="square" lIns="0" tIns="0" rIns="0" bIns="0" rtlCol="0" anchor="t">
            <a:normAutofit/>
          </a:bodyPr>
          <a:lstStyle/>
          <a:p>
            <a:pPr algn="l" indent="0" marL="0">
              <a:lnSpc>
                <a:spcPts val="2000"/>
              </a:lnSpc>
              <a:buNone/>
            </a:pPr>
            <a:r>
              <a:rPr lang="en-US" sz="2000" dirty="0">
                <a:solidFill>
                  <a:srgbClr val="2E3338"/>
                </a:solidFill>
                <a:latin typeface="Libre Baskerville" pitchFamily="18" charset="0"/>
                <a:ea typeface="Libre Baskerville" pitchFamily="18" charset="-122"/>
                <a:cs typeface="Libre Baskerville" pitchFamily="18" charset="-120"/>
              </a:rPr>
              <a:t>03</a:t>
            </a:r>
            <a:endParaRPr lang="en-US" sz="2000" dirty="0"/>
          </a:p>
        </p:txBody>
      </p:sp>
      <p:sp>
        <p:nvSpPr>
          <p:cNvPr id="26" name="Shape 24"/>
          <p:cNvSpPr/>
          <p:nvPr/>
        </p:nvSpPr>
        <p:spPr>
          <a:xfrm>
            <a:off x="4481601" y="2330979"/>
            <a:ext cx="279356" cy="31750"/>
          </a:xfrm>
          <a:prstGeom prst="roundRect">
            <a:avLst>
              <a:gd name="adj" fmla="val 50000"/>
            </a:avLst>
          </a:prstGeom>
          <a:solidFill>
            <a:srgbClr val="FFC72C"/>
          </a:solidFill>
          <a:ln/>
        </p:spPr>
      </p:sp>
      <p:sp>
        <p:nvSpPr>
          <p:cNvPr id="27" name="Text 25"/>
          <p:cNvSpPr/>
          <p:nvPr/>
        </p:nvSpPr>
        <p:spPr>
          <a:xfrm>
            <a:off x="4481601" y="2438907"/>
            <a:ext cx="1467644"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2E3338"/>
                </a:solidFill>
                <a:latin typeface="Carlito" pitchFamily="34" charset="0"/>
                <a:ea typeface="Carlito" pitchFamily="34" charset="-122"/>
                <a:cs typeface="Carlito" pitchFamily="34" charset="-120"/>
              </a:rPr>
              <a:t>Notify</a:t>
            </a:r>
            <a:endParaRPr lang="en-US" sz="1400" dirty="0"/>
          </a:p>
        </p:txBody>
      </p:sp>
      <p:sp>
        <p:nvSpPr>
          <p:cNvPr id="28" name="Text 26"/>
          <p:cNvSpPr/>
          <p:nvPr/>
        </p:nvSpPr>
        <p:spPr>
          <a:xfrm>
            <a:off x="4481601" y="2934119"/>
            <a:ext cx="885252" cy="248708"/>
          </a:xfrm>
          <a:custGeom>
            <a:avLst/>
            <a:gdLst/>
            <a:ahLst/>
            <a:cxnLst/>
            <a:rect l="l" t="t" r="r" b="b"/>
            <a:pathLst>
              <a:path w="885252" h="248708">
                <a:moveTo>
                  <a:pt x="124354" y="0"/>
                </a:moveTo>
                <a:lnTo>
                  <a:pt x="760898" y="0"/>
                </a:lnTo>
                <a:arcTo hR="124354" wR="124354" stAng="16200000" swAng="5400000"/>
                <a:lnTo>
                  <a:pt x="885252" y="124354"/>
                </a:lnTo>
                <a:arcTo hR="124354" wR="124354" stAng="0" swAng="5400000"/>
                <a:lnTo>
                  <a:pt x="124354" y="248708"/>
                </a:lnTo>
                <a:arcTo hR="124354" wR="124354" stAng="5400000" swAng="5400000"/>
                <a:lnTo>
                  <a:pt x="0" y="124354"/>
                </a:lnTo>
                <a:arcTo hR="124354" wR="124354" stAng="10800000" swAng="5400000"/>
                <a:close/>
              </a:path>
            </a:pathLst>
          </a:custGeom>
          <a:solidFill>
            <a:srgbClr val="FFF3CC"/>
          </a:solidFill>
          <a:ln/>
        </p:spPr>
        <p:txBody>
          <a:bodyPr wrap="none" lIns="0" tIns="0" rIns="0" bIns="0" rtlCol="0" anchor="ctr">
            <a:normAutofit/>
          </a:bodyPr>
          <a:lstStyle/>
          <a:p>
            <a:pPr algn="ctr" indent="0" marL="0">
              <a:lnSpc>
                <a:spcPts val="1560"/>
              </a:lnSpc>
              <a:buNone/>
            </a:pPr>
            <a:r>
              <a:rPr lang="en-US" sz="1200" b="1" dirty="0">
                <a:solidFill>
                  <a:srgbClr val="2E3338"/>
                </a:solidFill>
                <a:latin typeface="Carlito" pitchFamily="34" charset="0"/>
                <a:ea typeface="Carlito" pitchFamily="34" charset="-122"/>
                <a:cs typeface="Carlito" pitchFamily="34" charset="-120"/>
              </a:rPr>
              <a:t>RIM Liaison</a:t>
            </a:r>
            <a:endParaRPr lang="en-US" sz="1200" dirty="0"/>
          </a:p>
        </p:txBody>
      </p:sp>
      <p:sp>
        <p:nvSpPr>
          <p:cNvPr id="29" name="Text 27"/>
          <p:cNvSpPr/>
          <p:nvPr/>
        </p:nvSpPr>
        <p:spPr>
          <a:xfrm>
            <a:off x="4481601" y="3259005"/>
            <a:ext cx="1467644" cy="105341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066"/>
                </a:solidFill>
                <a:latin typeface="Carlito" pitchFamily="34" charset="0"/>
                <a:ea typeface="Carlito" pitchFamily="34" charset="-122"/>
                <a:cs typeface="Carlito" pitchFamily="34" charset="-120"/>
              </a:rPr>
              <a:t>The area liaison receives the consolidated folder list for awareness and raises any issue.</a:t>
            </a:r>
            <a:endParaRPr lang="en-US" sz="1200" dirty="0"/>
          </a:p>
        </p:txBody>
      </p:sp>
      <p:sp>
        <p:nvSpPr>
          <p:cNvPr id="30" name="Shape 28"/>
          <p:cNvSpPr/>
          <p:nvPr/>
        </p:nvSpPr>
        <p:spPr>
          <a:xfrm>
            <a:off x="6149887" y="1844565"/>
            <a:ext cx="1703961" cy="2787650"/>
          </a:xfrm>
          <a:prstGeom prst="roundRect">
            <a:avLst>
              <a:gd name="adj" fmla="val 5776"/>
            </a:avLst>
          </a:prstGeom>
          <a:solidFill>
            <a:srgbClr val="FFFEFB"/>
          </a:solidFill>
          <a:ln w="6350">
            <a:solidFill>
              <a:srgbClr val="E3E0D8"/>
            </a:solidFill>
            <a:prstDash val="solid"/>
          </a:ln>
          <a:effectLst>
            <a:outerShdw sx="100000" sy="100000" kx="0" ky="0" algn="bl" rotWithShape="0" blurRad="152400" dist="50800" dir="5400000">
              <a:srgbClr val="2E3338">
                <a:alpha val="6000"/>
              </a:srgbClr>
            </a:outerShdw>
          </a:effectLst>
        </p:spPr>
      </p:sp>
      <p:sp>
        <p:nvSpPr>
          <p:cNvPr id="31" name="Text 29"/>
          <p:cNvSpPr/>
          <p:nvPr/>
        </p:nvSpPr>
        <p:spPr>
          <a:xfrm>
            <a:off x="6293446" y="2000801"/>
            <a:ext cx="1467644" cy="279400"/>
          </a:xfrm>
          <a:prstGeom prst="rect">
            <a:avLst/>
          </a:prstGeom>
          <a:noFill/>
          <a:ln/>
        </p:spPr>
        <p:txBody>
          <a:bodyPr wrap="square" lIns="0" tIns="0" rIns="0" bIns="0" rtlCol="0" anchor="t">
            <a:normAutofit/>
          </a:bodyPr>
          <a:lstStyle/>
          <a:p>
            <a:pPr algn="l" indent="0" marL="0">
              <a:lnSpc>
                <a:spcPts val="2000"/>
              </a:lnSpc>
              <a:buNone/>
            </a:pPr>
            <a:r>
              <a:rPr lang="en-US" sz="2000" dirty="0">
                <a:solidFill>
                  <a:srgbClr val="2E3338"/>
                </a:solidFill>
                <a:latin typeface="Libre Baskerville" pitchFamily="18" charset="0"/>
                <a:ea typeface="Libre Baskerville" pitchFamily="18" charset="-122"/>
                <a:cs typeface="Libre Baskerville" pitchFamily="18" charset="-120"/>
              </a:rPr>
              <a:t>04</a:t>
            </a:r>
            <a:endParaRPr lang="en-US" sz="2000" dirty="0"/>
          </a:p>
        </p:txBody>
      </p:sp>
      <p:sp>
        <p:nvSpPr>
          <p:cNvPr id="32" name="Shape 30"/>
          <p:cNvSpPr/>
          <p:nvPr/>
        </p:nvSpPr>
        <p:spPr>
          <a:xfrm>
            <a:off x="6293446" y="2330979"/>
            <a:ext cx="279356" cy="31750"/>
          </a:xfrm>
          <a:prstGeom prst="roundRect">
            <a:avLst>
              <a:gd name="adj" fmla="val 50000"/>
            </a:avLst>
          </a:prstGeom>
          <a:solidFill>
            <a:srgbClr val="FFC72C"/>
          </a:solidFill>
          <a:ln/>
        </p:spPr>
      </p:sp>
      <p:sp>
        <p:nvSpPr>
          <p:cNvPr id="33" name="Text 31"/>
          <p:cNvSpPr/>
          <p:nvPr/>
        </p:nvSpPr>
        <p:spPr>
          <a:xfrm>
            <a:off x="6293446" y="2438907"/>
            <a:ext cx="1467644"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2E3338"/>
                </a:solidFill>
                <a:latin typeface="Carlito" pitchFamily="34" charset="0"/>
                <a:ea typeface="Carlito" pitchFamily="34" charset="-122"/>
                <a:cs typeface="Carlito" pitchFamily="34" charset="-120"/>
              </a:rPr>
              <a:t>Approve</a:t>
            </a:r>
            <a:endParaRPr lang="en-US" sz="1400" dirty="0"/>
          </a:p>
        </p:txBody>
      </p:sp>
      <p:sp>
        <p:nvSpPr>
          <p:cNvPr id="34" name="Text 32"/>
          <p:cNvSpPr/>
          <p:nvPr/>
        </p:nvSpPr>
        <p:spPr>
          <a:xfrm>
            <a:off x="6293446" y="2934119"/>
            <a:ext cx="456296" cy="248708"/>
          </a:xfrm>
          <a:custGeom>
            <a:avLst/>
            <a:gdLst/>
            <a:ahLst/>
            <a:cxnLst/>
            <a:rect l="l" t="t" r="r" b="b"/>
            <a:pathLst>
              <a:path w="456296" h="248708">
                <a:moveTo>
                  <a:pt x="124354" y="0"/>
                </a:moveTo>
                <a:lnTo>
                  <a:pt x="331942" y="0"/>
                </a:lnTo>
                <a:arcTo hR="124354" wR="124354" stAng="16200000" swAng="5400000"/>
                <a:lnTo>
                  <a:pt x="456296" y="124354"/>
                </a:lnTo>
                <a:arcTo hR="124354" wR="124354" stAng="0" swAng="5400000"/>
                <a:lnTo>
                  <a:pt x="124354" y="248708"/>
                </a:lnTo>
                <a:arcTo hR="124354" wR="124354" stAng="5400000" swAng="5400000"/>
                <a:lnTo>
                  <a:pt x="0" y="124354"/>
                </a:lnTo>
                <a:arcTo hR="124354" wR="124354" stAng="10800000" swAng="5400000"/>
                <a:close/>
              </a:path>
            </a:pathLst>
          </a:custGeom>
          <a:solidFill>
            <a:srgbClr val="FFF3CC"/>
          </a:solidFill>
          <a:ln/>
        </p:spPr>
        <p:txBody>
          <a:bodyPr wrap="none" lIns="0" tIns="0" rIns="0" bIns="0" rtlCol="0" anchor="ctr">
            <a:normAutofit/>
          </a:bodyPr>
          <a:lstStyle/>
          <a:p>
            <a:pPr algn="ctr" indent="0" marL="0">
              <a:lnSpc>
                <a:spcPts val="1560"/>
              </a:lnSpc>
              <a:buNone/>
            </a:pPr>
            <a:r>
              <a:rPr lang="en-US" sz="1200" b="1" dirty="0">
                <a:solidFill>
                  <a:srgbClr val="2E3338"/>
                </a:solidFill>
                <a:latin typeface="Carlito" pitchFamily="34" charset="0"/>
                <a:ea typeface="Carlito" pitchFamily="34" charset="-122"/>
                <a:cs typeface="Carlito" pitchFamily="34" charset="-120"/>
              </a:rPr>
              <a:t>Erica</a:t>
            </a:r>
            <a:endParaRPr lang="en-US" sz="1200" dirty="0"/>
          </a:p>
        </p:txBody>
      </p:sp>
      <p:sp>
        <p:nvSpPr>
          <p:cNvPr id="35" name="Text 33"/>
          <p:cNvSpPr/>
          <p:nvPr/>
        </p:nvSpPr>
        <p:spPr>
          <a:xfrm>
            <a:off x="6293446" y="3259005"/>
            <a:ext cx="1467644" cy="847813"/>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066"/>
                </a:solidFill>
                <a:latin typeface="Carlito" pitchFamily="34" charset="0"/>
                <a:ea typeface="Carlito" pitchFamily="34" charset="-122"/>
                <a:cs typeface="Carlito" pitchFamily="34" charset="-120"/>
              </a:rPr>
              <a:t>Erica reviews the validated list and approves it for disposition.</a:t>
            </a:r>
            <a:endParaRPr lang="en-US" sz="1200" dirty="0"/>
          </a:p>
        </p:txBody>
      </p:sp>
      <p:sp>
        <p:nvSpPr>
          <p:cNvPr id="36" name="Shape 34"/>
          <p:cNvSpPr/>
          <p:nvPr/>
        </p:nvSpPr>
        <p:spPr>
          <a:xfrm>
            <a:off x="7964907" y="1847740"/>
            <a:ext cx="1697611" cy="2781300"/>
          </a:xfrm>
          <a:prstGeom prst="roundRect">
            <a:avLst>
              <a:gd name="adj" fmla="val 5611"/>
            </a:avLst>
          </a:prstGeom>
          <a:solidFill>
            <a:srgbClr val="FFFEFB"/>
          </a:solidFill>
          <a:ln w="12700">
            <a:solidFill>
              <a:srgbClr val="BDB7A9"/>
            </a:solidFill>
            <a:prstDash val="dash"/>
          </a:ln>
        </p:spPr>
      </p:sp>
      <p:sp>
        <p:nvSpPr>
          <p:cNvPr id="37" name="Text 35"/>
          <p:cNvSpPr/>
          <p:nvPr/>
        </p:nvSpPr>
        <p:spPr>
          <a:xfrm>
            <a:off x="8105291" y="2000801"/>
            <a:ext cx="1467644" cy="279400"/>
          </a:xfrm>
          <a:prstGeom prst="rect">
            <a:avLst/>
          </a:prstGeom>
          <a:noFill/>
          <a:ln/>
        </p:spPr>
        <p:txBody>
          <a:bodyPr wrap="square" lIns="0" tIns="0" rIns="0" bIns="0" rtlCol="0" anchor="t">
            <a:normAutofit/>
          </a:bodyPr>
          <a:lstStyle/>
          <a:p>
            <a:pPr algn="l" indent="0" marL="0">
              <a:lnSpc>
                <a:spcPts val="2000"/>
              </a:lnSpc>
              <a:buNone/>
            </a:pPr>
            <a:r>
              <a:rPr lang="en-US" sz="2000" dirty="0">
                <a:solidFill>
                  <a:srgbClr val="2E3338"/>
                </a:solidFill>
                <a:latin typeface="Libre Baskerville" pitchFamily="18" charset="0"/>
                <a:ea typeface="Libre Baskerville" pitchFamily="18" charset="-122"/>
                <a:cs typeface="Libre Baskerville" pitchFamily="18" charset="-120"/>
              </a:rPr>
              <a:t>05</a:t>
            </a:r>
            <a:endParaRPr lang="en-US" sz="2000" dirty="0"/>
          </a:p>
        </p:txBody>
      </p:sp>
      <p:sp>
        <p:nvSpPr>
          <p:cNvPr id="38" name="Shape 36"/>
          <p:cNvSpPr/>
          <p:nvPr/>
        </p:nvSpPr>
        <p:spPr>
          <a:xfrm>
            <a:off x="8105291" y="2330979"/>
            <a:ext cx="279356" cy="31750"/>
          </a:xfrm>
          <a:prstGeom prst="roundRect">
            <a:avLst>
              <a:gd name="adj" fmla="val 50000"/>
            </a:avLst>
          </a:prstGeom>
          <a:solidFill>
            <a:srgbClr val="FFC72C"/>
          </a:solidFill>
          <a:ln/>
        </p:spPr>
      </p:sp>
      <p:sp>
        <p:nvSpPr>
          <p:cNvPr id="39" name="Text 37"/>
          <p:cNvSpPr/>
          <p:nvPr/>
        </p:nvSpPr>
        <p:spPr>
          <a:xfrm>
            <a:off x="8105291" y="2438907"/>
            <a:ext cx="1467644" cy="43418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2E3338"/>
                </a:solidFill>
                <a:latin typeface="Carlito" pitchFamily="34" charset="0"/>
                <a:ea typeface="Carlito" pitchFamily="34" charset="-122"/>
                <a:cs typeface="Carlito" pitchFamily="34" charset="-120"/>
              </a:rPr>
              <a:t>Approve aged records</a:t>
            </a:r>
            <a:endParaRPr lang="en-US" sz="1400" dirty="0"/>
          </a:p>
        </p:txBody>
      </p:sp>
      <p:sp>
        <p:nvSpPr>
          <p:cNvPr id="40" name="Text 38"/>
          <p:cNvSpPr/>
          <p:nvPr/>
        </p:nvSpPr>
        <p:spPr>
          <a:xfrm>
            <a:off x="8105291" y="2934119"/>
            <a:ext cx="465887" cy="248708"/>
          </a:xfrm>
          <a:custGeom>
            <a:avLst/>
            <a:gdLst/>
            <a:ahLst/>
            <a:cxnLst/>
            <a:rect l="l" t="t" r="r" b="b"/>
            <a:pathLst>
              <a:path w="465887" h="248708">
                <a:moveTo>
                  <a:pt x="124354" y="0"/>
                </a:moveTo>
                <a:lnTo>
                  <a:pt x="341533" y="0"/>
                </a:lnTo>
                <a:arcTo hR="124354" wR="124354" stAng="16200000" swAng="5400000"/>
                <a:lnTo>
                  <a:pt x="465887" y="124354"/>
                </a:lnTo>
                <a:arcTo hR="124354" wR="124354" stAng="0" swAng="5400000"/>
                <a:lnTo>
                  <a:pt x="124354" y="248708"/>
                </a:lnTo>
                <a:arcTo hR="124354" wR="124354" stAng="5400000" swAng="5400000"/>
                <a:lnTo>
                  <a:pt x="0" y="124354"/>
                </a:lnTo>
                <a:arcTo hR="124354" wR="124354" stAng="10800000" swAng="5400000"/>
                <a:close/>
              </a:path>
            </a:pathLst>
          </a:custGeom>
          <a:solidFill>
            <a:srgbClr val="FFF3CC"/>
          </a:solidFill>
          <a:ln/>
        </p:spPr>
        <p:txBody>
          <a:bodyPr wrap="none" lIns="0" tIns="0" rIns="0" bIns="0" rtlCol="0" anchor="ctr">
            <a:normAutofit/>
          </a:bodyPr>
          <a:lstStyle/>
          <a:p>
            <a:pPr algn="ctr" indent="0" marL="0">
              <a:lnSpc>
                <a:spcPts val="1560"/>
              </a:lnSpc>
              <a:buNone/>
            </a:pPr>
            <a:r>
              <a:rPr lang="en-US" sz="1200" b="1" dirty="0">
                <a:solidFill>
                  <a:srgbClr val="2E3338"/>
                </a:solidFill>
                <a:latin typeface="Carlito" pitchFamily="34" charset="0"/>
                <a:ea typeface="Carlito" pitchFamily="34" charset="-122"/>
                <a:cs typeface="Carlito" pitchFamily="34" charset="-120"/>
              </a:rPr>
              <a:t>Brett</a:t>
            </a:r>
            <a:endParaRPr lang="en-US" sz="1200" dirty="0"/>
          </a:p>
        </p:txBody>
      </p:sp>
      <p:sp>
        <p:nvSpPr>
          <p:cNvPr id="41" name="Text 39"/>
          <p:cNvSpPr/>
          <p:nvPr/>
        </p:nvSpPr>
        <p:spPr>
          <a:xfrm>
            <a:off x="8105291" y="3259005"/>
            <a:ext cx="1467644" cy="105341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066"/>
                </a:solidFill>
                <a:latin typeface="Carlito" pitchFamily="34" charset="0"/>
                <a:ea typeface="Carlito" pitchFamily="34" charset="-122"/>
                <a:cs typeface="Carlito" pitchFamily="34" charset="-120"/>
              </a:rPr>
              <a:t>Applies only to records more than 10 years past creation, last modification or last access.</a:t>
            </a:r>
            <a:endParaRPr lang="en-US" sz="1200" dirty="0"/>
          </a:p>
        </p:txBody>
      </p:sp>
      <p:sp>
        <p:nvSpPr>
          <p:cNvPr id="42" name="Shape 40"/>
          <p:cNvSpPr/>
          <p:nvPr/>
        </p:nvSpPr>
        <p:spPr>
          <a:xfrm>
            <a:off x="9773576" y="1844565"/>
            <a:ext cx="1703961" cy="2787650"/>
          </a:xfrm>
          <a:prstGeom prst="roundRect">
            <a:avLst>
              <a:gd name="adj" fmla="val 5776"/>
            </a:avLst>
          </a:prstGeom>
          <a:solidFill>
            <a:srgbClr val="2E3338"/>
          </a:solidFill>
          <a:ln w="6350">
            <a:solidFill>
              <a:srgbClr val="2E3338"/>
            </a:solidFill>
            <a:prstDash val="solid"/>
          </a:ln>
          <a:effectLst>
            <a:outerShdw sx="100000" sy="100000" kx="0" ky="0" algn="bl" rotWithShape="0" blurRad="177800" dist="76200" dir="5400000">
              <a:srgbClr val="2E3338">
                <a:alpha val="18000"/>
              </a:srgbClr>
            </a:outerShdw>
          </a:effectLst>
        </p:spPr>
      </p:sp>
      <p:sp>
        <p:nvSpPr>
          <p:cNvPr id="43" name="Text 41"/>
          <p:cNvSpPr/>
          <p:nvPr/>
        </p:nvSpPr>
        <p:spPr>
          <a:xfrm>
            <a:off x="9917135" y="2000801"/>
            <a:ext cx="1467644" cy="279400"/>
          </a:xfrm>
          <a:prstGeom prst="rect">
            <a:avLst/>
          </a:prstGeom>
          <a:noFill/>
          <a:ln/>
        </p:spPr>
        <p:txBody>
          <a:bodyPr wrap="square" lIns="0" tIns="0" rIns="0" bIns="0" rtlCol="0" anchor="t">
            <a:normAutofit/>
          </a:bodyPr>
          <a:lstStyle/>
          <a:p>
            <a:pPr algn="l" indent="0" marL="0">
              <a:lnSpc>
                <a:spcPts val="2000"/>
              </a:lnSpc>
              <a:buNone/>
            </a:pPr>
            <a:r>
              <a:rPr lang="en-US" sz="2000" dirty="0">
                <a:solidFill>
                  <a:srgbClr val="FFC72C"/>
                </a:solidFill>
                <a:latin typeface="Libre Baskerville" pitchFamily="18" charset="0"/>
                <a:ea typeface="Libre Baskerville" pitchFamily="18" charset="-122"/>
                <a:cs typeface="Libre Baskerville" pitchFamily="18" charset="-120"/>
              </a:rPr>
              <a:t>06</a:t>
            </a:r>
            <a:endParaRPr lang="en-US" sz="2000" dirty="0"/>
          </a:p>
        </p:txBody>
      </p:sp>
      <p:sp>
        <p:nvSpPr>
          <p:cNvPr id="44" name="Shape 42"/>
          <p:cNvSpPr/>
          <p:nvPr/>
        </p:nvSpPr>
        <p:spPr>
          <a:xfrm>
            <a:off x="9917135" y="2330979"/>
            <a:ext cx="279356" cy="31750"/>
          </a:xfrm>
          <a:prstGeom prst="roundRect">
            <a:avLst>
              <a:gd name="adj" fmla="val 50000"/>
            </a:avLst>
          </a:prstGeom>
          <a:solidFill>
            <a:srgbClr val="FFC72C"/>
          </a:solidFill>
          <a:ln/>
        </p:spPr>
      </p:sp>
      <p:sp>
        <p:nvSpPr>
          <p:cNvPr id="45" name="Text 43"/>
          <p:cNvSpPr/>
          <p:nvPr/>
        </p:nvSpPr>
        <p:spPr>
          <a:xfrm>
            <a:off x="9917135" y="2438907"/>
            <a:ext cx="1467644"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6F5F1"/>
                </a:solidFill>
                <a:latin typeface="Carlito" pitchFamily="34" charset="0"/>
                <a:ea typeface="Carlito" pitchFamily="34" charset="-122"/>
                <a:cs typeface="Carlito" pitchFamily="34" charset="-120"/>
              </a:rPr>
              <a:t>Dispose</a:t>
            </a:r>
            <a:endParaRPr lang="en-US" sz="1400" dirty="0"/>
          </a:p>
        </p:txBody>
      </p:sp>
      <p:sp>
        <p:nvSpPr>
          <p:cNvPr id="46" name="Text 44"/>
          <p:cNvSpPr/>
          <p:nvPr/>
        </p:nvSpPr>
        <p:spPr>
          <a:xfrm>
            <a:off x="9917135" y="2934119"/>
            <a:ext cx="790002" cy="248708"/>
          </a:xfrm>
          <a:custGeom>
            <a:avLst/>
            <a:gdLst/>
            <a:ahLst/>
            <a:cxnLst/>
            <a:rect l="l" t="t" r="r" b="b"/>
            <a:pathLst>
              <a:path w="790002" h="248708">
                <a:moveTo>
                  <a:pt x="124354" y="0"/>
                </a:moveTo>
                <a:lnTo>
                  <a:pt x="665648" y="0"/>
                </a:lnTo>
                <a:arcTo hR="124354" wR="124354" stAng="16200000" swAng="5400000"/>
                <a:lnTo>
                  <a:pt x="790002" y="124354"/>
                </a:lnTo>
                <a:arcTo hR="124354" wR="124354" stAng="0" swAng="5400000"/>
                <a:lnTo>
                  <a:pt x="124354" y="248708"/>
                </a:lnTo>
                <a:arcTo hR="124354" wR="124354" stAng="5400000" swAng="5400000"/>
                <a:lnTo>
                  <a:pt x="0" y="124354"/>
                </a:lnTo>
                <a:arcTo hR="124354" wR="124354" stAng="10800000" swAng="5400000"/>
                <a:close/>
              </a:path>
            </a:pathLst>
          </a:custGeom>
          <a:solidFill>
            <a:srgbClr val="FFC72C"/>
          </a:solidFill>
          <a:ln/>
        </p:spPr>
        <p:txBody>
          <a:bodyPr wrap="none" lIns="0" tIns="0" rIns="0" bIns="0" rtlCol="0" anchor="ctr">
            <a:normAutofit/>
          </a:bodyPr>
          <a:lstStyle/>
          <a:p>
            <a:pPr algn="ctr" indent="0" marL="0">
              <a:lnSpc>
                <a:spcPts val="1560"/>
              </a:lnSpc>
              <a:buNone/>
            </a:pPr>
            <a:r>
              <a:rPr lang="en-US" sz="1200" b="1" dirty="0">
                <a:solidFill>
                  <a:srgbClr val="2E3338"/>
                </a:solidFill>
                <a:latin typeface="Carlito" pitchFamily="34" charset="0"/>
                <a:ea typeface="Carlito" pitchFamily="34" charset="-122"/>
                <a:cs typeface="Carlito" pitchFamily="34" charset="-120"/>
              </a:rPr>
              <a:t>DGS Team</a:t>
            </a:r>
            <a:endParaRPr lang="en-US" sz="1200" dirty="0"/>
          </a:p>
        </p:txBody>
      </p:sp>
      <p:sp>
        <p:nvSpPr>
          <p:cNvPr id="47" name="Text 45"/>
          <p:cNvSpPr/>
          <p:nvPr/>
        </p:nvSpPr>
        <p:spPr>
          <a:xfrm>
            <a:off x="9917135" y="3259005"/>
            <a:ext cx="1467644" cy="847813"/>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3D6D9"/>
                </a:solidFill>
                <a:latin typeface="Carlito" pitchFamily="34" charset="0"/>
                <a:ea typeface="Carlito" pitchFamily="34" charset="-122"/>
                <a:cs typeface="Carlito" pitchFamily="34" charset="-120"/>
              </a:rPr>
              <a:t>DGS starts the deletion in BigID or runs the Python script on approved records.</a:t>
            </a:r>
            <a:endParaRPr lang="en-US" sz="1200" dirty="0"/>
          </a:p>
        </p:txBody>
      </p:sp>
      <p:sp>
        <p:nvSpPr>
          <p:cNvPr id="48" name="Shape 46"/>
          <p:cNvSpPr/>
          <p:nvPr/>
        </p:nvSpPr>
        <p:spPr>
          <a:xfrm>
            <a:off x="714353" y="4727421"/>
            <a:ext cx="3515806" cy="692150"/>
          </a:xfrm>
          <a:prstGeom prst="roundRect">
            <a:avLst>
              <a:gd name="adj" fmla="val 10550"/>
            </a:avLst>
          </a:prstGeom>
          <a:noFill/>
          <a:ln w="6350">
            <a:solidFill>
              <a:srgbClr val="BDB7A9"/>
            </a:solidFill>
            <a:prstDash val="dash"/>
          </a:ln>
        </p:spPr>
      </p:sp>
      <p:pic>
        <p:nvPicPr>
          <p:cNvPr id="49" name="Image 0" descr="Warning">    </p:cNvPr>
          <p:cNvPicPr>
            <a:picLocks noChangeAspect="1"/>
          </p:cNvPicPr>
          <p:nvPr/>
        </p:nvPicPr>
        <p:blipFill>
          <a:blip r:embed="rId1"/>
          <a:srcRect l="0" r="0" t="0" b="0"/>
          <a:stretch/>
        </p:blipFill>
        <p:spPr>
          <a:xfrm>
            <a:off x="845234" y="4971852"/>
            <a:ext cx="203178" cy="203178"/>
          </a:xfrm>
          <a:prstGeom prst="rect">
            <a:avLst/>
          </a:prstGeom>
        </p:spPr>
      </p:pic>
      <p:sp>
        <p:nvSpPr>
          <p:cNvPr id="50" name="Text 47"/>
          <p:cNvSpPr/>
          <p:nvPr/>
        </p:nvSpPr>
        <p:spPr>
          <a:xfrm>
            <a:off x="1137267" y="4867892"/>
            <a:ext cx="3050871"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066"/>
                </a:solidFill>
                <a:latin typeface="Carlito" pitchFamily="34" charset="0"/>
                <a:ea typeface="Carlito" pitchFamily="34" charset="-122"/>
                <a:cs typeface="Carlito" pitchFamily="34" charset="-120"/>
              </a:rPr>
              <a:t>Failed records leave the batch and go back to DGS to fix.</a:t>
            </a:r>
            <a:endParaRPr lang="en-US" sz="1200" dirty="0"/>
          </a:p>
        </p:txBody>
      </p:sp>
      <p:sp>
        <p:nvSpPr>
          <p:cNvPr id="51" name="Shape 48"/>
          <p:cNvSpPr/>
          <p:nvPr/>
        </p:nvSpPr>
        <p:spPr>
          <a:xfrm>
            <a:off x="4334868" y="4724246"/>
            <a:ext cx="5334000" cy="698500"/>
          </a:xfrm>
          <a:prstGeom prst="roundRect">
            <a:avLst>
              <a:gd name="adj" fmla="val 10909"/>
            </a:avLst>
          </a:prstGeom>
          <a:solidFill>
            <a:srgbClr val="FFF3CC"/>
          </a:solidFill>
          <a:ln/>
        </p:spPr>
      </p:sp>
      <p:sp>
        <p:nvSpPr>
          <p:cNvPr id="52" name="Shape 49"/>
          <p:cNvSpPr/>
          <p:nvPr/>
        </p:nvSpPr>
        <p:spPr>
          <a:xfrm>
            <a:off x="4334868" y="4724246"/>
            <a:ext cx="5334000" cy="698500"/>
          </a:xfrm>
          <a:custGeom>
            <a:avLst/>
            <a:gdLst/>
            <a:ahLst/>
            <a:cxnLst/>
            <a:rect l="l" t="t" r="r" b="b"/>
            <a:pathLst>
              <a:path w="5334000" h="698500">
                <a:moveTo>
                  <a:pt x="76200" y="698500"/>
                </a:moveTo>
                <a:lnTo>
                  <a:pt x="76200" y="698500"/>
                </a:lnTo>
                <a:arcTo hR="76200" wR="76200" stAng="5400000" swAng="5400000"/>
                <a:lnTo>
                  <a:pt x="0" y="76200"/>
                </a:lnTo>
                <a:arcTo hR="76200" wR="76200" stAng="10800000" swAng="5400000"/>
                <a:lnTo>
                  <a:pt x="76200" y="0"/>
                </a:lnTo>
                <a:arcTo hR="76200" wR="38100" stAng="16200000" swAng="-5400000"/>
                <a:lnTo>
                  <a:pt x="38100" y="622300"/>
                </a:lnTo>
                <a:arcTo hR="76200" wR="38100" stAng="10800000" swAng="-5400000"/>
                <a:close/>
              </a:path>
            </a:pathLst>
          </a:custGeom>
          <a:solidFill>
            <a:srgbClr val="FFC72C"/>
          </a:solidFill>
          <a:ln/>
        </p:spPr>
      </p:sp>
      <p:pic>
        <p:nvPicPr>
          <p:cNvPr id="53" name="Image 1" descr="Lock">    </p:cNvPr>
          <p:cNvPicPr>
            <a:picLocks noChangeAspect="1"/>
          </p:cNvPicPr>
          <p:nvPr/>
        </p:nvPicPr>
        <p:blipFill>
          <a:blip r:embed="rId2"/>
          <a:srcRect l="0" r="0" t="0" b="0"/>
          <a:stretch/>
        </p:blipFill>
        <p:spPr>
          <a:xfrm>
            <a:off x="4522501" y="4959174"/>
            <a:ext cx="228534" cy="228534"/>
          </a:xfrm>
          <a:prstGeom prst="rect">
            <a:avLst/>
          </a:prstGeom>
        </p:spPr>
      </p:pic>
      <p:sp>
        <p:nvSpPr>
          <p:cNvPr id="54" name="Text 50"/>
          <p:cNvSpPr/>
          <p:nvPr/>
        </p:nvSpPr>
        <p:spPr>
          <a:xfrm>
            <a:off x="4852569" y="4867892"/>
            <a:ext cx="4803861" cy="43660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E3338"/>
                </a:solidFill>
                <a:latin typeface="Carlito" pitchFamily="34" charset="0"/>
                <a:ea typeface="Carlito" pitchFamily="34" charset="-122"/>
                <a:cs typeface="Carlito" pitchFamily="34" charset="-120"/>
              </a:rPr>
              <a:t>Quarantine and monitoring.</a:t>
            </a:r>
            <a:r>
              <a:rPr lang="en-US" sz="1200" dirty="0">
                <a:solidFill>
                  <a:srgbClr val="2E3338"/>
                </a:solidFill>
                <a:latin typeface="Carlito" pitchFamily="34" charset="0"/>
                <a:ea typeface="Carlito" pitchFamily="34" charset="-122"/>
                <a:cs typeface="Carlito" pitchFamily="34" charset="-120"/>
              </a:rPr>
              <a:t> Files are held in a restricted area through review and can be restored if a critical file surfaces.</a:t>
            </a:r>
            <a:endParaRPr lang="en-US" sz="1200" dirty="0"/>
          </a:p>
        </p:txBody>
      </p:sp>
      <p:sp>
        <p:nvSpPr>
          <p:cNvPr id="55" name="Shape 51"/>
          <p:cNvSpPr/>
          <p:nvPr/>
        </p:nvSpPr>
        <p:spPr>
          <a:xfrm>
            <a:off x="9773576" y="4727421"/>
            <a:ext cx="1703961" cy="692150"/>
          </a:xfrm>
          <a:prstGeom prst="roundRect">
            <a:avLst>
              <a:gd name="adj" fmla="val 10550"/>
            </a:avLst>
          </a:prstGeom>
          <a:solidFill>
            <a:srgbClr val="FFFEFB"/>
          </a:solidFill>
          <a:ln w="6350">
            <a:solidFill>
              <a:srgbClr val="E3E0D8"/>
            </a:solidFill>
            <a:prstDash val="solid"/>
          </a:ln>
        </p:spPr>
      </p:sp>
      <p:pic>
        <p:nvPicPr>
          <p:cNvPr id="56" name="Image 2" descr="Verified">    </p:cNvPr>
          <p:cNvPicPr>
            <a:picLocks noChangeAspect="1"/>
          </p:cNvPicPr>
          <p:nvPr/>
        </p:nvPicPr>
        <p:blipFill>
          <a:blip r:embed="rId3"/>
          <a:srcRect l="0" r="0" t="0" b="0"/>
          <a:stretch/>
        </p:blipFill>
        <p:spPr>
          <a:xfrm>
            <a:off x="9891669" y="4971852"/>
            <a:ext cx="203178" cy="203178"/>
          </a:xfrm>
          <a:prstGeom prst="rect">
            <a:avLst/>
          </a:prstGeom>
        </p:spPr>
      </p:pic>
      <p:sp>
        <p:nvSpPr>
          <p:cNvPr id="57" name="Text 52"/>
          <p:cNvSpPr/>
          <p:nvPr/>
        </p:nvSpPr>
        <p:spPr>
          <a:xfrm>
            <a:off x="10171025" y="4978246"/>
            <a:ext cx="1239220" cy="21579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2E3338"/>
                </a:solidFill>
                <a:latin typeface="Carlito" pitchFamily="34" charset="0"/>
                <a:ea typeface="Carlito" pitchFamily="34" charset="-122"/>
                <a:cs typeface="Carlito" pitchFamily="34" charset="-120"/>
              </a:rPr>
              <a:t>Evidence logged</a:t>
            </a:r>
            <a:endParaRPr lang="en-US" sz="1200" dirty="0"/>
          </a:p>
        </p:txBody>
      </p:sp>
      <p:sp>
        <p:nvSpPr>
          <p:cNvPr id="58" name="Shape 53"/>
          <p:cNvSpPr/>
          <p:nvPr/>
        </p:nvSpPr>
        <p:spPr>
          <a:xfrm>
            <a:off x="2365309" y="1990703"/>
            <a:ext cx="209484" cy="209484"/>
          </a:xfrm>
          <a:prstGeom prst="roundRect">
            <a:avLst>
              <a:gd name="adj" fmla="val 50000"/>
            </a:avLst>
          </a:prstGeom>
          <a:solidFill>
            <a:srgbClr val="2E3338"/>
          </a:solidFill>
          <a:ln w="19050">
            <a:solidFill>
              <a:srgbClr val="F6F5F1"/>
            </a:solidFill>
            <a:prstDash val="solid"/>
          </a:ln>
        </p:spPr>
      </p:sp>
      <p:pic>
        <p:nvPicPr>
          <p:cNvPr id="59" name="Image 3" descr="arrow-right">    </p:cNvPr>
          <p:cNvPicPr>
            <a:picLocks noChangeAspect="1"/>
          </p:cNvPicPr>
          <p:nvPr/>
        </p:nvPicPr>
        <p:blipFill>
          <a:blip r:embed="rId4"/>
          <a:srcRect l="0" r="0" t="-18" b="-18"/>
          <a:stretch/>
        </p:blipFill>
        <p:spPr>
          <a:xfrm>
            <a:off x="2419284" y="2057356"/>
            <a:ext cx="101534" cy="76178"/>
          </a:xfrm>
          <a:prstGeom prst="rect">
            <a:avLst/>
          </a:prstGeom>
        </p:spPr>
      </p:pic>
      <p:sp>
        <p:nvSpPr>
          <p:cNvPr id="60" name="Shape 54"/>
          <p:cNvSpPr/>
          <p:nvPr/>
        </p:nvSpPr>
        <p:spPr>
          <a:xfrm>
            <a:off x="4181453" y="1990703"/>
            <a:ext cx="209484" cy="209484"/>
          </a:xfrm>
          <a:prstGeom prst="roundRect">
            <a:avLst>
              <a:gd name="adj" fmla="val 50000"/>
            </a:avLst>
          </a:prstGeom>
          <a:solidFill>
            <a:srgbClr val="2E3338"/>
          </a:solidFill>
          <a:ln w="19050">
            <a:solidFill>
              <a:srgbClr val="F6F5F1"/>
            </a:solidFill>
            <a:prstDash val="solid"/>
          </a:ln>
        </p:spPr>
      </p:sp>
      <p:pic>
        <p:nvPicPr>
          <p:cNvPr id="61" name="Image 4" descr="arrow-right">    </p:cNvPr>
          <p:cNvPicPr>
            <a:picLocks noChangeAspect="1"/>
          </p:cNvPicPr>
          <p:nvPr/>
        </p:nvPicPr>
        <p:blipFill>
          <a:blip r:embed="rId5"/>
          <a:srcRect l="0" r="0" t="-18" b="-18"/>
          <a:stretch/>
        </p:blipFill>
        <p:spPr>
          <a:xfrm>
            <a:off x="4235428" y="2057356"/>
            <a:ext cx="101534" cy="76178"/>
          </a:xfrm>
          <a:prstGeom prst="rect">
            <a:avLst/>
          </a:prstGeom>
        </p:spPr>
      </p:pic>
      <p:sp>
        <p:nvSpPr>
          <p:cNvPr id="62" name="Shape 55"/>
          <p:cNvSpPr/>
          <p:nvPr/>
        </p:nvSpPr>
        <p:spPr>
          <a:xfrm>
            <a:off x="5991203" y="1990703"/>
            <a:ext cx="209484" cy="209484"/>
          </a:xfrm>
          <a:prstGeom prst="roundRect">
            <a:avLst>
              <a:gd name="adj" fmla="val 50000"/>
            </a:avLst>
          </a:prstGeom>
          <a:solidFill>
            <a:srgbClr val="2E3338"/>
          </a:solidFill>
          <a:ln w="19050">
            <a:solidFill>
              <a:srgbClr val="F6F5F1"/>
            </a:solidFill>
            <a:prstDash val="solid"/>
          </a:ln>
        </p:spPr>
      </p:sp>
      <p:pic>
        <p:nvPicPr>
          <p:cNvPr id="63" name="Image 5" descr="arrow-right">    </p:cNvPr>
          <p:cNvPicPr>
            <a:picLocks noChangeAspect="1"/>
          </p:cNvPicPr>
          <p:nvPr/>
        </p:nvPicPr>
        <p:blipFill>
          <a:blip r:embed="rId6"/>
          <a:srcRect l="0" r="0" t="-18" b="-18"/>
          <a:stretch/>
        </p:blipFill>
        <p:spPr>
          <a:xfrm>
            <a:off x="6045178" y="2057356"/>
            <a:ext cx="101534" cy="76178"/>
          </a:xfrm>
          <a:prstGeom prst="rect">
            <a:avLst/>
          </a:prstGeom>
        </p:spPr>
      </p:pic>
      <p:sp>
        <p:nvSpPr>
          <p:cNvPr id="64" name="Shape 56"/>
          <p:cNvSpPr/>
          <p:nvPr/>
        </p:nvSpPr>
        <p:spPr>
          <a:xfrm>
            <a:off x="7800953" y="1990703"/>
            <a:ext cx="209484" cy="209484"/>
          </a:xfrm>
          <a:prstGeom prst="roundRect">
            <a:avLst>
              <a:gd name="adj" fmla="val 50000"/>
            </a:avLst>
          </a:prstGeom>
          <a:solidFill>
            <a:srgbClr val="2E3338"/>
          </a:solidFill>
          <a:ln w="19050">
            <a:solidFill>
              <a:srgbClr val="F6F5F1"/>
            </a:solidFill>
            <a:prstDash val="solid"/>
          </a:ln>
        </p:spPr>
      </p:sp>
      <p:pic>
        <p:nvPicPr>
          <p:cNvPr id="65" name="Image 6" descr="arrow-right">    </p:cNvPr>
          <p:cNvPicPr>
            <a:picLocks noChangeAspect="1"/>
          </p:cNvPicPr>
          <p:nvPr/>
        </p:nvPicPr>
        <p:blipFill>
          <a:blip r:embed="rId7"/>
          <a:srcRect l="0" r="0" t="-18" b="-18"/>
          <a:stretch/>
        </p:blipFill>
        <p:spPr>
          <a:xfrm>
            <a:off x="7854928" y="2057356"/>
            <a:ext cx="101534" cy="76178"/>
          </a:xfrm>
          <a:prstGeom prst="rect">
            <a:avLst/>
          </a:prstGeom>
        </p:spPr>
      </p:pic>
      <p:sp>
        <p:nvSpPr>
          <p:cNvPr id="66" name="Shape 57"/>
          <p:cNvSpPr/>
          <p:nvPr/>
        </p:nvSpPr>
        <p:spPr>
          <a:xfrm>
            <a:off x="9616987" y="1990703"/>
            <a:ext cx="209484" cy="209484"/>
          </a:xfrm>
          <a:prstGeom prst="roundRect">
            <a:avLst>
              <a:gd name="adj" fmla="val 50000"/>
            </a:avLst>
          </a:prstGeom>
          <a:solidFill>
            <a:srgbClr val="2E3338"/>
          </a:solidFill>
          <a:ln w="19050">
            <a:solidFill>
              <a:srgbClr val="F6F5F1"/>
            </a:solidFill>
            <a:prstDash val="solid"/>
          </a:ln>
        </p:spPr>
      </p:sp>
      <p:pic>
        <p:nvPicPr>
          <p:cNvPr id="67" name="Image 7" descr="arrow-right">    </p:cNvPr>
          <p:cNvPicPr>
            <a:picLocks noChangeAspect="1"/>
          </p:cNvPicPr>
          <p:nvPr/>
        </p:nvPicPr>
        <p:blipFill>
          <a:blip r:embed="rId8"/>
          <a:srcRect l="0" r="0" t="-18" b="-18"/>
          <a:stretch/>
        </p:blipFill>
        <p:spPr>
          <a:xfrm>
            <a:off x="9670962" y="2057356"/>
            <a:ext cx="101534" cy="76178"/>
          </a:xfrm>
          <a:prstGeom prst="rect">
            <a:avLst/>
          </a:prstGeom>
        </p:spPr>
      </p:pic>
      <p:sp>
        <p:nvSpPr>
          <p:cNvPr id="68" name="Text 58"/>
          <p:cNvSpPr/>
          <p:nvPr/>
        </p:nvSpPr>
        <p:spPr>
          <a:xfrm>
            <a:off x="711178" y="6238434"/>
            <a:ext cx="8502651"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6"/>
                </a:solidFill>
                <a:latin typeface="Carlito" pitchFamily="34" charset="0"/>
                <a:ea typeface="Carlito" pitchFamily="34" charset="-122"/>
                <a:cs typeface="Carlito" pitchFamily="34" charset="-120"/>
              </a:rPr>
              <a:t>Scope: shared network drives first, extending to all unstructured content in a later phase.</a:t>
            </a:r>
            <a:endParaRPr lang="en-US" sz="1200" dirty="0"/>
          </a:p>
        </p:txBody>
      </p:sp>
      <p:sp>
        <p:nvSpPr>
          <p:cNvPr id="69" name="Text 59"/>
          <p:cNvSpPr/>
          <p:nvPr/>
        </p:nvSpPr>
        <p:spPr>
          <a:xfrm>
            <a:off x="8733812" y="6238434"/>
            <a:ext cx="274701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066"/>
                </a:solidFill>
                <a:latin typeface="Carlito" pitchFamily="34" charset="0"/>
                <a:ea typeface="Carlito" pitchFamily="34" charset="-122"/>
                <a:cs typeface="Carlito" pitchFamily="34" charset="-120"/>
              </a:rPr>
              <a:t>Office of Data Governance |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711178" y="495212"/>
            <a:ext cx="304712" cy="38034"/>
          </a:xfrm>
          <a:prstGeom prst="roundRect">
            <a:avLst>
              <a:gd name="adj" fmla="val 50000"/>
            </a:avLst>
          </a:prstGeom>
          <a:solidFill>
            <a:srgbClr val="FFC72C"/>
          </a:solidFill>
          <a:ln/>
        </p:spPr>
      </p:sp>
      <p:sp>
        <p:nvSpPr>
          <p:cNvPr id="3" name="Text 1"/>
          <p:cNvSpPr/>
          <p:nvPr/>
        </p:nvSpPr>
        <p:spPr>
          <a:xfrm>
            <a:off x="1117534" y="393678"/>
            <a:ext cx="9156701" cy="23861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3338"/>
                </a:solidFill>
                <a:latin typeface="Carlito" pitchFamily="34" charset="0"/>
                <a:ea typeface="Carlito" pitchFamily="34" charset="-122"/>
                <a:cs typeface="Carlito" pitchFamily="34" charset="-120"/>
              </a:rPr>
              <a:t>DATA RETENTION &amp; DISPOSITION | FILE SHARE REMEDIATION</a:t>
            </a:r>
            <a:endParaRPr lang="en-US" sz="1200" dirty="0"/>
          </a:p>
        </p:txBody>
      </p:sp>
      <p:sp>
        <p:nvSpPr>
          <p:cNvPr id="4" name="Text 2"/>
          <p:cNvSpPr/>
          <p:nvPr>
            <p:ph type="title"/>
          </p:nvPr>
        </p:nvSpPr>
        <p:spPr>
          <a:xfrm>
            <a:off x="711178" y="660357"/>
            <a:ext cx="11092620" cy="434292"/>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2E3338"/>
                </a:solidFill>
                <a:latin typeface="Libre Baskerville" pitchFamily="18" charset="0"/>
                <a:ea typeface="Libre Baskerville" pitchFamily="18" charset="-122"/>
                <a:cs typeface="Libre Baskerville" pitchFamily="18" charset="-120"/>
              </a:rPr>
              <a:t>Safeguards behind every deletion</a:t>
            </a:r>
            <a:endParaRPr lang="en-US" sz="2800" dirty="0"/>
          </a:p>
        </p:txBody>
      </p:sp>
      <p:sp>
        <p:nvSpPr>
          <p:cNvPr id="5" name="Text 3"/>
          <p:cNvSpPr/>
          <p:nvPr/>
        </p:nvSpPr>
        <p:spPr>
          <a:xfrm>
            <a:off x="711178" y="1143000"/>
            <a:ext cx="11092620" cy="256469"/>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A6066"/>
                </a:solidFill>
                <a:latin typeface="Carlito" pitchFamily="34" charset="0"/>
                <a:ea typeface="Carlito" pitchFamily="34" charset="-122"/>
                <a:cs typeface="Carlito" pitchFamily="34" charset="-120"/>
              </a:rPr>
              <a:t>Each control is built into the workflow. Three decisions will let us launch the pilot.</a:t>
            </a:r>
            <a:endParaRPr lang="en-US" sz="1400" dirty="0"/>
          </a:p>
        </p:txBody>
      </p:sp>
      <p:sp>
        <p:nvSpPr>
          <p:cNvPr id="6" name="Shape 4"/>
          <p:cNvSpPr/>
          <p:nvPr/>
        </p:nvSpPr>
        <p:spPr>
          <a:xfrm>
            <a:off x="714353" y="1527176"/>
            <a:ext cx="3481851" cy="3168650"/>
          </a:xfrm>
          <a:prstGeom prst="roundRect">
            <a:avLst>
              <a:gd name="adj" fmla="val 3106"/>
            </a:avLst>
          </a:prstGeom>
          <a:solidFill>
            <a:srgbClr val="FFFEFB"/>
          </a:solidFill>
          <a:ln w="6350">
            <a:solidFill>
              <a:srgbClr val="E3E0D8"/>
            </a:solidFill>
            <a:prstDash val="solid"/>
          </a:ln>
          <a:effectLst>
            <a:outerShdw sx="100000" sy="100000" kx="0" ky="0" algn="bl" rotWithShape="0" blurRad="152400" dist="50800" dir="5400000">
              <a:srgbClr val="2E3338">
                <a:alpha val="6000"/>
              </a:srgbClr>
            </a:outerShdw>
          </a:effectLst>
        </p:spPr>
      </p:sp>
      <p:sp>
        <p:nvSpPr>
          <p:cNvPr id="7" name="Shape 5"/>
          <p:cNvSpPr/>
          <p:nvPr/>
        </p:nvSpPr>
        <p:spPr>
          <a:xfrm>
            <a:off x="921411" y="1734234"/>
            <a:ext cx="330178" cy="330178"/>
          </a:xfrm>
          <a:prstGeom prst="roundRect">
            <a:avLst>
              <a:gd name="adj" fmla="val 23078"/>
            </a:avLst>
          </a:prstGeom>
          <a:solidFill>
            <a:srgbClr val="FFF3CC"/>
          </a:solidFill>
          <a:ln/>
        </p:spPr>
      </p:sp>
      <p:pic>
        <p:nvPicPr>
          <p:cNvPr id="8" name="Image 0" descr="Check">    </p:cNvPr>
          <p:cNvPicPr>
            <a:picLocks noChangeAspect="1"/>
          </p:cNvPicPr>
          <p:nvPr/>
        </p:nvPicPr>
        <p:blipFill>
          <a:blip r:embed="rId1"/>
          <a:srcRect l="0" r="0" t="0" b="0"/>
          <a:stretch/>
        </p:blipFill>
        <p:spPr>
          <a:xfrm>
            <a:off x="997589" y="1810412"/>
            <a:ext cx="177712" cy="177712"/>
          </a:xfrm>
          <a:prstGeom prst="rect">
            <a:avLst/>
          </a:prstGeom>
        </p:spPr>
      </p:pic>
      <p:sp>
        <p:nvSpPr>
          <p:cNvPr id="9" name="Text 6"/>
          <p:cNvSpPr/>
          <p:nvPr/>
        </p:nvSpPr>
        <p:spPr>
          <a:xfrm>
            <a:off x="1353123" y="1792663"/>
            <a:ext cx="271510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E3338"/>
                </a:solidFill>
                <a:latin typeface="Libre Baskerville" pitchFamily="18" charset="0"/>
                <a:ea typeface="Libre Baskerville" pitchFamily="18" charset="-122"/>
                <a:cs typeface="Libre Baskerville" pitchFamily="18" charset="-120"/>
              </a:rPr>
              <a:t>Validation checks</a:t>
            </a:r>
            <a:endParaRPr lang="en-US" sz="1400" dirty="0"/>
          </a:p>
        </p:txBody>
      </p:sp>
      <p:sp>
        <p:nvSpPr>
          <p:cNvPr id="10" name="Shape 7"/>
          <p:cNvSpPr/>
          <p:nvPr/>
        </p:nvSpPr>
        <p:spPr>
          <a:xfrm>
            <a:off x="921411" y="2286552"/>
            <a:ext cx="63500" cy="63500"/>
          </a:xfrm>
          <a:prstGeom prst="roundRect">
            <a:avLst>
              <a:gd name="adj" fmla="val 20000"/>
            </a:avLst>
          </a:prstGeom>
          <a:solidFill>
            <a:srgbClr val="FFC72C"/>
          </a:solidFill>
          <a:ln/>
        </p:spPr>
      </p:sp>
      <p:sp>
        <p:nvSpPr>
          <p:cNvPr id="11" name="Text 8"/>
          <p:cNvSpPr/>
          <p:nvPr/>
        </p:nvSpPr>
        <p:spPr>
          <a:xfrm>
            <a:off x="1073767" y="2216768"/>
            <a:ext cx="3002839"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Retention trigger and schedule confirm the record has expired</a:t>
            </a:r>
            <a:endParaRPr lang="en-US" sz="1200" dirty="0"/>
          </a:p>
        </p:txBody>
      </p:sp>
      <p:sp>
        <p:nvSpPr>
          <p:cNvPr id="12" name="Shape 9"/>
          <p:cNvSpPr/>
          <p:nvPr/>
        </p:nvSpPr>
        <p:spPr>
          <a:xfrm>
            <a:off x="921411" y="2811970"/>
            <a:ext cx="63500" cy="63500"/>
          </a:xfrm>
          <a:prstGeom prst="roundRect">
            <a:avLst>
              <a:gd name="adj" fmla="val 20000"/>
            </a:avLst>
          </a:prstGeom>
          <a:solidFill>
            <a:srgbClr val="FFC72C"/>
          </a:solidFill>
          <a:ln/>
        </p:spPr>
      </p:sp>
      <p:sp>
        <p:nvSpPr>
          <p:cNvPr id="13" name="Text 10"/>
          <p:cNvSpPr/>
          <p:nvPr/>
        </p:nvSpPr>
        <p:spPr>
          <a:xfrm>
            <a:off x="1073767" y="2742186"/>
            <a:ext cx="3002839"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Folder path matches the business area that owns the record</a:t>
            </a:r>
            <a:endParaRPr lang="en-US" sz="1200" dirty="0"/>
          </a:p>
        </p:txBody>
      </p:sp>
      <p:sp>
        <p:nvSpPr>
          <p:cNvPr id="14" name="Shape 11"/>
          <p:cNvSpPr/>
          <p:nvPr/>
        </p:nvSpPr>
        <p:spPr>
          <a:xfrm>
            <a:off x="921411" y="3337389"/>
            <a:ext cx="63500" cy="63500"/>
          </a:xfrm>
          <a:prstGeom prst="roundRect">
            <a:avLst>
              <a:gd name="adj" fmla="val 20000"/>
            </a:avLst>
          </a:prstGeom>
          <a:solidFill>
            <a:srgbClr val="FFC72C"/>
          </a:solidFill>
          <a:ln/>
        </p:spPr>
      </p:sp>
      <p:sp>
        <p:nvSpPr>
          <p:cNvPr id="15" name="Text 12"/>
          <p:cNvSpPr/>
          <p:nvPr/>
        </p:nvSpPr>
        <p:spPr>
          <a:xfrm>
            <a:off x="1073767" y="3267604"/>
            <a:ext cx="3002839" cy="231003"/>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Folders under legal hold are excluded</a:t>
            </a:r>
            <a:endParaRPr lang="en-US" sz="1200" dirty="0"/>
          </a:p>
        </p:txBody>
      </p:sp>
      <p:sp>
        <p:nvSpPr>
          <p:cNvPr id="16" name="Shape 13"/>
          <p:cNvSpPr/>
          <p:nvPr/>
        </p:nvSpPr>
        <p:spPr>
          <a:xfrm>
            <a:off x="921411" y="3657204"/>
            <a:ext cx="63500" cy="63500"/>
          </a:xfrm>
          <a:prstGeom prst="roundRect">
            <a:avLst>
              <a:gd name="adj" fmla="val 20000"/>
            </a:avLst>
          </a:prstGeom>
          <a:solidFill>
            <a:srgbClr val="FFC72C"/>
          </a:solidFill>
          <a:ln/>
        </p:spPr>
      </p:sp>
      <p:sp>
        <p:nvSpPr>
          <p:cNvPr id="17" name="Text 14"/>
          <p:cNvSpPr/>
          <p:nvPr/>
        </p:nvSpPr>
        <p:spPr>
          <a:xfrm>
            <a:off x="1073767" y="3587420"/>
            <a:ext cx="3002839"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Failures return to DGS and never reach approvers</a:t>
            </a:r>
            <a:endParaRPr lang="en-US" sz="1200" dirty="0"/>
          </a:p>
        </p:txBody>
      </p:sp>
      <p:sp>
        <p:nvSpPr>
          <p:cNvPr id="18" name="Shape 15"/>
          <p:cNvSpPr/>
          <p:nvPr/>
        </p:nvSpPr>
        <p:spPr>
          <a:xfrm>
            <a:off x="4354910" y="1527176"/>
            <a:ext cx="3481961" cy="3168650"/>
          </a:xfrm>
          <a:prstGeom prst="roundRect">
            <a:avLst>
              <a:gd name="adj" fmla="val 3106"/>
            </a:avLst>
          </a:prstGeom>
          <a:solidFill>
            <a:srgbClr val="FFFEFB"/>
          </a:solidFill>
          <a:ln w="6350">
            <a:solidFill>
              <a:srgbClr val="E3E0D8"/>
            </a:solidFill>
            <a:prstDash val="solid"/>
          </a:ln>
          <a:effectLst>
            <a:outerShdw sx="100000" sy="100000" kx="0" ky="0" algn="bl" rotWithShape="0" blurRad="152400" dist="50800" dir="5400000">
              <a:srgbClr val="2E3338">
                <a:alpha val="6000"/>
              </a:srgbClr>
            </a:outerShdw>
          </a:effectLst>
        </p:spPr>
      </p:sp>
      <p:sp>
        <p:nvSpPr>
          <p:cNvPr id="19" name="Shape 16"/>
          <p:cNvSpPr/>
          <p:nvPr/>
        </p:nvSpPr>
        <p:spPr>
          <a:xfrm>
            <a:off x="4561968" y="1734234"/>
            <a:ext cx="330178" cy="330178"/>
          </a:xfrm>
          <a:prstGeom prst="roundRect">
            <a:avLst>
              <a:gd name="adj" fmla="val 23078"/>
            </a:avLst>
          </a:prstGeom>
          <a:solidFill>
            <a:srgbClr val="FFF3CC"/>
          </a:solidFill>
          <a:ln/>
        </p:spPr>
      </p:sp>
      <p:pic>
        <p:nvPicPr>
          <p:cNvPr id="20" name="Image 1" descr="Users">    </p:cNvPr>
          <p:cNvPicPr>
            <a:picLocks noChangeAspect="1"/>
          </p:cNvPicPr>
          <p:nvPr/>
        </p:nvPicPr>
        <p:blipFill>
          <a:blip r:embed="rId2"/>
          <a:srcRect l="0" r="0" t="0" b="0"/>
          <a:stretch/>
        </p:blipFill>
        <p:spPr>
          <a:xfrm>
            <a:off x="4638146" y="1810412"/>
            <a:ext cx="177712" cy="177712"/>
          </a:xfrm>
          <a:prstGeom prst="rect">
            <a:avLst/>
          </a:prstGeom>
        </p:spPr>
      </p:pic>
      <p:sp>
        <p:nvSpPr>
          <p:cNvPr id="21" name="Text 17"/>
          <p:cNvSpPr/>
          <p:nvPr/>
        </p:nvSpPr>
        <p:spPr>
          <a:xfrm>
            <a:off x="4993680" y="1792663"/>
            <a:ext cx="271521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E3338"/>
                </a:solidFill>
                <a:latin typeface="Libre Baskerville" pitchFamily="18" charset="0"/>
                <a:ea typeface="Libre Baskerville" pitchFamily="18" charset="-122"/>
                <a:cs typeface="Libre Baskerville" pitchFamily="18" charset="-120"/>
              </a:rPr>
              <a:t>Approval thresholds</a:t>
            </a:r>
            <a:endParaRPr lang="en-US" sz="1400" dirty="0"/>
          </a:p>
        </p:txBody>
      </p:sp>
      <p:sp>
        <p:nvSpPr>
          <p:cNvPr id="22" name="Shape 18"/>
          <p:cNvSpPr/>
          <p:nvPr/>
        </p:nvSpPr>
        <p:spPr>
          <a:xfrm>
            <a:off x="4561968" y="2286552"/>
            <a:ext cx="63500" cy="63500"/>
          </a:xfrm>
          <a:prstGeom prst="roundRect">
            <a:avLst>
              <a:gd name="adj" fmla="val 20000"/>
            </a:avLst>
          </a:prstGeom>
          <a:solidFill>
            <a:srgbClr val="FFC72C"/>
          </a:solidFill>
          <a:ln/>
        </p:spPr>
      </p:sp>
      <p:sp>
        <p:nvSpPr>
          <p:cNvPr id="23" name="Text 19"/>
          <p:cNvSpPr/>
          <p:nvPr/>
        </p:nvSpPr>
        <p:spPr>
          <a:xfrm>
            <a:off x="4714324" y="2216768"/>
            <a:ext cx="3002953"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RIM Area Liaison reviews the list for awareness and flags concerns</a:t>
            </a:r>
            <a:endParaRPr lang="en-US" sz="1200" dirty="0"/>
          </a:p>
        </p:txBody>
      </p:sp>
      <p:sp>
        <p:nvSpPr>
          <p:cNvPr id="24" name="Shape 20"/>
          <p:cNvSpPr/>
          <p:nvPr/>
        </p:nvSpPr>
        <p:spPr>
          <a:xfrm>
            <a:off x="4561968" y="2811970"/>
            <a:ext cx="63500" cy="63500"/>
          </a:xfrm>
          <a:prstGeom prst="roundRect">
            <a:avLst>
              <a:gd name="adj" fmla="val 20000"/>
            </a:avLst>
          </a:prstGeom>
          <a:solidFill>
            <a:srgbClr val="FFC72C"/>
          </a:solidFill>
          <a:ln/>
        </p:spPr>
      </p:sp>
      <p:sp>
        <p:nvSpPr>
          <p:cNvPr id="25" name="Text 21"/>
          <p:cNvSpPr/>
          <p:nvPr/>
        </p:nvSpPr>
        <p:spPr>
          <a:xfrm>
            <a:off x="4714324" y="2742186"/>
            <a:ext cx="3002953" cy="231003"/>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Erica approves every validated batch</a:t>
            </a:r>
            <a:endParaRPr lang="en-US" sz="1200" dirty="0"/>
          </a:p>
        </p:txBody>
      </p:sp>
      <p:sp>
        <p:nvSpPr>
          <p:cNvPr id="26" name="Shape 22"/>
          <p:cNvSpPr/>
          <p:nvPr/>
        </p:nvSpPr>
        <p:spPr>
          <a:xfrm>
            <a:off x="4561968" y="3131786"/>
            <a:ext cx="63500" cy="63500"/>
          </a:xfrm>
          <a:prstGeom prst="roundRect">
            <a:avLst>
              <a:gd name="adj" fmla="val 20000"/>
            </a:avLst>
          </a:prstGeom>
          <a:solidFill>
            <a:srgbClr val="FFC72C"/>
          </a:solidFill>
          <a:ln/>
        </p:spPr>
      </p:sp>
      <p:sp>
        <p:nvSpPr>
          <p:cNvPr id="27" name="Text 23"/>
          <p:cNvSpPr/>
          <p:nvPr/>
        </p:nvSpPr>
        <p:spPr>
          <a:xfrm>
            <a:off x="4714324" y="3062001"/>
            <a:ext cx="3002953"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Brett also approves records 10+ years past creation, modification or last access</a:t>
            </a:r>
            <a:endParaRPr lang="en-US" sz="1200" dirty="0"/>
          </a:p>
        </p:txBody>
      </p:sp>
      <p:sp>
        <p:nvSpPr>
          <p:cNvPr id="28" name="Shape 24"/>
          <p:cNvSpPr/>
          <p:nvPr/>
        </p:nvSpPr>
        <p:spPr>
          <a:xfrm>
            <a:off x="4561968" y="3657204"/>
            <a:ext cx="63500" cy="63500"/>
          </a:xfrm>
          <a:prstGeom prst="roundRect">
            <a:avLst>
              <a:gd name="adj" fmla="val 20000"/>
            </a:avLst>
          </a:prstGeom>
          <a:solidFill>
            <a:srgbClr val="FFC72C"/>
          </a:solidFill>
          <a:ln/>
        </p:spPr>
      </p:sp>
      <p:sp>
        <p:nvSpPr>
          <p:cNvPr id="29" name="Text 25"/>
          <p:cNvSpPr/>
          <p:nvPr/>
        </p:nvSpPr>
        <p:spPr>
          <a:xfrm>
            <a:off x="4714324" y="3587420"/>
            <a:ext cx="3002953"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A flagged folder leaves the batch until the issue is resolved</a:t>
            </a:r>
            <a:endParaRPr lang="en-US" sz="1200" dirty="0"/>
          </a:p>
        </p:txBody>
      </p:sp>
      <p:sp>
        <p:nvSpPr>
          <p:cNvPr id="30" name="Shape 26"/>
          <p:cNvSpPr/>
          <p:nvPr/>
        </p:nvSpPr>
        <p:spPr>
          <a:xfrm>
            <a:off x="7995576" y="1527176"/>
            <a:ext cx="3481851" cy="3168650"/>
          </a:xfrm>
          <a:prstGeom prst="roundRect">
            <a:avLst>
              <a:gd name="adj" fmla="val 3106"/>
            </a:avLst>
          </a:prstGeom>
          <a:solidFill>
            <a:srgbClr val="FFFEFB"/>
          </a:solidFill>
          <a:ln w="6350">
            <a:solidFill>
              <a:srgbClr val="E3E0D8"/>
            </a:solidFill>
            <a:prstDash val="solid"/>
          </a:ln>
          <a:effectLst>
            <a:outerShdw sx="100000" sy="100000" kx="0" ky="0" algn="bl" rotWithShape="0" blurRad="152400" dist="50800" dir="5400000">
              <a:srgbClr val="2E3338">
                <a:alpha val="6000"/>
              </a:srgbClr>
            </a:outerShdw>
          </a:effectLst>
        </p:spPr>
      </p:sp>
      <p:sp>
        <p:nvSpPr>
          <p:cNvPr id="31" name="Shape 27"/>
          <p:cNvSpPr/>
          <p:nvPr/>
        </p:nvSpPr>
        <p:spPr>
          <a:xfrm>
            <a:off x="8202635" y="1734234"/>
            <a:ext cx="330178" cy="330178"/>
          </a:xfrm>
          <a:prstGeom prst="roundRect">
            <a:avLst>
              <a:gd name="adj" fmla="val 23078"/>
            </a:avLst>
          </a:prstGeom>
          <a:solidFill>
            <a:srgbClr val="FFF3CC"/>
          </a:solidFill>
          <a:ln/>
        </p:spPr>
      </p:sp>
      <p:pic>
        <p:nvPicPr>
          <p:cNvPr id="32" name="Image 2" descr="Lock">    </p:cNvPr>
          <p:cNvPicPr>
            <a:picLocks noChangeAspect="1"/>
          </p:cNvPicPr>
          <p:nvPr/>
        </p:nvPicPr>
        <p:blipFill>
          <a:blip r:embed="rId3"/>
          <a:srcRect l="0" r="0" t="0" b="0"/>
          <a:stretch/>
        </p:blipFill>
        <p:spPr>
          <a:xfrm>
            <a:off x="8278813" y="1810412"/>
            <a:ext cx="177712" cy="177712"/>
          </a:xfrm>
          <a:prstGeom prst="rect">
            <a:avLst/>
          </a:prstGeom>
        </p:spPr>
      </p:pic>
      <p:sp>
        <p:nvSpPr>
          <p:cNvPr id="33" name="Text 28"/>
          <p:cNvSpPr/>
          <p:nvPr/>
        </p:nvSpPr>
        <p:spPr>
          <a:xfrm>
            <a:off x="8634347" y="1792663"/>
            <a:ext cx="271510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E3338"/>
                </a:solidFill>
                <a:latin typeface="Libre Baskerville" pitchFamily="18" charset="0"/>
                <a:ea typeface="Libre Baskerville" pitchFamily="18" charset="-122"/>
                <a:cs typeface="Libre Baskerville" pitchFamily="18" charset="-120"/>
              </a:rPr>
              <a:t>Quarantine &amp; evidence</a:t>
            </a:r>
            <a:endParaRPr lang="en-US" sz="1400" dirty="0"/>
          </a:p>
        </p:txBody>
      </p:sp>
      <p:sp>
        <p:nvSpPr>
          <p:cNvPr id="34" name="Shape 29"/>
          <p:cNvSpPr/>
          <p:nvPr/>
        </p:nvSpPr>
        <p:spPr>
          <a:xfrm>
            <a:off x="8202635" y="2286552"/>
            <a:ext cx="63500" cy="63500"/>
          </a:xfrm>
          <a:prstGeom prst="roundRect">
            <a:avLst>
              <a:gd name="adj" fmla="val 20000"/>
            </a:avLst>
          </a:prstGeom>
          <a:solidFill>
            <a:srgbClr val="FFC72C"/>
          </a:solidFill>
          <a:ln/>
        </p:spPr>
      </p:sp>
      <p:sp>
        <p:nvSpPr>
          <p:cNvPr id="35" name="Text 30"/>
          <p:cNvSpPr/>
          <p:nvPr/>
        </p:nvSpPr>
        <p:spPr>
          <a:xfrm>
            <a:off x="8354991" y="2216768"/>
            <a:ext cx="3002839"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Files move to a restricted area for [__] days before deletion</a:t>
            </a:r>
            <a:endParaRPr lang="en-US" sz="1200" dirty="0"/>
          </a:p>
        </p:txBody>
      </p:sp>
      <p:sp>
        <p:nvSpPr>
          <p:cNvPr id="36" name="Shape 31"/>
          <p:cNvSpPr/>
          <p:nvPr/>
        </p:nvSpPr>
        <p:spPr>
          <a:xfrm>
            <a:off x="8202635" y="2811970"/>
            <a:ext cx="63500" cy="63500"/>
          </a:xfrm>
          <a:prstGeom prst="roundRect">
            <a:avLst>
              <a:gd name="adj" fmla="val 20000"/>
            </a:avLst>
          </a:prstGeom>
          <a:solidFill>
            <a:srgbClr val="FFC72C"/>
          </a:solidFill>
          <a:ln/>
        </p:spPr>
      </p:sp>
      <p:sp>
        <p:nvSpPr>
          <p:cNvPr id="37" name="Text 32"/>
          <p:cNvSpPr/>
          <p:nvPr/>
        </p:nvSpPr>
        <p:spPr>
          <a:xfrm>
            <a:off x="8354991" y="2742186"/>
            <a:ext cx="3002839"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Access requests during the window are monitored and logged</a:t>
            </a:r>
            <a:endParaRPr lang="en-US" sz="1200" dirty="0"/>
          </a:p>
        </p:txBody>
      </p:sp>
      <p:sp>
        <p:nvSpPr>
          <p:cNvPr id="38" name="Shape 33"/>
          <p:cNvSpPr/>
          <p:nvPr/>
        </p:nvSpPr>
        <p:spPr>
          <a:xfrm>
            <a:off x="8202635" y="3337389"/>
            <a:ext cx="63500" cy="63500"/>
          </a:xfrm>
          <a:prstGeom prst="roundRect">
            <a:avLst>
              <a:gd name="adj" fmla="val 20000"/>
            </a:avLst>
          </a:prstGeom>
          <a:solidFill>
            <a:srgbClr val="FFC72C"/>
          </a:solidFill>
          <a:ln/>
        </p:spPr>
      </p:sp>
      <p:sp>
        <p:nvSpPr>
          <p:cNvPr id="39" name="Text 34"/>
          <p:cNvSpPr/>
          <p:nvPr/>
        </p:nvSpPr>
        <p:spPr>
          <a:xfrm>
            <a:off x="8354991" y="3267604"/>
            <a:ext cx="3002839"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A critical file can be restored to its original location</a:t>
            </a:r>
            <a:endParaRPr lang="en-US" sz="1200" dirty="0"/>
          </a:p>
        </p:txBody>
      </p:sp>
      <p:sp>
        <p:nvSpPr>
          <p:cNvPr id="40" name="Shape 35"/>
          <p:cNvSpPr/>
          <p:nvPr/>
        </p:nvSpPr>
        <p:spPr>
          <a:xfrm>
            <a:off x="8202635" y="3862807"/>
            <a:ext cx="63500" cy="63500"/>
          </a:xfrm>
          <a:prstGeom prst="roundRect">
            <a:avLst>
              <a:gd name="adj" fmla="val 20000"/>
            </a:avLst>
          </a:prstGeom>
          <a:solidFill>
            <a:srgbClr val="FFC72C"/>
          </a:solidFill>
          <a:ln/>
        </p:spPr>
      </p:sp>
      <p:sp>
        <p:nvSpPr>
          <p:cNvPr id="41" name="Text 36"/>
          <p:cNvSpPr/>
          <p:nvPr/>
        </p:nvSpPr>
        <p:spPr>
          <a:xfrm>
            <a:off x="8354991" y="3793023"/>
            <a:ext cx="3002839"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54B"/>
                </a:solidFill>
                <a:latin typeface="Carlito" pitchFamily="34" charset="0"/>
                <a:ea typeface="Carlito" pitchFamily="34" charset="-122"/>
                <a:cs typeface="Carlito" pitchFamily="34" charset="-120"/>
              </a:rPr>
              <a:t>Each batch closes with a disposition log for audit</a:t>
            </a:r>
            <a:endParaRPr lang="en-US" sz="1200" dirty="0"/>
          </a:p>
        </p:txBody>
      </p:sp>
      <p:sp>
        <p:nvSpPr>
          <p:cNvPr id="42" name="Shape 37"/>
          <p:cNvSpPr/>
          <p:nvPr/>
        </p:nvSpPr>
        <p:spPr>
          <a:xfrm>
            <a:off x="711178" y="4851357"/>
            <a:ext cx="10769534" cy="756488"/>
          </a:xfrm>
          <a:prstGeom prst="roundRect">
            <a:avLst>
              <a:gd name="adj" fmla="val 13430"/>
            </a:avLst>
          </a:prstGeom>
          <a:solidFill>
            <a:srgbClr val="2E3338"/>
          </a:solidFill>
          <a:ln/>
        </p:spPr>
      </p:sp>
      <p:sp>
        <p:nvSpPr>
          <p:cNvPr id="43" name="Text 38"/>
          <p:cNvSpPr/>
          <p:nvPr/>
        </p:nvSpPr>
        <p:spPr>
          <a:xfrm>
            <a:off x="939712" y="5016391"/>
            <a:ext cx="1701800" cy="4518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72C"/>
                </a:solidFill>
                <a:latin typeface="Carlito" pitchFamily="34" charset="0"/>
                <a:ea typeface="Carlito" pitchFamily="34" charset="-122"/>
                <a:cs typeface="Carlito" pitchFamily="34" charset="-120"/>
              </a:rPr>
              <a:t>DECISIONS REQUESTED</a:t>
            </a:r>
            <a:endParaRPr lang="en-US" sz="1200" dirty="0"/>
          </a:p>
        </p:txBody>
      </p:sp>
      <p:sp>
        <p:nvSpPr>
          <p:cNvPr id="44" name="Shape 39"/>
          <p:cNvSpPr/>
          <p:nvPr/>
        </p:nvSpPr>
        <p:spPr>
          <a:xfrm>
            <a:off x="2797065" y="5018926"/>
            <a:ext cx="0" cy="421349"/>
          </a:xfrm>
          <a:prstGeom prst="line">
            <a:avLst/>
          </a:prstGeom>
          <a:noFill/>
          <a:ln w="6350">
            <a:solidFill>
              <a:srgbClr val="555B61"/>
            </a:solidFill>
            <a:prstDash val="solid"/>
          </a:ln>
        </p:spPr>
      </p:sp>
      <p:sp>
        <p:nvSpPr>
          <p:cNvPr id="45" name="Text 40"/>
          <p:cNvSpPr/>
          <p:nvPr/>
        </p:nvSpPr>
        <p:spPr>
          <a:xfrm>
            <a:off x="2953301" y="5018926"/>
            <a:ext cx="152775" cy="254044"/>
          </a:xfrm>
          <a:prstGeom prst="rect">
            <a:avLst/>
          </a:prstGeom>
          <a:noFill/>
          <a:ln/>
        </p:spPr>
        <p:txBody>
          <a:bodyPr wrap="square" lIns="0" tIns="0" rIns="0" bIns="0" rtlCol="0" anchor="t">
            <a:normAutofit/>
          </a:bodyPr>
          <a:lstStyle/>
          <a:p>
            <a:pPr algn="l" indent="0" marL="0">
              <a:lnSpc>
                <a:spcPts val="1800"/>
              </a:lnSpc>
              <a:buNone/>
            </a:pPr>
            <a:r>
              <a:rPr lang="en-US" sz="1800" dirty="0">
                <a:solidFill>
                  <a:srgbClr val="FFC72C"/>
                </a:solidFill>
                <a:latin typeface="Libre Baskerville" pitchFamily="18" charset="0"/>
                <a:ea typeface="Libre Baskerville" pitchFamily="18" charset="-122"/>
                <a:cs typeface="Libre Baskerville" pitchFamily="18" charset="-120"/>
              </a:rPr>
              <a:t>1</a:t>
            </a:r>
            <a:endParaRPr lang="en-US" sz="1800" dirty="0"/>
          </a:p>
        </p:txBody>
      </p:sp>
      <p:sp>
        <p:nvSpPr>
          <p:cNvPr id="46" name="Text 41"/>
          <p:cNvSpPr/>
          <p:nvPr/>
        </p:nvSpPr>
        <p:spPr>
          <a:xfrm>
            <a:off x="3144132" y="5018926"/>
            <a:ext cx="2403747" cy="22339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6F5F1"/>
                </a:solidFill>
                <a:latin typeface="Carlito" pitchFamily="34" charset="0"/>
                <a:ea typeface="Carlito" pitchFamily="34" charset="-122"/>
                <a:cs typeface="Carlito" pitchFamily="34" charset="-120"/>
              </a:rPr>
              <a:t>Quarantine length</a:t>
            </a:r>
            <a:endParaRPr lang="en-US" sz="1200" dirty="0"/>
          </a:p>
        </p:txBody>
      </p:sp>
      <p:sp>
        <p:nvSpPr>
          <p:cNvPr id="47" name="Text 42"/>
          <p:cNvSpPr/>
          <p:nvPr/>
        </p:nvSpPr>
        <p:spPr>
          <a:xfrm>
            <a:off x="3144132" y="5242278"/>
            <a:ext cx="2403747" cy="22339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3D6D9"/>
                </a:solidFill>
                <a:latin typeface="Carlito" pitchFamily="34" charset="0"/>
                <a:ea typeface="Carlito" pitchFamily="34" charset="-122"/>
                <a:cs typeface="Carlito" pitchFamily="34" charset="-120"/>
              </a:rPr>
              <a:t>[__] days, with Legal input</a:t>
            </a:r>
            <a:endParaRPr lang="en-US" sz="1200" dirty="0"/>
          </a:p>
        </p:txBody>
      </p:sp>
      <p:sp>
        <p:nvSpPr>
          <p:cNvPr id="48" name="Shape 43"/>
          <p:cNvSpPr/>
          <p:nvPr/>
        </p:nvSpPr>
        <p:spPr>
          <a:xfrm>
            <a:off x="5684220" y="5018926"/>
            <a:ext cx="0" cy="421349"/>
          </a:xfrm>
          <a:prstGeom prst="line">
            <a:avLst/>
          </a:prstGeom>
          <a:noFill/>
          <a:ln w="6350">
            <a:solidFill>
              <a:srgbClr val="555B61"/>
            </a:solidFill>
            <a:prstDash val="solid"/>
          </a:ln>
        </p:spPr>
      </p:sp>
      <p:sp>
        <p:nvSpPr>
          <p:cNvPr id="49" name="Text 44"/>
          <p:cNvSpPr/>
          <p:nvPr/>
        </p:nvSpPr>
        <p:spPr>
          <a:xfrm>
            <a:off x="5840457" y="5018926"/>
            <a:ext cx="191580" cy="254044"/>
          </a:xfrm>
          <a:prstGeom prst="rect">
            <a:avLst/>
          </a:prstGeom>
          <a:noFill/>
          <a:ln/>
        </p:spPr>
        <p:txBody>
          <a:bodyPr wrap="square" lIns="0" tIns="0" rIns="0" bIns="0" rtlCol="0" anchor="t">
            <a:normAutofit/>
          </a:bodyPr>
          <a:lstStyle/>
          <a:p>
            <a:pPr algn="l" indent="0" marL="0">
              <a:lnSpc>
                <a:spcPts val="1800"/>
              </a:lnSpc>
              <a:buNone/>
            </a:pPr>
            <a:r>
              <a:rPr lang="en-US" sz="1800" dirty="0">
                <a:solidFill>
                  <a:srgbClr val="FFC72C"/>
                </a:solidFill>
                <a:latin typeface="Libre Baskerville" pitchFamily="18" charset="0"/>
                <a:ea typeface="Libre Baskerville" pitchFamily="18" charset="-122"/>
                <a:cs typeface="Libre Baskerville" pitchFamily="18" charset="-120"/>
              </a:rPr>
              <a:t>2</a:t>
            </a:r>
            <a:endParaRPr lang="en-US" sz="1800" dirty="0"/>
          </a:p>
        </p:txBody>
      </p:sp>
      <p:sp>
        <p:nvSpPr>
          <p:cNvPr id="50" name="Text 45"/>
          <p:cNvSpPr/>
          <p:nvPr/>
        </p:nvSpPr>
        <p:spPr>
          <a:xfrm>
            <a:off x="6070093" y="5018926"/>
            <a:ext cx="2363778" cy="22339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6F5F1"/>
                </a:solidFill>
                <a:latin typeface="Carlito" pitchFamily="34" charset="0"/>
                <a:ea typeface="Carlito" pitchFamily="34" charset="-122"/>
                <a:cs typeface="Carlito" pitchFamily="34" charset="-120"/>
              </a:rPr>
              <a:t>Review timeframes</a:t>
            </a:r>
            <a:endParaRPr lang="en-US" sz="1200" dirty="0"/>
          </a:p>
        </p:txBody>
      </p:sp>
      <p:sp>
        <p:nvSpPr>
          <p:cNvPr id="51" name="Text 46"/>
          <p:cNvSpPr/>
          <p:nvPr/>
        </p:nvSpPr>
        <p:spPr>
          <a:xfrm>
            <a:off x="6070093" y="5242278"/>
            <a:ext cx="2363778" cy="22339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3D6D9"/>
                </a:solidFill>
                <a:latin typeface="Carlito" pitchFamily="34" charset="0"/>
                <a:ea typeface="Carlito" pitchFamily="34" charset="-122"/>
                <a:cs typeface="Carlito" pitchFamily="34" charset="-120"/>
              </a:rPr>
              <a:t>[__] business days per gate</a:t>
            </a:r>
            <a:endParaRPr lang="en-US" sz="1200" dirty="0"/>
          </a:p>
        </p:txBody>
      </p:sp>
      <p:sp>
        <p:nvSpPr>
          <p:cNvPr id="52" name="Shape 47"/>
          <p:cNvSpPr/>
          <p:nvPr/>
        </p:nvSpPr>
        <p:spPr>
          <a:xfrm>
            <a:off x="8571376" y="5018926"/>
            <a:ext cx="0" cy="421349"/>
          </a:xfrm>
          <a:prstGeom prst="line">
            <a:avLst/>
          </a:prstGeom>
          <a:noFill/>
          <a:ln w="6350">
            <a:solidFill>
              <a:srgbClr val="555B61"/>
            </a:solidFill>
            <a:prstDash val="solid"/>
          </a:ln>
        </p:spPr>
      </p:sp>
      <p:sp>
        <p:nvSpPr>
          <p:cNvPr id="53" name="Text 48"/>
          <p:cNvSpPr/>
          <p:nvPr/>
        </p:nvSpPr>
        <p:spPr>
          <a:xfrm>
            <a:off x="8727612" y="5018926"/>
            <a:ext cx="191580" cy="254044"/>
          </a:xfrm>
          <a:prstGeom prst="rect">
            <a:avLst/>
          </a:prstGeom>
          <a:noFill/>
          <a:ln/>
        </p:spPr>
        <p:txBody>
          <a:bodyPr wrap="square" lIns="0" tIns="0" rIns="0" bIns="0" rtlCol="0" anchor="t">
            <a:normAutofit/>
          </a:bodyPr>
          <a:lstStyle/>
          <a:p>
            <a:pPr algn="l" indent="0" marL="0">
              <a:lnSpc>
                <a:spcPts val="1800"/>
              </a:lnSpc>
              <a:buNone/>
            </a:pPr>
            <a:r>
              <a:rPr lang="en-US" sz="1800" dirty="0">
                <a:solidFill>
                  <a:srgbClr val="FFC72C"/>
                </a:solidFill>
                <a:latin typeface="Libre Baskerville" pitchFamily="18" charset="0"/>
                <a:ea typeface="Libre Baskerville" pitchFamily="18" charset="-122"/>
                <a:cs typeface="Libre Baskerville" pitchFamily="18" charset="-120"/>
              </a:rPr>
              <a:t>3</a:t>
            </a:r>
            <a:endParaRPr lang="en-US" sz="1800" dirty="0"/>
          </a:p>
        </p:txBody>
      </p:sp>
      <p:sp>
        <p:nvSpPr>
          <p:cNvPr id="54" name="Text 49"/>
          <p:cNvSpPr/>
          <p:nvPr/>
        </p:nvSpPr>
        <p:spPr>
          <a:xfrm>
            <a:off x="8957249" y="5018926"/>
            <a:ext cx="2363778" cy="22339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6F5F1"/>
                </a:solidFill>
                <a:latin typeface="Carlito" pitchFamily="34" charset="0"/>
                <a:ea typeface="Carlito" pitchFamily="34" charset="-122"/>
                <a:cs typeface="Carlito" pitchFamily="34" charset="-120"/>
              </a:rPr>
              <a:t>Pilot areas</a:t>
            </a:r>
            <a:endParaRPr lang="en-US" sz="1200" dirty="0"/>
          </a:p>
        </p:txBody>
      </p:sp>
      <p:sp>
        <p:nvSpPr>
          <p:cNvPr id="55" name="Text 50"/>
          <p:cNvSpPr/>
          <p:nvPr/>
        </p:nvSpPr>
        <p:spPr>
          <a:xfrm>
            <a:off x="8957249" y="5242278"/>
            <a:ext cx="2363778" cy="22339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3D6D9"/>
                </a:solidFill>
                <a:latin typeface="Carlito" pitchFamily="34" charset="0"/>
                <a:ea typeface="Carlito" pitchFamily="34" charset="-122"/>
                <a:cs typeface="Carlito" pitchFamily="34" charset="-120"/>
              </a:rPr>
              <a:t>[Business area] for the first batch</a:t>
            </a:r>
            <a:endParaRPr lang="en-US" sz="1200" dirty="0"/>
          </a:p>
        </p:txBody>
      </p:sp>
      <p:sp>
        <p:nvSpPr>
          <p:cNvPr id="56" name="Text 51"/>
          <p:cNvSpPr/>
          <p:nvPr/>
        </p:nvSpPr>
        <p:spPr>
          <a:xfrm>
            <a:off x="711178" y="6238435"/>
            <a:ext cx="8502651"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6"/>
                </a:solidFill>
                <a:latin typeface="Carlito" pitchFamily="34" charset="0"/>
                <a:ea typeface="Carlito" pitchFamily="34" charset="-122"/>
                <a:cs typeface="Carlito" pitchFamily="34" charset="-120"/>
              </a:rPr>
              <a:t>Draft for discussion</a:t>
            </a:r>
            <a:endParaRPr lang="en-US" sz="1200" dirty="0"/>
          </a:p>
        </p:txBody>
      </p:sp>
      <p:sp>
        <p:nvSpPr>
          <p:cNvPr id="57" name="Text 52"/>
          <p:cNvSpPr/>
          <p:nvPr/>
        </p:nvSpPr>
        <p:spPr>
          <a:xfrm>
            <a:off x="8733812" y="6238435"/>
            <a:ext cx="274701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066"/>
                </a:solidFill>
                <a:latin typeface="Carlito" pitchFamily="34" charset="0"/>
                <a:ea typeface="Carlito" pitchFamily="34" charset="-122"/>
                <a:cs typeface="Carlito" pitchFamily="34" charset="-120"/>
              </a:rPr>
              <a:t>Office of Data Governance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711178" y="1168357"/>
            <a:ext cx="1270000" cy="4572000"/>
          </a:xfrm>
          <a:prstGeom prst="rect">
            <a:avLst/>
          </a:prstGeom>
          <a:solidFill>
            <a:srgbClr val="FFC72C"/>
          </a:solidFill>
          <a:ln/>
        </p:spPr>
      </p:sp>
      <p:sp>
        <p:nvSpPr>
          <p:cNvPr id="3" name="Shape 1"/>
          <p:cNvSpPr/>
          <p:nvPr/>
        </p:nvSpPr>
        <p:spPr>
          <a:xfrm>
            <a:off x="711178" y="2089063"/>
            <a:ext cx="10769534" cy="0"/>
          </a:xfrm>
          <a:prstGeom prst="line">
            <a:avLst/>
          </a:prstGeom>
          <a:noFill/>
          <a:ln w="12700">
            <a:solidFill>
              <a:srgbClr val="B8B1A1"/>
            </a:solidFill>
            <a:prstDash val="dash"/>
          </a:ln>
        </p:spPr>
      </p:sp>
      <p:sp>
        <p:nvSpPr>
          <p:cNvPr id="4" name="Shape 2"/>
          <p:cNvSpPr/>
          <p:nvPr/>
        </p:nvSpPr>
        <p:spPr>
          <a:xfrm>
            <a:off x="711178" y="3003528"/>
            <a:ext cx="10769534" cy="0"/>
          </a:xfrm>
          <a:prstGeom prst="line">
            <a:avLst/>
          </a:prstGeom>
          <a:noFill/>
          <a:ln w="12700">
            <a:solidFill>
              <a:srgbClr val="B8B1A1"/>
            </a:solidFill>
            <a:prstDash val="dash"/>
          </a:ln>
        </p:spPr>
      </p:sp>
      <p:sp>
        <p:nvSpPr>
          <p:cNvPr id="5" name="Shape 3"/>
          <p:cNvSpPr/>
          <p:nvPr/>
        </p:nvSpPr>
        <p:spPr>
          <a:xfrm>
            <a:off x="711178" y="3917885"/>
            <a:ext cx="10769534" cy="0"/>
          </a:xfrm>
          <a:prstGeom prst="line">
            <a:avLst/>
          </a:prstGeom>
          <a:noFill/>
          <a:ln w="12700">
            <a:solidFill>
              <a:srgbClr val="B8B1A1"/>
            </a:solidFill>
            <a:prstDash val="dash"/>
          </a:ln>
        </p:spPr>
      </p:sp>
      <p:sp>
        <p:nvSpPr>
          <p:cNvPr id="6" name="Shape 4"/>
          <p:cNvSpPr/>
          <p:nvPr/>
        </p:nvSpPr>
        <p:spPr>
          <a:xfrm>
            <a:off x="711178" y="4832352"/>
            <a:ext cx="10769534" cy="0"/>
          </a:xfrm>
          <a:prstGeom prst="line">
            <a:avLst/>
          </a:prstGeom>
          <a:noFill/>
          <a:ln w="12700">
            <a:solidFill>
              <a:srgbClr val="B8B1A1"/>
            </a:solidFill>
            <a:prstDash val="dash"/>
          </a:ln>
        </p:spPr>
      </p:sp>
      <p:sp>
        <p:nvSpPr>
          <p:cNvPr id="7" name="Shape 5"/>
          <p:cNvSpPr/>
          <p:nvPr/>
        </p:nvSpPr>
        <p:spPr>
          <a:xfrm>
            <a:off x="711178" y="482535"/>
            <a:ext cx="127000" cy="330178"/>
          </a:xfrm>
          <a:prstGeom prst="rect">
            <a:avLst/>
          </a:prstGeom>
          <a:solidFill>
            <a:srgbClr val="FFC72C"/>
          </a:solidFill>
          <a:ln/>
        </p:spPr>
      </p:sp>
      <p:sp>
        <p:nvSpPr>
          <p:cNvPr id="8" name="Text 6"/>
          <p:cNvSpPr/>
          <p:nvPr>
            <p:ph type="title"/>
          </p:nvPr>
        </p:nvSpPr>
        <p:spPr>
          <a:xfrm>
            <a:off x="965178" y="431713"/>
            <a:ext cx="9810751" cy="406400"/>
          </a:xfrm>
          <a:prstGeom prst="rect">
            <a:avLst/>
          </a:prstGeom>
          <a:noFill/>
          <a:ln/>
        </p:spPr>
        <p:txBody>
          <a:bodyPr wrap="square" lIns="0" tIns="0" rIns="0" bIns="0" rtlCol="0" anchor="t">
            <a:normAutofit/>
          </a:bodyPr>
          <a:lstStyle/>
          <a:p>
            <a:pPr algn="l" indent="0" marL="0">
              <a:lnSpc>
                <a:spcPts val="3000"/>
              </a:lnSpc>
              <a:buNone/>
            </a:pPr>
            <a:r>
              <a:rPr lang="en-US" sz="2500" b="1" i="0" dirty="0">
                <a:solidFill>
                  <a:srgbClr val="2E3338"/>
                </a:solidFill>
                <a:latin typeface="Libre Baskerville" pitchFamily="18" charset="0"/>
                <a:ea typeface="Libre Baskerville" pitchFamily="18" charset="-122"/>
                <a:cs typeface="Libre Baskerville" pitchFamily="18" charset="-120"/>
              </a:rPr>
              <a:t>RIM Disposition Process and Approvals</a:t>
            </a:r>
            <a:endParaRPr lang="en-US" sz="2500" dirty="0"/>
          </a:p>
        </p:txBody>
      </p:sp>
      <p:sp>
        <p:nvSpPr>
          <p:cNvPr id="9" name="Text 7"/>
          <p:cNvSpPr/>
          <p:nvPr/>
        </p:nvSpPr>
        <p:spPr>
          <a:xfrm>
            <a:off x="965178" y="850857"/>
            <a:ext cx="9810751" cy="240043"/>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066"/>
                </a:solidFill>
                <a:latin typeface="Carlito" pitchFamily="34" charset="0"/>
                <a:ea typeface="Carlito" pitchFamily="34" charset="-122"/>
                <a:cs typeface="Carlito" pitchFamily="34" charset="-120"/>
              </a:rPr>
              <a:t>Who partners at each step, and who signs off, when expired unstructured content is disposed of.</a:t>
            </a:r>
            <a:endParaRPr lang="en-US" sz="1300" dirty="0"/>
          </a:p>
        </p:txBody>
      </p:sp>
      <p:sp>
        <p:nvSpPr>
          <p:cNvPr id="10" name="Text 8"/>
          <p:cNvSpPr/>
          <p:nvPr/>
        </p:nvSpPr>
        <p:spPr>
          <a:xfrm>
            <a:off x="10528322" y="482535"/>
            <a:ext cx="952500" cy="350352"/>
          </a:xfrm>
          <a:prstGeom prst="rect">
            <a:avLst/>
          </a:prstGeom>
          <a:solidFill>
            <a:srgbClr val="FFC72C"/>
          </a:solidFill>
          <a:ln/>
        </p:spPr>
        <p:txBody>
          <a:bodyPr wrap="square" lIns="0" tIns="50800" rIns="0" bIns="25400" rtlCol="0" anchor="t">
            <a:normAutofit/>
          </a:bodyPr>
          <a:lstStyle/>
          <a:p>
            <a:pPr algn="ctr" indent="0" marL="0">
              <a:lnSpc>
                <a:spcPts val="1960"/>
              </a:lnSpc>
              <a:buNone/>
            </a:pPr>
            <a:r>
              <a:rPr lang="en-US" sz="1400" b="1" spc="100" kern="0" dirty="0">
                <a:solidFill>
                  <a:srgbClr val="2E3338"/>
                </a:solidFill>
                <a:latin typeface="Carlito" pitchFamily="34" charset="0"/>
                <a:ea typeface="Carlito" pitchFamily="34" charset="-122"/>
                <a:cs typeface="Carlito" pitchFamily="34" charset="-120"/>
              </a:rPr>
              <a:t>DRAFT</a:t>
            </a:r>
            <a:endParaRPr lang="en-US" sz="1400" dirty="0"/>
          </a:p>
        </p:txBody>
      </p:sp>
      <p:sp>
        <p:nvSpPr>
          <p:cNvPr id="11" name="Text 9"/>
          <p:cNvSpPr/>
          <p:nvPr/>
        </p:nvSpPr>
        <p:spPr>
          <a:xfrm>
            <a:off x="763852" y="1327879"/>
            <a:ext cx="1164431" cy="229791"/>
          </a:xfrm>
          <a:prstGeom prst="rect">
            <a:avLst/>
          </a:prstGeom>
          <a:noFill/>
          <a:ln/>
        </p:spPr>
        <p:txBody>
          <a:bodyPr wrap="square" lIns="0" tIns="0" rIns="0" bIns="0" rtlCol="0" anchor="t">
            <a:normAutofit/>
          </a:bodyPr>
          <a:lstStyle/>
          <a:p>
            <a:pPr algn="ctr" indent="0" marL="0">
              <a:lnSpc>
                <a:spcPts val="1610"/>
              </a:lnSpc>
              <a:buNone/>
            </a:pPr>
            <a:r>
              <a:rPr lang="en-US" sz="1400" b="1" dirty="0">
                <a:solidFill>
                  <a:srgbClr val="2E3338"/>
                </a:solidFill>
                <a:latin typeface="Carlito" pitchFamily="34" charset="0"/>
                <a:ea typeface="Carlito" pitchFamily="34" charset="-122"/>
                <a:cs typeface="Carlito" pitchFamily="34" charset="-120"/>
              </a:rPr>
              <a:t>RIM Program</a:t>
            </a:r>
            <a:endParaRPr lang="en-US" sz="1400" dirty="0"/>
          </a:p>
        </p:txBody>
      </p:sp>
      <p:sp>
        <p:nvSpPr>
          <p:cNvPr id="12" name="Text 10"/>
          <p:cNvSpPr/>
          <p:nvPr/>
        </p:nvSpPr>
        <p:spPr>
          <a:xfrm>
            <a:off x="761956" y="1557624"/>
            <a:ext cx="1168334" cy="390966"/>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E3338"/>
                </a:solidFill>
                <a:latin typeface="Carlito" pitchFamily="34" charset="0"/>
                <a:ea typeface="Carlito" pitchFamily="34" charset="-122"/>
                <a:cs typeface="Carlito" pitchFamily="34" charset="-120"/>
              </a:rPr>
              <a:t>Brett Wise, RIM Director</a:t>
            </a:r>
            <a:endParaRPr lang="en-US" sz="1200" dirty="0"/>
          </a:p>
        </p:txBody>
      </p:sp>
      <p:sp>
        <p:nvSpPr>
          <p:cNvPr id="13" name="Text 11"/>
          <p:cNvSpPr/>
          <p:nvPr/>
        </p:nvSpPr>
        <p:spPr>
          <a:xfrm>
            <a:off x="761956" y="2231430"/>
            <a:ext cx="1168334" cy="434181"/>
          </a:xfrm>
          <a:prstGeom prst="rect">
            <a:avLst/>
          </a:prstGeom>
          <a:noFill/>
          <a:ln/>
        </p:spPr>
        <p:txBody>
          <a:bodyPr wrap="square" lIns="0" tIns="0" rIns="0" bIns="0" rtlCol="0" anchor="t">
            <a:normAutofit/>
          </a:bodyPr>
          <a:lstStyle/>
          <a:p>
            <a:pPr algn="ctr" indent="0" marL="0">
              <a:lnSpc>
                <a:spcPts val="1610"/>
              </a:lnSpc>
              <a:buNone/>
            </a:pPr>
            <a:r>
              <a:rPr lang="en-US" sz="1400" b="1" dirty="0">
                <a:solidFill>
                  <a:srgbClr val="2E3338"/>
                </a:solidFill>
                <a:latin typeface="Carlito" pitchFamily="34" charset="0"/>
                <a:ea typeface="Carlito" pitchFamily="34" charset="-122"/>
                <a:cs typeface="Carlito" pitchFamily="34" charset="-120"/>
              </a:rPr>
              <a:t>Data Governance</a:t>
            </a:r>
            <a:endParaRPr lang="en-US" sz="1400" dirty="0"/>
          </a:p>
        </p:txBody>
      </p:sp>
      <p:sp>
        <p:nvSpPr>
          <p:cNvPr id="14" name="Text 12"/>
          <p:cNvSpPr/>
          <p:nvPr/>
        </p:nvSpPr>
        <p:spPr>
          <a:xfrm>
            <a:off x="1166934" y="2665568"/>
            <a:ext cx="358378" cy="208183"/>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E3338"/>
                </a:solidFill>
                <a:latin typeface="Carlito" pitchFamily="34" charset="0"/>
                <a:ea typeface="Carlito" pitchFamily="34" charset="-122"/>
                <a:cs typeface="Carlito" pitchFamily="34" charset="-120"/>
              </a:rPr>
              <a:t>Erica</a:t>
            </a:r>
            <a:endParaRPr lang="en-US" sz="1200" dirty="0"/>
          </a:p>
        </p:txBody>
      </p:sp>
      <p:sp>
        <p:nvSpPr>
          <p:cNvPr id="15" name="Text 13"/>
          <p:cNvSpPr/>
          <p:nvPr/>
        </p:nvSpPr>
        <p:spPr>
          <a:xfrm>
            <a:off x="761956" y="3145896"/>
            <a:ext cx="1168334" cy="434181"/>
          </a:xfrm>
          <a:prstGeom prst="rect">
            <a:avLst/>
          </a:prstGeom>
          <a:noFill/>
          <a:ln/>
        </p:spPr>
        <p:txBody>
          <a:bodyPr wrap="square" lIns="0" tIns="0" rIns="0" bIns="0" rtlCol="0" anchor="t">
            <a:normAutofit/>
          </a:bodyPr>
          <a:lstStyle/>
          <a:p>
            <a:pPr algn="ctr" indent="0" marL="0">
              <a:lnSpc>
                <a:spcPts val="1610"/>
              </a:lnSpc>
              <a:buNone/>
            </a:pPr>
            <a:r>
              <a:rPr lang="en-US" sz="1400" b="1" dirty="0">
                <a:solidFill>
                  <a:srgbClr val="2E3338"/>
                </a:solidFill>
                <a:latin typeface="Carlito" pitchFamily="34" charset="0"/>
                <a:ea typeface="Carlito" pitchFamily="34" charset="-122"/>
                <a:cs typeface="Carlito" pitchFamily="34" charset="-120"/>
              </a:rPr>
              <a:t>RIM Area Liaisons</a:t>
            </a:r>
            <a:endParaRPr lang="en-US" sz="1400" dirty="0"/>
          </a:p>
        </p:txBody>
      </p:sp>
      <p:sp>
        <p:nvSpPr>
          <p:cNvPr id="16" name="Text 14"/>
          <p:cNvSpPr/>
          <p:nvPr/>
        </p:nvSpPr>
        <p:spPr>
          <a:xfrm>
            <a:off x="806571" y="3580034"/>
            <a:ext cx="1079103" cy="208183"/>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E3338"/>
                </a:solidFill>
                <a:latin typeface="Carlito" pitchFamily="34" charset="0"/>
                <a:ea typeface="Carlito" pitchFamily="34" charset="-122"/>
                <a:cs typeface="Carlito" pitchFamily="34" charset="-120"/>
              </a:rPr>
              <a:t>Business areas</a:t>
            </a:r>
            <a:endParaRPr lang="en-US" sz="1200" dirty="0"/>
          </a:p>
        </p:txBody>
      </p:sp>
      <p:sp>
        <p:nvSpPr>
          <p:cNvPr id="17" name="Text 15"/>
          <p:cNvSpPr/>
          <p:nvPr/>
        </p:nvSpPr>
        <p:spPr>
          <a:xfrm>
            <a:off x="890588" y="4071057"/>
            <a:ext cx="910960" cy="229791"/>
          </a:xfrm>
          <a:prstGeom prst="rect">
            <a:avLst/>
          </a:prstGeom>
          <a:noFill/>
          <a:ln/>
        </p:spPr>
        <p:txBody>
          <a:bodyPr wrap="square" lIns="0" tIns="0" rIns="0" bIns="0" rtlCol="0" anchor="t">
            <a:normAutofit/>
          </a:bodyPr>
          <a:lstStyle/>
          <a:p>
            <a:pPr algn="ctr" indent="0" marL="0">
              <a:lnSpc>
                <a:spcPts val="1610"/>
              </a:lnSpc>
              <a:buNone/>
            </a:pPr>
            <a:r>
              <a:rPr lang="en-US" sz="1400" b="1" dirty="0">
                <a:solidFill>
                  <a:srgbClr val="2E3338"/>
                </a:solidFill>
                <a:latin typeface="Carlito" pitchFamily="34" charset="0"/>
                <a:ea typeface="Carlito" pitchFamily="34" charset="-122"/>
                <a:cs typeface="Carlito" pitchFamily="34" charset="-120"/>
              </a:rPr>
              <a:t>DRD Team</a:t>
            </a:r>
            <a:endParaRPr lang="en-US" sz="1400" dirty="0"/>
          </a:p>
        </p:txBody>
      </p:sp>
      <p:sp>
        <p:nvSpPr>
          <p:cNvPr id="18" name="Text 16"/>
          <p:cNvSpPr/>
          <p:nvPr/>
        </p:nvSpPr>
        <p:spPr>
          <a:xfrm>
            <a:off x="761956" y="4300803"/>
            <a:ext cx="1168334" cy="390966"/>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E3338"/>
                </a:solidFill>
                <a:latin typeface="Carlito" pitchFamily="34" charset="0"/>
                <a:ea typeface="Carlito" pitchFamily="34" charset="-122"/>
                <a:cs typeface="Carlito" pitchFamily="34" charset="-120"/>
              </a:rPr>
              <a:t>Retention &amp; Disposition</a:t>
            </a:r>
            <a:endParaRPr lang="en-US" sz="1200" dirty="0"/>
          </a:p>
        </p:txBody>
      </p:sp>
      <p:sp>
        <p:nvSpPr>
          <p:cNvPr id="19" name="Text 17"/>
          <p:cNvSpPr/>
          <p:nvPr/>
        </p:nvSpPr>
        <p:spPr>
          <a:xfrm>
            <a:off x="899572" y="4985522"/>
            <a:ext cx="893101" cy="229791"/>
          </a:xfrm>
          <a:prstGeom prst="rect">
            <a:avLst/>
          </a:prstGeom>
          <a:noFill/>
          <a:ln/>
        </p:spPr>
        <p:txBody>
          <a:bodyPr wrap="square" lIns="0" tIns="0" rIns="0" bIns="0" rtlCol="0" anchor="t">
            <a:normAutofit/>
          </a:bodyPr>
          <a:lstStyle/>
          <a:p>
            <a:pPr algn="ctr" indent="0" marL="0">
              <a:lnSpc>
                <a:spcPts val="1610"/>
              </a:lnSpc>
              <a:buNone/>
            </a:pPr>
            <a:r>
              <a:rPr lang="en-US" sz="1400" b="1" dirty="0">
                <a:solidFill>
                  <a:srgbClr val="2E3338"/>
                </a:solidFill>
                <a:latin typeface="Carlito" pitchFamily="34" charset="0"/>
                <a:ea typeface="Carlito" pitchFamily="34" charset="-122"/>
                <a:cs typeface="Carlito" pitchFamily="34" charset="-120"/>
              </a:rPr>
              <a:t>DGS Team</a:t>
            </a:r>
            <a:endParaRPr lang="en-US" sz="1400" dirty="0"/>
          </a:p>
        </p:txBody>
      </p:sp>
      <p:sp>
        <p:nvSpPr>
          <p:cNvPr id="20" name="Text 18"/>
          <p:cNvSpPr/>
          <p:nvPr/>
        </p:nvSpPr>
        <p:spPr>
          <a:xfrm>
            <a:off x="761956" y="5215269"/>
            <a:ext cx="1168334" cy="390966"/>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E3338"/>
                </a:solidFill>
                <a:latin typeface="Carlito" pitchFamily="34" charset="0"/>
                <a:ea typeface="Carlito" pitchFamily="34" charset="-122"/>
                <a:cs typeface="Carlito" pitchFamily="34" charset="-120"/>
              </a:rPr>
              <a:t>Data Governance Solutions</a:t>
            </a:r>
            <a:endParaRPr lang="en-US" sz="1200" dirty="0"/>
          </a:p>
        </p:txBody>
      </p:sp>
      <p:sp>
        <p:nvSpPr>
          <p:cNvPr id="21" name="Text 19"/>
          <p:cNvSpPr/>
          <p:nvPr/>
        </p:nvSpPr>
        <p:spPr>
          <a:xfrm>
            <a:off x="2184356" y="1270000"/>
            <a:ext cx="1346178" cy="711178"/>
          </a:xfrm>
          <a:custGeom>
            <a:avLst/>
            <a:gdLst/>
            <a:ahLst/>
            <a:cxnLst/>
            <a:rect l="l" t="t" r="r" b="b"/>
            <a:pathLst>
              <a:path w="1346178" h="711178">
                <a:moveTo>
                  <a:pt x="88900" y="0"/>
                </a:moveTo>
                <a:lnTo>
                  <a:pt x="1257278" y="0"/>
                </a:lnTo>
                <a:arcTo hR="88900" wR="88900" stAng="16200000" swAng="5400000"/>
                <a:lnTo>
                  <a:pt x="1346178" y="622278"/>
                </a:lnTo>
                <a:arcTo hR="88900" wR="88900" stAng="0" swAng="5400000"/>
                <a:lnTo>
                  <a:pt x="88900" y="711178"/>
                </a:lnTo>
                <a:arcTo hR="88900" wR="88900" stAng="5400000" swAng="5400000"/>
                <a:lnTo>
                  <a:pt x="0" y="88900"/>
                </a:lnTo>
                <a:arcTo hR="88900" wR="88900" stAng="10800000" swAng="5400000"/>
                <a:close/>
              </a:path>
            </a:pathLst>
          </a:custGeom>
          <a:solidFill>
            <a:srgbClr val="2E3338"/>
          </a:solidFill>
          <a:ln/>
        </p:spPr>
        <p:txBody>
          <a:bodyPr wrap="square" lIns="50778" tIns="76200" rIns="50778" bIns="76200" rtlCol="0" anchor="ctr">
            <a:normAutofit/>
          </a:bodyPr>
          <a:lstStyle/>
          <a:p>
            <a:pPr algn="ctr" indent="0" marL="0">
              <a:lnSpc>
                <a:spcPts val="1440"/>
              </a:lnSpc>
              <a:buNone/>
            </a:pPr>
            <a:r>
              <a:rPr lang="en-US" sz="1200" b="1" dirty="0">
                <a:solidFill>
                  <a:srgbClr val="F6F5F1"/>
                </a:solidFill>
                <a:latin typeface="Carlito" pitchFamily="34" charset="0"/>
                <a:ea typeface="Carlito" pitchFamily="34" charset="-122"/>
                <a:cs typeface="Carlito" pitchFamily="34" charset="-120"/>
              </a:rPr>
              <a:t>RIM sets retention schedules</a:t>
            </a:r>
            <a:endParaRPr lang="en-US" sz="1200" dirty="0"/>
          </a:p>
        </p:txBody>
      </p:sp>
      <p:sp>
        <p:nvSpPr>
          <p:cNvPr id="22" name="Shape 20"/>
          <p:cNvSpPr/>
          <p:nvPr/>
        </p:nvSpPr>
        <p:spPr>
          <a:xfrm>
            <a:off x="5372100" y="1352528"/>
            <a:ext cx="1333478" cy="546012"/>
          </a:xfrm>
          <a:prstGeom prst="roundRect">
            <a:avLst>
              <a:gd name="adj" fmla="val 15119"/>
            </a:avLst>
          </a:prstGeom>
          <a:solidFill>
            <a:srgbClr val="FFFEFB"/>
          </a:solidFill>
          <a:ln w="12700">
            <a:solidFill>
              <a:srgbClr val="B8B1A1"/>
            </a:solidFill>
            <a:prstDash val="dash"/>
          </a:ln>
        </p:spPr>
      </p:sp>
      <p:sp>
        <p:nvSpPr>
          <p:cNvPr id="23" name="Text 21"/>
          <p:cNvSpPr/>
          <p:nvPr/>
        </p:nvSpPr>
        <p:spPr>
          <a:xfrm>
            <a:off x="5709378" y="1442752"/>
            <a:ext cx="658813" cy="208183"/>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E3338"/>
                </a:solidFill>
                <a:latin typeface="Carlito" pitchFamily="34" charset="0"/>
                <a:ea typeface="Carlito" pitchFamily="34" charset="-122"/>
                <a:cs typeface="Carlito" pitchFamily="34" charset="-120"/>
              </a:rPr>
              <a:t>Rejected</a:t>
            </a:r>
            <a:endParaRPr lang="en-US" sz="1200" dirty="0"/>
          </a:p>
        </p:txBody>
      </p:sp>
      <p:sp>
        <p:nvSpPr>
          <p:cNvPr id="24" name="Text 22"/>
          <p:cNvSpPr/>
          <p:nvPr/>
        </p:nvSpPr>
        <p:spPr>
          <a:xfrm>
            <a:off x="5403784" y="1625535"/>
            <a:ext cx="1270000" cy="208183"/>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5A6066"/>
                </a:solidFill>
                <a:latin typeface="Carlito" pitchFamily="34" charset="0"/>
                <a:ea typeface="Carlito" pitchFamily="34" charset="-122"/>
                <a:cs typeface="Carlito" pitchFamily="34" charset="-120"/>
              </a:rPr>
              <a:t>Retain with reason</a:t>
            </a:r>
            <a:endParaRPr lang="en-US" sz="1200" dirty="0"/>
          </a:p>
        </p:txBody>
      </p:sp>
      <p:sp>
        <p:nvSpPr>
          <p:cNvPr id="25" name="Text 23"/>
          <p:cNvSpPr/>
          <p:nvPr/>
        </p:nvSpPr>
        <p:spPr>
          <a:xfrm>
            <a:off x="6956425" y="1273175"/>
            <a:ext cx="1339828" cy="704828"/>
          </a:xfrm>
          <a:prstGeom prst="roundRect">
            <a:avLst>
              <a:gd name="adj" fmla="val 12163"/>
            </a:avLst>
          </a:prstGeom>
          <a:solidFill>
            <a:srgbClr val="FFE38A"/>
          </a:solidFill>
          <a:ln w="6350">
            <a:solidFill>
              <a:srgbClr val="D9A400"/>
            </a:solidFill>
            <a:prstDash val="solid"/>
          </a:ln>
          <a:effectLst>
            <a:outerShdw sx="100000" sy="100000" kx="0" ky="0" algn="bl" rotWithShape="0" blurRad="101600" dist="38100" dir="5400000">
              <a:srgbClr val="2E3338">
                <a:alpha val="12000"/>
              </a:srgbClr>
            </a:outerShdw>
          </a:effectLst>
        </p:spPr>
        <p:txBody>
          <a:bodyPr wrap="square" lIns="29551" tIns="54973" rIns="29550" bIns="54973" rtlCol="0" anchor="ctr">
            <a:normAutofit/>
          </a:bodyPr>
          <a:lstStyle/>
          <a:p>
            <a:pPr algn="ctr" indent="0" marL="0">
              <a:lnSpc>
                <a:spcPts val="1440"/>
              </a:lnSpc>
              <a:buNone/>
            </a:pPr>
            <a:r>
              <a:rPr lang="en-US" sz="1200" b="1" dirty="0">
                <a:solidFill>
                  <a:srgbClr val="2E3338"/>
                </a:solidFill>
                <a:latin typeface="Carlito" pitchFamily="34" charset="0"/>
                <a:ea typeface="Carlito" pitchFamily="34" charset="-122"/>
                <a:cs typeface="Carlito" pitchFamily="34" charset="-120"/>
              </a:rPr>
              <a:t>6. Approve disposition</a:t>
            </a:r>
            <a:endParaRPr lang="en-US" sz="1200" dirty="0"/>
          </a:p>
        </p:txBody>
      </p:sp>
      <p:sp>
        <p:nvSpPr>
          <p:cNvPr id="26" name="Shape 24"/>
          <p:cNvSpPr/>
          <p:nvPr/>
        </p:nvSpPr>
        <p:spPr>
          <a:xfrm>
            <a:off x="10137709" y="1273175"/>
            <a:ext cx="1339828" cy="704828"/>
          </a:xfrm>
          <a:prstGeom prst="roundRect">
            <a:avLst>
              <a:gd name="adj" fmla="val 12163"/>
            </a:avLst>
          </a:prstGeom>
          <a:solidFill>
            <a:srgbClr val="FFE38A"/>
          </a:solidFill>
          <a:ln w="6350">
            <a:solidFill>
              <a:srgbClr val="D9A400"/>
            </a:solidFill>
            <a:prstDash val="solid"/>
          </a:ln>
          <a:effectLst>
            <a:outerShdw sx="100000" sy="100000" kx="0" ky="0" algn="bl" rotWithShape="0" blurRad="101600" dist="38100" dir="5400000">
              <a:srgbClr val="2E3338">
                <a:alpha val="12000"/>
              </a:srgbClr>
            </a:outerShdw>
          </a:effectLst>
        </p:spPr>
      </p:sp>
      <p:sp>
        <p:nvSpPr>
          <p:cNvPr id="27" name="Text 25"/>
          <p:cNvSpPr/>
          <p:nvPr/>
        </p:nvSpPr>
        <p:spPr>
          <a:xfrm>
            <a:off x="10192368" y="1353234"/>
            <a:ext cx="1230511" cy="570111"/>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E3338"/>
                </a:solidFill>
                <a:latin typeface="Carlito" pitchFamily="34" charset="0"/>
                <a:ea typeface="Carlito" pitchFamily="34" charset="-122"/>
                <a:cs typeface="Carlito" pitchFamily="34" charset="-120"/>
              </a:rPr>
              <a:t>9. Accept evidence and close</a:t>
            </a:r>
            <a:endParaRPr lang="en-US" sz="1200" dirty="0"/>
          </a:p>
        </p:txBody>
      </p:sp>
      <p:sp>
        <p:nvSpPr>
          <p:cNvPr id="28" name="Shape 26"/>
          <p:cNvSpPr/>
          <p:nvPr/>
        </p:nvSpPr>
        <p:spPr>
          <a:xfrm>
            <a:off x="5372100" y="2266885"/>
            <a:ext cx="1333478" cy="546012"/>
          </a:xfrm>
          <a:prstGeom prst="roundRect">
            <a:avLst>
              <a:gd name="adj" fmla="val 15119"/>
            </a:avLst>
          </a:prstGeom>
          <a:solidFill>
            <a:srgbClr val="FFFEFB"/>
          </a:solidFill>
          <a:ln w="12700">
            <a:solidFill>
              <a:srgbClr val="B8B1A1"/>
            </a:solidFill>
            <a:prstDash val="dash"/>
          </a:ln>
        </p:spPr>
      </p:sp>
      <p:sp>
        <p:nvSpPr>
          <p:cNvPr id="29" name="Text 27"/>
          <p:cNvSpPr/>
          <p:nvPr/>
        </p:nvSpPr>
        <p:spPr>
          <a:xfrm>
            <a:off x="5709378" y="2357107"/>
            <a:ext cx="658813" cy="208183"/>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E3338"/>
                </a:solidFill>
                <a:latin typeface="Carlito" pitchFamily="34" charset="0"/>
                <a:ea typeface="Carlito" pitchFamily="34" charset="-122"/>
                <a:cs typeface="Carlito" pitchFamily="34" charset="-120"/>
              </a:rPr>
              <a:t>Rejected</a:t>
            </a:r>
            <a:endParaRPr lang="en-US" sz="1200" dirty="0"/>
          </a:p>
        </p:txBody>
      </p:sp>
      <p:sp>
        <p:nvSpPr>
          <p:cNvPr id="30" name="Text 28"/>
          <p:cNvSpPr/>
          <p:nvPr/>
        </p:nvSpPr>
        <p:spPr>
          <a:xfrm>
            <a:off x="5412383" y="2539890"/>
            <a:ext cx="1252802" cy="208183"/>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5A6066"/>
                </a:solidFill>
                <a:latin typeface="Carlito" pitchFamily="34" charset="0"/>
                <a:ea typeface="Carlito" pitchFamily="34" charset="-122"/>
                <a:cs typeface="Carlito" pitchFamily="34" charset="-120"/>
              </a:rPr>
              <a:t>Returned to DRD</a:t>
            </a:r>
            <a:endParaRPr lang="en-US" sz="1200" dirty="0"/>
          </a:p>
        </p:txBody>
      </p:sp>
      <p:sp>
        <p:nvSpPr>
          <p:cNvPr id="31" name="Text 29"/>
          <p:cNvSpPr/>
          <p:nvPr/>
        </p:nvSpPr>
        <p:spPr>
          <a:xfrm>
            <a:off x="6956425" y="2187532"/>
            <a:ext cx="1339828" cy="704828"/>
          </a:xfrm>
          <a:prstGeom prst="roundRect">
            <a:avLst>
              <a:gd name="adj" fmla="val 12163"/>
            </a:avLst>
          </a:prstGeom>
          <a:solidFill>
            <a:srgbClr val="FFE38A"/>
          </a:solidFill>
          <a:ln w="6350">
            <a:solidFill>
              <a:srgbClr val="D9A400"/>
            </a:solidFill>
            <a:prstDash val="solid"/>
          </a:ln>
          <a:effectLst>
            <a:outerShdw sx="100000" sy="100000" kx="0" ky="0" algn="bl" rotWithShape="0" blurRad="101600" dist="38100" dir="5400000">
              <a:srgbClr val="2E3338">
                <a:alpha val="12000"/>
              </a:srgbClr>
            </a:outerShdw>
          </a:effectLst>
        </p:spPr>
        <p:txBody>
          <a:bodyPr wrap="square" lIns="29551" tIns="54973" rIns="29550" bIns="54973" rtlCol="0" anchor="ctr">
            <a:normAutofit/>
          </a:bodyPr>
          <a:lstStyle/>
          <a:p>
            <a:pPr algn="ctr" indent="0" marL="0">
              <a:lnSpc>
                <a:spcPts val="1440"/>
              </a:lnSpc>
              <a:buNone/>
            </a:pPr>
            <a:r>
              <a:rPr lang="en-US" sz="1200" b="1" dirty="0">
                <a:solidFill>
                  <a:srgbClr val="2E3338"/>
                </a:solidFill>
                <a:latin typeface="Carlito" pitchFamily="34" charset="0"/>
                <a:ea typeface="Carlito" pitchFamily="34" charset="-122"/>
                <a:cs typeface="Carlito" pitchFamily="34" charset="-120"/>
              </a:rPr>
              <a:t>5. Approve validated batch</a:t>
            </a:r>
            <a:endParaRPr lang="en-US" sz="1200" dirty="0"/>
          </a:p>
        </p:txBody>
      </p:sp>
      <p:sp>
        <p:nvSpPr>
          <p:cNvPr id="32" name="Shape 30"/>
          <p:cNvSpPr/>
          <p:nvPr/>
        </p:nvSpPr>
        <p:spPr>
          <a:xfrm>
            <a:off x="5365750" y="3098713"/>
            <a:ext cx="1346178" cy="711178"/>
          </a:xfrm>
          <a:prstGeom prst="roundRect">
            <a:avLst>
              <a:gd name="adj" fmla="val 12500"/>
            </a:avLst>
          </a:prstGeom>
          <a:solidFill>
            <a:srgbClr val="2E3338"/>
          </a:solidFill>
          <a:ln/>
        </p:spPr>
      </p:sp>
      <p:sp>
        <p:nvSpPr>
          <p:cNvPr id="33" name="Text 31"/>
          <p:cNvSpPr/>
          <p:nvPr/>
        </p:nvSpPr>
        <p:spPr>
          <a:xfrm>
            <a:off x="5416528" y="3174890"/>
            <a:ext cx="1244622" cy="389423"/>
          </a:xfrm>
          <a:prstGeom prst="rect">
            <a:avLst/>
          </a:prstGeom>
          <a:noFill/>
          <a:ln/>
        </p:spPr>
        <p:txBody>
          <a:bodyPr wrap="square" lIns="0" tIns="0" rIns="0" bIns="0" rtlCol="0" anchor="t">
            <a:normAutofit/>
          </a:bodyPr>
          <a:lstStyle/>
          <a:p>
            <a:pPr algn="ctr" indent="0" marL="0">
              <a:lnSpc>
                <a:spcPts val="1435"/>
              </a:lnSpc>
              <a:buNone/>
            </a:pPr>
            <a:r>
              <a:rPr lang="en-US" sz="1196" b="1" dirty="0">
                <a:solidFill>
                  <a:srgbClr val="F6F5F1"/>
                </a:solidFill>
                <a:latin typeface="Carlito" pitchFamily="34" charset="0"/>
                <a:ea typeface="Carlito" pitchFamily="34" charset="-122"/>
                <a:cs typeface="Carlito" pitchFamily="34" charset="-120"/>
              </a:rPr>
              <a:t>4. Review folder list</a:t>
            </a:r>
            <a:endParaRPr lang="en-US" sz="1196" dirty="0"/>
          </a:p>
        </p:txBody>
      </p:sp>
      <p:sp>
        <p:nvSpPr>
          <p:cNvPr id="34" name="Text 32"/>
          <p:cNvSpPr/>
          <p:nvPr/>
        </p:nvSpPr>
        <p:spPr>
          <a:xfrm>
            <a:off x="5504976" y="3551591"/>
            <a:ext cx="1067726" cy="207522"/>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D3D6D9"/>
                </a:solidFill>
                <a:latin typeface="Carlito" pitchFamily="34" charset="0"/>
                <a:ea typeface="Carlito" pitchFamily="34" charset="-122"/>
                <a:cs typeface="Carlito" pitchFamily="34" charset="-120"/>
              </a:rPr>
              <a:t>For awareness</a:t>
            </a:r>
            <a:endParaRPr lang="en-US" sz="1200" dirty="0"/>
          </a:p>
        </p:txBody>
      </p:sp>
      <p:sp>
        <p:nvSpPr>
          <p:cNvPr id="35" name="Shape 33"/>
          <p:cNvSpPr/>
          <p:nvPr/>
        </p:nvSpPr>
        <p:spPr>
          <a:xfrm>
            <a:off x="3771856" y="4013178"/>
            <a:ext cx="1346178" cy="711178"/>
          </a:xfrm>
          <a:prstGeom prst="roundRect">
            <a:avLst>
              <a:gd name="adj" fmla="val 12500"/>
            </a:avLst>
          </a:prstGeom>
          <a:solidFill>
            <a:srgbClr val="2E3338"/>
          </a:solidFill>
          <a:ln/>
        </p:spPr>
      </p:sp>
      <p:sp>
        <p:nvSpPr>
          <p:cNvPr id="36" name="Text 34"/>
          <p:cNvSpPr/>
          <p:nvPr/>
        </p:nvSpPr>
        <p:spPr>
          <a:xfrm>
            <a:off x="3809890" y="4179646"/>
            <a:ext cx="1270111" cy="208183"/>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F6F5F1"/>
                </a:solidFill>
                <a:latin typeface="Carlito" pitchFamily="34" charset="0"/>
                <a:ea typeface="Carlito" pitchFamily="34" charset="-122"/>
                <a:cs typeface="Carlito" pitchFamily="34" charset="-120"/>
              </a:rPr>
              <a:t>2. Validate records</a:t>
            </a:r>
            <a:endParaRPr lang="en-US" sz="1200" dirty="0"/>
          </a:p>
        </p:txBody>
      </p:sp>
      <p:sp>
        <p:nvSpPr>
          <p:cNvPr id="37" name="Text 35"/>
          <p:cNvSpPr/>
          <p:nvPr/>
        </p:nvSpPr>
        <p:spPr>
          <a:xfrm>
            <a:off x="4056482" y="4375107"/>
            <a:ext cx="776817" cy="208183"/>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D3D6D9"/>
                </a:solidFill>
                <a:latin typeface="Carlito" pitchFamily="34" charset="0"/>
                <a:ea typeface="Carlito" pitchFamily="34" charset="-122"/>
                <a:cs typeface="Carlito" pitchFamily="34" charset="-120"/>
              </a:rPr>
              <a:t>Databricks</a:t>
            </a:r>
            <a:endParaRPr lang="en-US" sz="1200" dirty="0"/>
          </a:p>
        </p:txBody>
      </p:sp>
      <p:sp>
        <p:nvSpPr>
          <p:cNvPr id="38" name="Text 36"/>
          <p:cNvSpPr/>
          <p:nvPr/>
        </p:nvSpPr>
        <p:spPr>
          <a:xfrm>
            <a:off x="5365750" y="4013178"/>
            <a:ext cx="1346178" cy="711178"/>
          </a:xfrm>
          <a:custGeom>
            <a:avLst/>
            <a:gdLst/>
            <a:ahLst/>
            <a:cxnLst/>
            <a:rect l="l" t="t" r="r" b="b"/>
            <a:pathLst>
              <a:path w="1346178" h="711178">
                <a:moveTo>
                  <a:pt x="88900" y="0"/>
                </a:moveTo>
                <a:lnTo>
                  <a:pt x="1257278" y="0"/>
                </a:lnTo>
                <a:arcTo hR="88900" wR="88900" stAng="16200000" swAng="5400000"/>
                <a:lnTo>
                  <a:pt x="1346178" y="622278"/>
                </a:lnTo>
                <a:arcTo hR="88900" wR="88900" stAng="0" swAng="5400000"/>
                <a:lnTo>
                  <a:pt x="88900" y="711178"/>
                </a:lnTo>
                <a:arcTo hR="88900" wR="88900" stAng="5400000" swAng="5400000"/>
                <a:lnTo>
                  <a:pt x="0" y="88900"/>
                </a:lnTo>
                <a:arcTo hR="88900" wR="88900" stAng="10800000" swAng="5400000"/>
                <a:close/>
              </a:path>
            </a:pathLst>
          </a:custGeom>
          <a:solidFill>
            <a:srgbClr val="2E3338"/>
          </a:solidFill>
          <a:ln/>
        </p:spPr>
        <p:txBody>
          <a:bodyPr wrap="square" lIns="50778" tIns="76200" rIns="50778" bIns="76200" rtlCol="0" anchor="ctr">
            <a:normAutofit/>
          </a:bodyPr>
          <a:lstStyle/>
          <a:p>
            <a:pPr algn="ctr" indent="0" marL="0">
              <a:lnSpc>
                <a:spcPts val="1440"/>
              </a:lnSpc>
              <a:buNone/>
            </a:pPr>
            <a:r>
              <a:rPr lang="en-US" sz="1200" b="1" dirty="0">
                <a:solidFill>
                  <a:srgbClr val="F6F5F1"/>
                </a:solidFill>
                <a:latin typeface="Carlito" pitchFamily="34" charset="0"/>
                <a:ea typeface="Carlito" pitchFamily="34" charset="-122"/>
                <a:cs typeface="Carlito" pitchFamily="34" charset="-120"/>
              </a:rPr>
              <a:t>3. Quarantine and monitor</a:t>
            </a:r>
            <a:endParaRPr lang="en-US" sz="1200" dirty="0"/>
          </a:p>
        </p:txBody>
      </p:sp>
      <p:sp>
        <p:nvSpPr>
          <p:cNvPr id="39" name="Text 37"/>
          <p:cNvSpPr/>
          <p:nvPr/>
        </p:nvSpPr>
        <p:spPr>
          <a:xfrm>
            <a:off x="10134534" y="4013178"/>
            <a:ext cx="1346178" cy="711178"/>
          </a:xfrm>
          <a:custGeom>
            <a:avLst/>
            <a:gdLst/>
            <a:ahLst/>
            <a:cxnLst/>
            <a:rect l="l" t="t" r="r" b="b"/>
            <a:pathLst>
              <a:path w="1346178" h="711178">
                <a:moveTo>
                  <a:pt x="88900" y="0"/>
                </a:moveTo>
                <a:lnTo>
                  <a:pt x="1257278" y="0"/>
                </a:lnTo>
                <a:arcTo hR="88900" wR="88900" stAng="16200000" swAng="5400000"/>
                <a:lnTo>
                  <a:pt x="1346178" y="622278"/>
                </a:lnTo>
                <a:arcTo hR="88900" wR="88900" stAng="0" swAng="5400000"/>
                <a:lnTo>
                  <a:pt x="88900" y="711178"/>
                </a:lnTo>
                <a:arcTo hR="88900" wR="88900" stAng="5400000" swAng="5400000"/>
                <a:lnTo>
                  <a:pt x="0" y="88900"/>
                </a:lnTo>
                <a:arcTo hR="88900" wR="88900" stAng="10800000" swAng="5400000"/>
                <a:close/>
              </a:path>
            </a:pathLst>
          </a:custGeom>
          <a:solidFill>
            <a:srgbClr val="2E3338"/>
          </a:solidFill>
          <a:ln/>
        </p:spPr>
        <p:txBody>
          <a:bodyPr wrap="square" lIns="50778" tIns="76200" rIns="50778" bIns="76200" rtlCol="0" anchor="ctr">
            <a:normAutofit/>
          </a:bodyPr>
          <a:lstStyle/>
          <a:p>
            <a:pPr algn="ctr" indent="0" marL="0">
              <a:lnSpc>
                <a:spcPts val="1440"/>
              </a:lnSpc>
              <a:buNone/>
            </a:pPr>
            <a:r>
              <a:rPr lang="en-US" sz="1200" b="1" dirty="0">
                <a:solidFill>
                  <a:srgbClr val="F6F5F1"/>
                </a:solidFill>
                <a:latin typeface="Carlito" pitchFamily="34" charset="0"/>
                <a:ea typeface="Carlito" pitchFamily="34" charset="-122"/>
                <a:cs typeface="Carlito" pitchFamily="34" charset="-120"/>
              </a:rPr>
              <a:t>8. Verify and log evidence</a:t>
            </a:r>
            <a:endParaRPr lang="en-US" sz="1200" dirty="0"/>
          </a:p>
        </p:txBody>
      </p:sp>
      <p:sp>
        <p:nvSpPr>
          <p:cNvPr id="40" name="Text 38"/>
          <p:cNvSpPr/>
          <p:nvPr/>
        </p:nvSpPr>
        <p:spPr>
          <a:xfrm>
            <a:off x="2184356" y="4927535"/>
            <a:ext cx="1346178" cy="711178"/>
          </a:xfrm>
          <a:custGeom>
            <a:avLst/>
            <a:gdLst/>
            <a:ahLst/>
            <a:cxnLst/>
            <a:rect l="l" t="t" r="r" b="b"/>
            <a:pathLst>
              <a:path w="1346178" h="711178">
                <a:moveTo>
                  <a:pt x="88900" y="0"/>
                </a:moveTo>
                <a:lnTo>
                  <a:pt x="1257278" y="0"/>
                </a:lnTo>
                <a:arcTo hR="88900" wR="88900" stAng="16200000" swAng="5400000"/>
                <a:lnTo>
                  <a:pt x="1346178" y="622278"/>
                </a:lnTo>
                <a:arcTo hR="88900" wR="88900" stAng="0" swAng="5400000"/>
                <a:lnTo>
                  <a:pt x="88900" y="711178"/>
                </a:lnTo>
                <a:arcTo hR="88900" wR="88900" stAng="5400000" swAng="5400000"/>
                <a:lnTo>
                  <a:pt x="0" y="88900"/>
                </a:lnTo>
                <a:arcTo hR="88900" wR="88900" stAng="10800000" swAng="5400000"/>
                <a:close/>
              </a:path>
            </a:pathLst>
          </a:custGeom>
          <a:solidFill>
            <a:srgbClr val="2E3338"/>
          </a:solidFill>
          <a:ln/>
        </p:spPr>
        <p:txBody>
          <a:bodyPr wrap="square" lIns="50778" tIns="76200" rIns="50778" bIns="76200" rtlCol="0" anchor="ctr">
            <a:normAutofit/>
          </a:bodyPr>
          <a:lstStyle/>
          <a:p>
            <a:pPr algn="ctr" indent="0" marL="0">
              <a:lnSpc>
                <a:spcPts val="1440"/>
              </a:lnSpc>
              <a:buNone/>
            </a:pPr>
            <a:r>
              <a:rPr lang="en-US" sz="1200" b="1" dirty="0">
                <a:solidFill>
                  <a:srgbClr val="F6F5F1"/>
                </a:solidFill>
                <a:latin typeface="Carlito" pitchFamily="34" charset="0"/>
                <a:ea typeface="Carlito" pitchFamily="34" charset="-122"/>
                <a:cs typeface="Carlito" pitchFamily="34" charset="-120"/>
              </a:rPr>
              <a:t>1. Run BigID scan and rules</a:t>
            </a:r>
            <a:endParaRPr lang="en-US" sz="1200" dirty="0"/>
          </a:p>
        </p:txBody>
      </p:sp>
      <p:sp>
        <p:nvSpPr>
          <p:cNvPr id="41" name="Shape 39"/>
          <p:cNvSpPr/>
          <p:nvPr/>
        </p:nvSpPr>
        <p:spPr>
          <a:xfrm>
            <a:off x="5372100" y="5010063"/>
            <a:ext cx="1333478" cy="546012"/>
          </a:xfrm>
          <a:prstGeom prst="roundRect">
            <a:avLst>
              <a:gd name="adj" fmla="val 15119"/>
            </a:avLst>
          </a:prstGeom>
          <a:solidFill>
            <a:srgbClr val="FFFEFB"/>
          </a:solidFill>
          <a:ln w="12700">
            <a:solidFill>
              <a:srgbClr val="B8B1A1"/>
            </a:solidFill>
            <a:prstDash val="dash"/>
          </a:ln>
        </p:spPr>
      </p:sp>
      <p:sp>
        <p:nvSpPr>
          <p:cNvPr id="42" name="Text 40"/>
          <p:cNvSpPr/>
          <p:nvPr/>
        </p:nvSpPr>
        <p:spPr>
          <a:xfrm>
            <a:off x="5570990" y="5100286"/>
            <a:ext cx="935699" cy="208183"/>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E3338"/>
                </a:solidFill>
                <a:latin typeface="Carlito" pitchFamily="34" charset="0"/>
                <a:ea typeface="Carlito" pitchFamily="34" charset="-122"/>
                <a:cs typeface="Carlito" pitchFamily="34" charset="-120"/>
              </a:rPr>
              <a:t>Fails a check</a:t>
            </a:r>
            <a:endParaRPr lang="en-US" sz="1200" dirty="0"/>
          </a:p>
        </p:txBody>
      </p:sp>
      <p:sp>
        <p:nvSpPr>
          <p:cNvPr id="43" name="Text 41"/>
          <p:cNvSpPr/>
          <p:nvPr/>
        </p:nvSpPr>
        <p:spPr>
          <a:xfrm>
            <a:off x="5589918" y="5283068"/>
            <a:ext cx="897731" cy="208183"/>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5A6066"/>
                </a:solidFill>
                <a:latin typeface="Carlito" pitchFamily="34" charset="0"/>
                <a:ea typeface="Carlito" pitchFamily="34" charset="-122"/>
                <a:cs typeface="Carlito" pitchFamily="34" charset="-120"/>
              </a:rPr>
              <a:t>Back to DGS</a:t>
            </a:r>
            <a:endParaRPr lang="en-US" sz="1200" dirty="0"/>
          </a:p>
        </p:txBody>
      </p:sp>
      <p:sp>
        <p:nvSpPr>
          <p:cNvPr id="44" name="Shape 42"/>
          <p:cNvSpPr/>
          <p:nvPr/>
        </p:nvSpPr>
        <p:spPr>
          <a:xfrm>
            <a:off x="8547034" y="4927535"/>
            <a:ext cx="1346178" cy="711178"/>
          </a:xfrm>
          <a:prstGeom prst="roundRect">
            <a:avLst>
              <a:gd name="adj" fmla="val 12500"/>
            </a:avLst>
          </a:prstGeom>
          <a:solidFill>
            <a:srgbClr val="2E3338"/>
          </a:solidFill>
          <a:ln/>
        </p:spPr>
      </p:sp>
      <p:sp>
        <p:nvSpPr>
          <p:cNvPr id="45" name="Text 43"/>
          <p:cNvSpPr/>
          <p:nvPr/>
        </p:nvSpPr>
        <p:spPr>
          <a:xfrm>
            <a:off x="8597812" y="5003713"/>
            <a:ext cx="1244622" cy="389423"/>
          </a:xfrm>
          <a:prstGeom prst="rect">
            <a:avLst/>
          </a:prstGeom>
          <a:noFill/>
          <a:ln/>
        </p:spPr>
        <p:txBody>
          <a:bodyPr wrap="square" lIns="0" tIns="0" rIns="0" bIns="0" rtlCol="0" anchor="t">
            <a:normAutofit/>
          </a:bodyPr>
          <a:lstStyle/>
          <a:p>
            <a:pPr algn="ctr" indent="0" marL="0">
              <a:lnSpc>
                <a:spcPts val="1435"/>
              </a:lnSpc>
              <a:buNone/>
            </a:pPr>
            <a:r>
              <a:rPr lang="en-US" sz="1196" b="1" dirty="0">
                <a:solidFill>
                  <a:srgbClr val="F6F5F1"/>
                </a:solidFill>
                <a:latin typeface="Carlito" pitchFamily="34" charset="0"/>
                <a:ea typeface="Carlito" pitchFamily="34" charset="-122"/>
                <a:cs typeface="Carlito" pitchFamily="34" charset="-120"/>
              </a:rPr>
              <a:t>7. Execute deletion</a:t>
            </a:r>
            <a:endParaRPr lang="en-US" sz="1196" dirty="0"/>
          </a:p>
        </p:txBody>
      </p:sp>
      <p:sp>
        <p:nvSpPr>
          <p:cNvPr id="46" name="Text 44"/>
          <p:cNvSpPr/>
          <p:nvPr/>
        </p:nvSpPr>
        <p:spPr>
          <a:xfrm>
            <a:off x="8641281" y="5380413"/>
            <a:ext cx="1157684" cy="207522"/>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D3D6D9"/>
                </a:solidFill>
                <a:latin typeface="Carlito" pitchFamily="34" charset="0"/>
                <a:ea typeface="Carlito" pitchFamily="34" charset="-122"/>
                <a:cs typeface="Carlito" pitchFamily="34" charset="-120"/>
              </a:rPr>
              <a:t>BigID or Python</a:t>
            </a:r>
            <a:endParaRPr lang="en-US" sz="1200" dirty="0"/>
          </a:p>
        </p:txBody>
      </p:sp>
      <p:pic>
        <p:nvPicPr>
          <p:cNvPr id="47" name="Image 0" descr="connector">    </p:cNvPr>
          <p:cNvPicPr>
            <a:picLocks noChangeAspect="1"/>
          </p:cNvPicPr>
          <p:nvPr/>
        </p:nvPicPr>
        <p:blipFill>
          <a:blip r:embed="rId1"/>
          <a:srcRect l="0" r="0" t="-13" b="-13"/>
          <a:stretch/>
        </p:blipFill>
        <p:spPr>
          <a:xfrm>
            <a:off x="2819356" y="1943035"/>
            <a:ext cx="76178" cy="3022534"/>
          </a:xfrm>
          <a:prstGeom prst="rect">
            <a:avLst/>
          </a:prstGeom>
        </p:spPr>
      </p:pic>
      <p:pic>
        <p:nvPicPr>
          <p:cNvPr id="48" name="Image 1" descr="connector">    </p:cNvPr>
          <p:cNvPicPr>
            <a:picLocks noChangeAspect="1"/>
          </p:cNvPicPr>
          <p:nvPr/>
        </p:nvPicPr>
        <p:blipFill>
          <a:blip r:embed="rId2"/>
          <a:srcRect l="0" r="0" t="-3" b="-3"/>
          <a:stretch/>
        </p:blipFill>
        <p:spPr>
          <a:xfrm>
            <a:off x="3492500" y="4686213"/>
            <a:ext cx="990534" cy="635000"/>
          </a:xfrm>
          <a:prstGeom prst="rect">
            <a:avLst/>
          </a:prstGeom>
        </p:spPr>
      </p:pic>
      <p:pic>
        <p:nvPicPr>
          <p:cNvPr id="49" name="Image 2" descr="connector">    </p:cNvPr>
          <p:cNvPicPr>
            <a:picLocks noChangeAspect="1"/>
          </p:cNvPicPr>
          <p:nvPr/>
        </p:nvPicPr>
        <p:blipFill>
          <a:blip r:embed="rId3"/>
          <a:srcRect l="-4" r="-4" t="0" b="0"/>
          <a:stretch/>
        </p:blipFill>
        <p:spPr>
          <a:xfrm>
            <a:off x="5080000" y="4330678"/>
            <a:ext cx="323784" cy="76178"/>
          </a:xfrm>
          <a:prstGeom prst="rect">
            <a:avLst/>
          </a:prstGeom>
        </p:spPr>
      </p:pic>
      <p:pic>
        <p:nvPicPr>
          <p:cNvPr id="50" name="Image 3" descr="connector">    </p:cNvPr>
          <p:cNvPicPr>
            <a:picLocks noChangeAspect="1"/>
          </p:cNvPicPr>
          <p:nvPr/>
        </p:nvPicPr>
        <p:blipFill>
          <a:blip r:embed="rId4"/>
          <a:srcRect l="0" r="0" t="-2" b="-2"/>
          <a:stretch/>
        </p:blipFill>
        <p:spPr>
          <a:xfrm>
            <a:off x="4787856" y="4686213"/>
            <a:ext cx="615928" cy="635000"/>
          </a:xfrm>
          <a:prstGeom prst="rect">
            <a:avLst/>
          </a:prstGeom>
        </p:spPr>
      </p:pic>
      <p:pic>
        <p:nvPicPr>
          <p:cNvPr id="51" name="Image 4" descr="connector">    </p:cNvPr>
          <p:cNvPicPr>
            <a:picLocks noChangeAspect="1"/>
          </p:cNvPicPr>
          <p:nvPr/>
        </p:nvPicPr>
        <p:blipFill>
          <a:blip r:embed="rId5"/>
          <a:srcRect l="0" r="0" t="-7" b="-7"/>
          <a:stretch/>
        </p:blipFill>
        <p:spPr>
          <a:xfrm>
            <a:off x="6318250" y="3771857"/>
            <a:ext cx="76178" cy="279356"/>
          </a:xfrm>
          <a:prstGeom prst="rect">
            <a:avLst/>
          </a:prstGeom>
        </p:spPr>
      </p:pic>
      <p:pic>
        <p:nvPicPr>
          <p:cNvPr id="52" name="Image 5" descr="connector">    </p:cNvPr>
          <p:cNvPicPr>
            <a:picLocks noChangeAspect="1"/>
          </p:cNvPicPr>
          <p:nvPr/>
        </p:nvPicPr>
        <p:blipFill>
          <a:blip r:embed="rId6"/>
          <a:srcRect l="0" r="0" t="-7" b="-7"/>
          <a:stretch/>
        </p:blipFill>
        <p:spPr>
          <a:xfrm>
            <a:off x="5683250" y="3771857"/>
            <a:ext cx="76178" cy="279356"/>
          </a:xfrm>
          <a:prstGeom prst="rect">
            <a:avLst/>
          </a:prstGeom>
        </p:spPr>
      </p:pic>
      <p:pic>
        <p:nvPicPr>
          <p:cNvPr id="53" name="Image 6" descr="connector">    </p:cNvPr>
          <p:cNvPicPr>
            <a:picLocks noChangeAspect="1"/>
          </p:cNvPicPr>
          <p:nvPr/>
        </p:nvPicPr>
        <p:blipFill>
          <a:blip r:embed="rId7"/>
          <a:srcRect l="0" r="0" t="-3" b="-3"/>
          <a:stretch/>
        </p:blipFill>
        <p:spPr>
          <a:xfrm>
            <a:off x="6673784" y="2857502"/>
            <a:ext cx="990534" cy="635000"/>
          </a:xfrm>
          <a:prstGeom prst="rect">
            <a:avLst/>
          </a:prstGeom>
        </p:spPr>
      </p:pic>
      <p:pic>
        <p:nvPicPr>
          <p:cNvPr id="54" name="Image 7" descr="connector">    </p:cNvPr>
          <p:cNvPicPr>
            <a:picLocks noChangeAspect="1"/>
          </p:cNvPicPr>
          <p:nvPr/>
        </p:nvPicPr>
        <p:blipFill>
          <a:blip r:embed="rId8"/>
          <a:srcRect l="0" r="0" t="-7" b="-7"/>
          <a:stretch/>
        </p:blipFill>
        <p:spPr>
          <a:xfrm>
            <a:off x="7588250" y="1943035"/>
            <a:ext cx="76178" cy="279356"/>
          </a:xfrm>
          <a:prstGeom prst="rect">
            <a:avLst/>
          </a:prstGeom>
        </p:spPr>
      </p:pic>
      <p:pic>
        <p:nvPicPr>
          <p:cNvPr id="55" name="Image 8" descr="connector">    </p:cNvPr>
          <p:cNvPicPr>
            <a:picLocks noChangeAspect="1"/>
          </p:cNvPicPr>
          <p:nvPr/>
        </p:nvPicPr>
        <p:blipFill>
          <a:blip r:embed="rId9"/>
          <a:srcRect l="-14" r="-14" t="0" b="0"/>
          <a:stretch/>
        </p:blipFill>
        <p:spPr>
          <a:xfrm>
            <a:off x="6673784" y="1587500"/>
            <a:ext cx="317500" cy="76178"/>
          </a:xfrm>
          <a:prstGeom prst="rect">
            <a:avLst/>
          </a:prstGeom>
        </p:spPr>
      </p:pic>
      <p:pic>
        <p:nvPicPr>
          <p:cNvPr id="56" name="Image 9" descr="connector">    </p:cNvPr>
          <p:cNvPicPr>
            <a:picLocks noChangeAspect="1"/>
          </p:cNvPicPr>
          <p:nvPr/>
        </p:nvPicPr>
        <p:blipFill>
          <a:blip r:embed="rId10"/>
          <a:srcRect l="-14" r="-14" t="0" b="0"/>
          <a:stretch/>
        </p:blipFill>
        <p:spPr>
          <a:xfrm>
            <a:off x="6673784" y="2501857"/>
            <a:ext cx="317500" cy="76178"/>
          </a:xfrm>
          <a:prstGeom prst="rect">
            <a:avLst/>
          </a:prstGeom>
        </p:spPr>
      </p:pic>
      <p:pic>
        <p:nvPicPr>
          <p:cNvPr id="57" name="Image 10" descr="connector">    </p:cNvPr>
          <p:cNvPicPr>
            <a:picLocks noChangeAspect="1"/>
          </p:cNvPicPr>
          <p:nvPr/>
        </p:nvPicPr>
        <p:blipFill>
          <a:blip r:embed="rId11"/>
          <a:srcRect l="0" r="0" t="-1" b="-1"/>
          <a:stretch/>
        </p:blipFill>
        <p:spPr>
          <a:xfrm>
            <a:off x="8261284" y="1587500"/>
            <a:ext cx="996928" cy="3378178"/>
          </a:xfrm>
          <a:prstGeom prst="rect">
            <a:avLst/>
          </a:prstGeom>
        </p:spPr>
      </p:pic>
      <p:pic>
        <p:nvPicPr>
          <p:cNvPr id="58" name="Image 11" descr="connector">    </p:cNvPr>
          <p:cNvPicPr>
            <a:picLocks noChangeAspect="1"/>
          </p:cNvPicPr>
          <p:nvPr/>
        </p:nvPicPr>
        <p:blipFill>
          <a:blip r:embed="rId12"/>
          <a:srcRect l="0" r="0" t="-3" b="-3"/>
          <a:stretch/>
        </p:blipFill>
        <p:spPr>
          <a:xfrm>
            <a:off x="9855178" y="4686213"/>
            <a:ext cx="990534" cy="635000"/>
          </a:xfrm>
          <a:prstGeom prst="rect">
            <a:avLst/>
          </a:prstGeom>
        </p:spPr>
      </p:pic>
      <p:pic>
        <p:nvPicPr>
          <p:cNvPr id="59" name="Image 12" descr="connector">    </p:cNvPr>
          <p:cNvPicPr>
            <a:picLocks noChangeAspect="1"/>
          </p:cNvPicPr>
          <p:nvPr/>
        </p:nvPicPr>
        <p:blipFill>
          <a:blip r:embed="rId13"/>
          <a:srcRect l="0" r="0" t="-14" b="-14"/>
          <a:stretch/>
        </p:blipFill>
        <p:spPr>
          <a:xfrm>
            <a:off x="10769534" y="1943035"/>
            <a:ext cx="76178" cy="2108178"/>
          </a:xfrm>
          <a:prstGeom prst="rect">
            <a:avLst/>
          </a:prstGeom>
        </p:spPr>
      </p:pic>
      <p:sp>
        <p:nvSpPr>
          <p:cNvPr id="60" name="Text 45"/>
          <p:cNvSpPr/>
          <p:nvPr/>
        </p:nvSpPr>
        <p:spPr>
          <a:xfrm>
            <a:off x="2933678" y="4102035"/>
            <a:ext cx="844550" cy="390966"/>
          </a:xfrm>
          <a:prstGeom prst="rect">
            <a:avLst/>
          </a:prstGeom>
          <a:noFill/>
          <a:ln/>
        </p:spPr>
        <p:txBody>
          <a:bodyPr wrap="square" lIns="0" tIns="0" rIns="0" bIns="0" rtlCol="0" anchor="t">
            <a:normAutofit/>
          </a:bodyPr>
          <a:lstStyle/>
          <a:p>
            <a:pPr algn="l" indent="0" marL="0">
              <a:lnSpc>
                <a:spcPts val="1440"/>
              </a:lnSpc>
              <a:buNone/>
            </a:pPr>
            <a:r>
              <a:rPr lang="en-US" sz="1200" i="1" dirty="0">
                <a:solidFill>
                  <a:srgbClr val="1F5C99"/>
                </a:solidFill>
                <a:latin typeface="Carlito" pitchFamily="34" charset="0"/>
                <a:ea typeface="Carlito" pitchFamily="34" charset="-122"/>
                <a:cs typeface="Carlito" pitchFamily="34" charset="-120"/>
              </a:rPr>
              <a:t>Retention schedules</a:t>
            </a:r>
            <a:endParaRPr lang="en-US" sz="1200" dirty="0"/>
          </a:p>
        </p:txBody>
      </p:sp>
      <p:sp>
        <p:nvSpPr>
          <p:cNvPr id="61" name="Text 46"/>
          <p:cNvSpPr/>
          <p:nvPr/>
        </p:nvSpPr>
        <p:spPr>
          <a:xfrm>
            <a:off x="3594034" y="5054535"/>
            <a:ext cx="876300" cy="208183"/>
          </a:xfrm>
          <a:prstGeom prst="rect">
            <a:avLst/>
          </a:prstGeom>
          <a:noFill/>
          <a:ln/>
        </p:spPr>
        <p:txBody>
          <a:bodyPr wrap="square" lIns="0" tIns="0" rIns="0" bIns="0" rtlCol="0" anchor="t">
            <a:normAutofit/>
          </a:bodyPr>
          <a:lstStyle/>
          <a:p>
            <a:pPr algn="l" indent="0" marL="0">
              <a:lnSpc>
                <a:spcPts val="1440"/>
              </a:lnSpc>
              <a:buNone/>
            </a:pPr>
            <a:r>
              <a:rPr lang="en-US" sz="1200" i="1" dirty="0">
                <a:solidFill>
                  <a:srgbClr val="1F5C99"/>
                </a:solidFill>
                <a:latin typeface="Carlito" pitchFamily="34" charset="0"/>
                <a:ea typeface="Carlito" pitchFamily="34" charset="-122"/>
                <a:cs typeface="Carlito" pitchFamily="34" charset="-120"/>
              </a:rPr>
              <a:t>Candidates</a:t>
            </a:r>
            <a:endParaRPr lang="en-US" sz="1200" dirty="0"/>
          </a:p>
        </p:txBody>
      </p:sp>
      <p:sp>
        <p:nvSpPr>
          <p:cNvPr id="62" name="Text 47"/>
          <p:cNvSpPr/>
          <p:nvPr/>
        </p:nvSpPr>
        <p:spPr>
          <a:xfrm>
            <a:off x="6426178" y="3822678"/>
            <a:ext cx="1003300" cy="208183"/>
          </a:xfrm>
          <a:prstGeom prst="rect">
            <a:avLst/>
          </a:prstGeom>
          <a:noFill/>
          <a:ln/>
        </p:spPr>
        <p:txBody>
          <a:bodyPr wrap="square" lIns="0" tIns="0" rIns="0" bIns="0" rtlCol="0" anchor="t">
            <a:normAutofit/>
          </a:bodyPr>
          <a:lstStyle/>
          <a:p>
            <a:pPr algn="l" indent="0" marL="0">
              <a:lnSpc>
                <a:spcPts val="1440"/>
              </a:lnSpc>
              <a:buNone/>
            </a:pPr>
            <a:r>
              <a:rPr lang="en-US" sz="1200" i="1" dirty="0">
                <a:solidFill>
                  <a:srgbClr val="1F5C99"/>
                </a:solidFill>
                <a:latin typeface="Carlito" pitchFamily="34" charset="0"/>
                <a:ea typeface="Carlito" pitchFamily="34" charset="-122"/>
                <a:cs typeface="Carlito" pitchFamily="34" charset="-120"/>
              </a:rPr>
              <a:t>Folder list</a:t>
            </a:r>
            <a:endParaRPr lang="en-US" sz="1200" dirty="0"/>
          </a:p>
        </p:txBody>
      </p:sp>
      <p:sp>
        <p:nvSpPr>
          <p:cNvPr id="63" name="Text 48"/>
          <p:cNvSpPr/>
          <p:nvPr/>
        </p:nvSpPr>
        <p:spPr>
          <a:xfrm>
            <a:off x="4775200" y="3822678"/>
            <a:ext cx="876300" cy="208183"/>
          </a:xfrm>
          <a:prstGeom prst="rect">
            <a:avLst/>
          </a:prstGeom>
          <a:noFill/>
          <a:ln/>
        </p:spPr>
        <p:txBody>
          <a:bodyPr wrap="square" lIns="0" tIns="0" rIns="0" bIns="0" rtlCol="0" anchor="t">
            <a:normAutofit/>
          </a:bodyPr>
          <a:lstStyle/>
          <a:p>
            <a:pPr algn="r" indent="0" marL="0">
              <a:lnSpc>
                <a:spcPts val="1440"/>
              </a:lnSpc>
              <a:buNone/>
            </a:pPr>
            <a:r>
              <a:rPr lang="en-US" sz="1200" i="1" dirty="0">
                <a:solidFill>
                  <a:srgbClr val="1F5C99"/>
                </a:solidFill>
                <a:latin typeface="Carlito" pitchFamily="34" charset="0"/>
                <a:ea typeface="Carlito" pitchFamily="34" charset="-122"/>
                <a:cs typeface="Carlito" pitchFamily="34" charset="-120"/>
              </a:rPr>
              <a:t>Issue raised</a:t>
            </a:r>
            <a:endParaRPr lang="en-US" sz="1200" dirty="0"/>
          </a:p>
        </p:txBody>
      </p:sp>
      <p:sp>
        <p:nvSpPr>
          <p:cNvPr id="64" name="Text 49"/>
          <p:cNvSpPr/>
          <p:nvPr/>
        </p:nvSpPr>
        <p:spPr>
          <a:xfrm>
            <a:off x="7696178" y="3022535"/>
            <a:ext cx="876300" cy="390966"/>
          </a:xfrm>
          <a:prstGeom prst="rect">
            <a:avLst/>
          </a:prstGeom>
          <a:noFill/>
          <a:ln/>
        </p:spPr>
        <p:txBody>
          <a:bodyPr wrap="square" lIns="0" tIns="0" rIns="0" bIns="0" rtlCol="0" anchor="t">
            <a:normAutofit/>
          </a:bodyPr>
          <a:lstStyle/>
          <a:p>
            <a:pPr algn="l" indent="0" marL="0">
              <a:lnSpc>
                <a:spcPts val="1440"/>
              </a:lnSpc>
              <a:buNone/>
            </a:pPr>
            <a:r>
              <a:rPr lang="en-US" sz="1200" i="1" dirty="0">
                <a:solidFill>
                  <a:srgbClr val="1F5C99"/>
                </a:solidFill>
                <a:latin typeface="Carlito" pitchFamily="34" charset="0"/>
                <a:ea typeface="Carlito" pitchFamily="34" charset="-122"/>
                <a:cs typeface="Carlito" pitchFamily="34" charset="-120"/>
              </a:rPr>
              <a:t>Approval package</a:t>
            </a:r>
            <a:endParaRPr lang="en-US" sz="1200" dirty="0"/>
          </a:p>
        </p:txBody>
      </p:sp>
      <p:sp>
        <p:nvSpPr>
          <p:cNvPr id="65" name="Text 50"/>
          <p:cNvSpPr/>
          <p:nvPr/>
        </p:nvSpPr>
        <p:spPr>
          <a:xfrm>
            <a:off x="7696178" y="1987463"/>
            <a:ext cx="812800" cy="208183"/>
          </a:xfrm>
          <a:prstGeom prst="rect">
            <a:avLst/>
          </a:prstGeom>
          <a:noFill/>
          <a:ln/>
        </p:spPr>
        <p:txBody>
          <a:bodyPr wrap="square" lIns="0" tIns="0" rIns="0" bIns="0" rtlCol="0" anchor="t">
            <a:normAutofit/>
          </a:bodyPr>
          <a:lstStyle/>
          <a:p>
            <a:pPr algn="l" indent="0" marL="0">
              <a:lnSpc>
                <a:spcPts val="1440"/>
              </a:lnSpc>
              <a:buNone/>
            </a:pPr>
            <a:r>
              <a:rPr lang="en-US" sz="1200" i="1" dirty="0">
                <a:solidFill>
                  <a:srgbClr val="1F5C99"/>
                </a:solidFill>
                <a:latin typeface="Carlito" pitchFamily="34" charset="0"/>
                <a:ea typeface="Carlito" pitchFamily="34" charset="-122"/>
                <a:cs typeface="Carlito" pitchFamily="34" charset="-120"/>
              </a:rPr>
              <a:t>Endorsed</a:t>
            </a:r>
            <a:endParaRPr lang="en-US" sz="1200" dirty="0"/>
          </a:p>
        </p:txBody>
      </p:sp>
      <p:sp>
        <p:nvSpPr>
          <p:cNvPr id="66" name="Text 51"/>
          <p:cNvSpPr/>
          <p:nvPr/>
        </p:nvSpPr>
        <p:spPr>
          <a:xfrm>
            <a:off x="8140701" y="4191002"/>
            <a:ext cx="1003300" cy="208183"/>
          </a:xfrm>
          <a:prstGeom prst="rect">
            <a:avLst/>
          </a:prstGeom>
          <a:noFill/>
          <a:ln/>
        </p:spPr>
        <p:txBody>
          <a:bodyPr wrap="square" lIns="0" tIns="0" rIns="0" bIns="0" rtlCol="0" anchor="t">
            <a:normAutofit/>
          </a:bodyPr>
          <a:lstStyle/>
          <a:p>
            <a:pPr algn="r" indent="0" marL="0">
              <a:lnSpc>
                <a:spcPts val="1440"/>
              </a:lnSpc>
              <a:buNone/>
            </a:pPr>
            <a:r>
              <a:rPr lang="en-US" sz="1200" i="1" dirty="0">
                <a:solidFill>
                  <a:srgbClr val="1F5C99"/>
                </a:solidFill>
                <a:latin typeface="Carlito" pitchFamily="34" charset="0"/>
                <a:ea typeface="Carlito" pitchFamily="34" charset="-122"/>
                <a:cs typeface="Carlito" pitchFamily="34" charset="-120"/>
              </a:rPr>
              <a:t>Approved list</a:t>
            </a:r>
            <a:endParaRPr lang="en-US" sz="1200" dirty="0"/>
          </a:p>
        </p:txBody>
      </p:sp>
      <p:sp>
        <p:nvSpPr>
          <p:cNvPr id="67" name="Text 52"/>
          <p:cNvSpPr/>
          <p:nvPr/>
        </p:nvSpPr>
        <p:spPr>
          <a:xfrm>
            <a:off x="9956712" y="4876713"/>
            <a:ext cx="844550" cy="208183"/>
          </a:xfrm>
          <a:prstGeom prst="rect">
            <a:avLst/>
          </a:prstGeom>
          <a:noFill/>
          <a:ln/>
        </p:spPr>
        <p:txBody>
          <a:bodyPr wrap="square" lIns="0" tIns="0" rIns="0" bIns="0" rtlCol="0" anchor="t">
            <a:normAutofit/>
          </a:bodyPr>
          <a:lstStyle/>
          <a:p>
            <a:pPr algn="l" indent="0" marL="0">
              <a:lnSpc>
                <a:spcPts val="1440"/>
              </a:lnSpc>
              <a:buNone/>
            </a:pPr>
            <a:r>
              <a:rPr lang="en-US" sz="1200" i="1" dirty="0">
                <a:solidFill>
                  <a:srgbClr val="1F5C99"/>
                </a:solidFill>
                <a:latin typeface="Carlito" pitchFamily="34" charset="0"/>
                <a:ea typeface="Carlito" pitchFamily="34" charset="-122"/>
                <a:cs typeface="Carlito" pitchFamily="34" charset="-120"/>
              </a:rPr>
              <a:t>Deletion log</a:t>
            </a:r>
            <a:endParaRPr lang="en-US" sz="1200" dirty="0"/>
          </a:p>
        </p:txBody>
      </p:sp>
      <p:sp>
        <p:nvSpPr>
          <p:cNvPr id="68" name="Text 53"/>
          <p:cNvSpPr/>
          <p:nvPr/>
        </p:nvSpPr>
        <p:spPr>
          <a:xfrm>
            <a:off x="9728201" y="3022535"/>
            <a:ext cx="1003300" cy="390966"/>
          </a:xfrm>
          <a:prstGeom prst="rect">
            <a:avLst/>
          </a:prstGeom>
          <a:noFill/>
          <a:ln/>
        </p:spPr>
        <p:txBody>
          <a:bodyPr wrap="square" lIns="0" tIns="0" rIns="0" bIns="0" rtlCol="0" anchor="t">
            <a:normAutofit/>
          </a:bodyPr>
          <a:lstStyle/>
          <a:p>
            <a:pPr algn="r" indent="0" marL="0">
              <a:lnSpc>
                <a:spcPts val="1440"/>
              </a:lnSpc>
              <a:buNone/>
            </a:pPr>
            <a:r>
              <a:rPr lang="en-US" sz="1200" i="1" dirty="0">
                <a:solidFill>
                  <a:srgbClr val="1F5C99"/>
                </a:solidFill>
                <a:latin typeface="Carlito" pitchFamily="34" charset="0"/>
                <a:ea typeface="Carlito" pitchFamily="34" charset="-122"/>
                <a:cs typeface="Carlito" pitchFamily="34" charset="-120"/>
              </a:rPr>
              <a:t>Evidence and report</a:t>
            </a:r>
            <a:endParaRPr lang="en-US" sz="1200" dirty="0"/>
          </a:p>
        </p:txBody>
      </p:sp>
      <p:sp>
        <p:nvSpPr>
          <p:cNvPr id="69" name="Shape 54"/>
          <p:cNvSpPr/>
          <p:nvPr/>
        </p:nvSpPr>
        <p:spPr>
          <a:xfrm>
            <a:off x="711178" y="6280217"/>
            <a:ext cx="254000" cy="165034"/>
          </a:xfrm>
          <a:prstGeom prst="roundRect">
            <a:avLst>
              <a:gd name="adj" fmla="val 23086"/>
            </a:avLst>
          </a:prstGeom>
          <a:solidFill>
            <a:srgbClr val="2E3338"/>
          </a:solidFill>
          <a:ln/>
        </p:spPr>
      </p:sp>
      <p:sp>
        <p:nvSpPr>
          <p:cNvPr id="70" name="Text 55"/>
          <p:cNvSpPr/>
          <p:nvPr/>
        </p:nvSpPr>
        <p:spPr>
          <a:xfrm>
            <a:off x="1066712" y="6256074"/>
            <a:ext cx="919956"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338"/>
                </a:solidFill>
                <a:latin typeface="Carlito" pitchFamily="34" charset="0"/>
                <a:ea typeface="Carlito" pitchFamily="34" charset="-122"/>
                <a:cs typeface="Carlito" pitchFamily="34" charset="-120"/>
              </a:rPr>
              <a:t>Process step</a:t>
            </a:r>
            <a:endParaRPr lang="en-US" sz="1200" dirty="0"/>
          </a:p>
        </p:txBody>
      </p:sp>
      <p:sp>
        <p:nvSpPr>
          <p:cNvPr id="71" name="Shape 56"/>
          <p:cNvSpPr/>
          <p:nvPr/>
        </p:nvSpPr>
        <p:spPr>
          <a:xfrm>
            <a:off x="2191941" y="6283392"/>
            <a:ext cx="247650" cy="158684"/>
          </a:xfrm>
          <a:prstGeom prst="roundRect">
            <a:avLst>
              <a:gd name="adj" fmla="val 22009"/>
            </a:avLst>
          </a:prstGeom>
          <a:solidFill>
            <a:srgbClr val="FFE38A"/>
          </a:solidFill>
          <a:ln w="6350">
            <a:solidFill>
              <a:srgbClr val="D9A400"/>
            </a:solidFill>
            <a:prstDash val="solid"/>
          </a:ln>
        </p:spPr>
      </p:sp>
      <p:sp>
        <p:nvSpPr>
          <p:cNvPr id="72" name="Text 57"/>
          <p:cNvSpPr/>
          <p:nvPr/>
        </p:nvSpPr>
        <p:spPr>
          <a:xfrm>
            <a:off x="2544300" y="6256074"/>
            <a:ext cx="1461029"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338"/>
                </a:solidFill>
                <a:latin typeface="Carlito" pitchFamily="34" charset="0"/>
                <a:ea typeface="Carlito" pitchFamily="34" charset="-122"/>
                <a:cs typeface="Carlito" pitchFamily="34" charset="-120"/>
              </a:rPr>
              <a:t>Approval or sign-off</a:t>
            </a:r>
            <a:endParaRPr lang="en-US" sz="1200" dirty="0"/>
          </a:p>
        </p:txBody>
      </p:sp>
      <p:sp>
        <p:nvSpPr>
          <p:cNvPr id="73" name="Shape 58"/>
          <p:cNvSpPr/>
          <p:nvPr/>
        </p:nvSpPr>
        <p:spPr>
          <a:xfrm>
            <a:off x="4123598" y="6286567"/>
            <a:ext cx="241300" cy="152334"/>
          </a:xfrm>
          <a:prstGeom prst="roundRect">
            <a:avLst>
              <a:gd name="adj" fmla="val 20842"/>
            </a:avLst>
          </a:prstGeom>
          <a:solidFill>
            <a:srgbClr val="FFFEFB"/>
          </a:solidFill>
          <a:ln w="12700">
            <a:solidFill>
              <a:srgbClr val="B8B1A1"/>
            </a:solidFill>
            <a:prstDash val="dash"/>
          </a:ln>
        </p:spPr>
      </p:sp>
      <p:sp>
        <p:nvSpPr>
          <p:cNvPr id="74" name="Text 59"/>
          <p:cNvSpPr/>
          <p:nvPr/>
        </p:nvSpPr>
        <p:spPr>
          <a:xfrm>
            <a:off x="4472782" y="6256074"/>
            <a:ext cx="1102651"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338"/>
                </a:solidFill>
                <a:latin typeface="Carlito" pitchFamily="34" charset="0"/>
                <a:ea typeface="Carlito" pitchFamily="34" charset="-122"/>
                <a:cs typeface="Carlito" pitchFamily="34" charset="-120"/>
              </a:rPr>
              <a:t>Exception path</a:t>
            </a:r>
            <a:endParaRPr lang="en-US" sz="1200" dirty="0"/>
          </a:p>
        </p:txBody>
      </p:sp>
      <p:sp>
        <p:nvSpPr>
          <p:cNvPr id="75" name="Text 60"/>
          <p:cNvSpPr/>
          <p:nvPr/>
        </p:nvSpPr>
        <p:spPr>
          <a:xfrm>
            <a:off x="5747081" y="6256074"/>
            <a:ext cx="2307564" cy="23861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F5C99"/>
                </a:solidFill>
                <a:latin typeface="Carlito" pitchFamily="34" charset="0"/>
                <a:ea typeface="Carlito" pitchFamily="34" charset="-122"/>
                <a:cs typeface="Carlito" pitchFamily="34" charset="-120"/>
              </a:rPr>
              <a:t>Blue italic: what is handed over</a:t>
            </a:r>
            <a:endParaRPr lang="en-US" sz="1200" dirty="0"/>
          </a:p>
        </p:txBody>
      </p:sp>
      <p:sp>
        <p:nvSpPr>
          <p:cNvPr id="76" name="Text 61"/>
          <p:cNvSpPr/>
          <p:nvPr/>
        </p:nvSpPr>
        <p:spPr>
          <a:xfrm>
            <a:off x="8733812" y="6238435"/>
            <a:ext cx="274701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066"/>
                </a:solidFill>
                <a:latin typeface="Carlito" pitchFamily="34" charset="0"/>
                <a:ea typeface="Carlito" pitchFamily="34" charset="-122"/>
                <a:cs typeface="Carlito" pitchFamily="34" charset="-120"/>
              </a:rPr>
              <a:t>Office of Data Governance | 3</a:t>
            </a:r>
            <a:endParaRPr lang="en-US" sz="1200" dirty="0"/>
          </a:p>
        </p:txBody>
      </p:sp>
    </p:spTree>
  </p:cSld>
  <p:clrMapOvr>
    <a:masterClrMapping/>
  </p:clrMapOvr>
</p:sld>
</file>

<file path=ppt/theme/theme1.xml><?xml version="1.0" encoding="utf-8"?>
<a:theme xmlns:a="http://schemas.openxmlformats.org/drawingml/2006/main" name="File Share Disposition Workflow">
  <a:themeElements>
    <a:clrScheme name="File Share Disposition Workflow">
      <a:dk1>
        <a:srgbClr val="2E3338"/>
      </a:dk1>
      <a:lt1>
        <a:srgbClr val="F6F5F1"/>
      </a:lt1>
      <a:dk2>
        <a:srgbClr val="606466"/>
      </a:dk2>
      <a:lt2>
        <a:srgbClr val="E2E2DF"/>
      </a:lt2>
      <a:accent1>
        <a:srgbClr val="FFC72C"/>
      </a:accent1>
      <a:accent2>
        <a:srgbClr val="1F5C99"/>
      </a:accent2>
      <a:accent3>
        <a:srgbClr val="FFF3CC"/>
      </a:accent3>
      <a:accent4>
        <a:srgbClr val="FFE38A"/>
      </a:accent4>
      <a:accent5>
        <a:srgbClr val="5A6066"/>
      </a:accent5>
      <a:accent6>
        <a:srgbClr val="D3D6D9"/>
      </a:accent6>
      <a:hlink>
        <a:srgbClr val="0563C1"/>
      </a:hlink>
      <a:folHlink>
        <a:srgbClr val="954F72"/>
      </a:folHlink>
    </a:clrScheme>
    <a:fontScheme name="File Share Disposition Workflow">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 Share Disposition Workflow</dc:title>
  <dc:subject/>
  <dc:creator/>
  <cp:lastModifiedBy/>
  <cp:revision>1</cp:revision>
  <dcterms:created xsi:type="dcterms:W3CDTF">2026-10-23T18:09:31Z</dcterms:created>
  <dcterms:modified xsi:type="dcterms:W3CDTF">2026-10-23T18:09:31Z</dcterms:modified>
</cp:coreProperties>
</file>