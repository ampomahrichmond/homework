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RIM executive's lens, not ours. Their priorities are defensibility, the schedule as the single authority, hold integrity, consistent application of policy, and showing measurable risk reduction with business accountability. Ad hoc cleanups create spoliation and inconsistency risk; a programmatic, documented process removes it. The split is simple: DRD owns the work that produces proof (validation, documentation, reporting). RIM owns the authority that makes the proof meaningful (policy, holds, business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phases, then down the lanes. The top lane is the RIM ask: in each phase RIM provides one decision or input that only RIM can give. The bottom lane is DRD's commitment: we do the configuration, validation, documentation and reporting. Phase 1 matters most to RIM: the schedule must be translated into BigID rules faithfully, and event-based classes like 10 years after End of Relationship need an event date from the system of record, not the file date. Phase 4 is where RIM's sponsorship counts: Data Owners must attest, and silence is not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DRD's commitment. Validation proves eligibility before and removal after. BigID saying "deleted" is not enough on its own, so we triangulate the action log, a fresh rescan and IT Storage's own view, and we track snapshot and backup copies until they age out. Documentation gives every batch an evidence pack ending in a certificate of disposition. Reporting gives RIM a monthly view of progress and exceptions and a quarterly pack ready for audit. Close on the four decisions: with them we can run the pilot share; without them the defensibility case is incomplete. The sampling tolerance is a placeholder to agree on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2E323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12" y="1120070"/>
            <a:ext cx="10566577" cy="426751"/>
          </a:xfrm>
          <a:prstGeom prst="rect">
            <a:avLst/>
          </a:prstGeom>
          <a:noFill/>
          <a:ln/>
        </p:spPr>
        <p:txBody>
          <a:bodyPr wrap="square" lIns="0" tIns="0" rIns="0" bIns="0" rtlCol="0" anchor="t"/>
          <a:lstStyle>
            <a:lvl1pPr algn="l" indent="0" marL="0">
              <a:lnSpc>
                <a:spcPct val="110000"/>
              </a:lnSpc>
              <a:buNone/>
              <a:defRPr lang="en-US" sz="2800" dirty="0">
                <a:solidFill>
                  <a:srgbClr val="F7F5EF"/>
                </a:solidFill>
                <a:latin typeface="Libre Baskerville" pitchFamily="34" charset="0"/>
                <a:ea typeface="Libre Baskerville" pitchFamily="34" charset="-122"/>
                <a:cs typeface="Libre Baskerville" pitchFamily="34" charset="-120"/>
              </a:defRPr>
            </a:lvl1pPr>
          </a:lstStyle>
          <a:p>
            <a:pPr algn="l" indent="0" marL="0">
              <a:lnSpc>
                <a:spcPct val="110000"/>
              </a:lnSpc>
              <a:buNone/>
            </a:pPr>
            <a:endParaRPr lang="en-US" sz="2800" dirty="0"/>
          </a:p>
        </p:txBody>
      </p:sp>
      <p:sp>
        <p:nvSpPr>
          <p:cNvPr id="3" name="Text Placeholder 2"/>
          <p:cNvSpPr/>
          <p:nvPr>
            <p:ph idx="101" type="body"/>
          </p:nvPr>
        </p:nvSpPr>
        <p:spPr>
          <a:xfrm>
            <a:off x="812712" y="1851620"/>
            <a:ext cx="10566488" cy="4193580"/>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E323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12" y="1120070"/>
            <a:ext cx="10566577" cy="426751"/>
          </a:xfrm>
          <a:prstGeom prst="rect">
            <a:avLst/>
          </a:prstGeom>
          <a:noFill/>
          <a:ln/>
        </p:spPr>
        <p:txBody>
          <a:bodyPr wrap="square" lIns="0" tIns="0" rIns="0" bIns="0" rtlCol="0" anchor="t"/>
          <a:lstStyle>
            <a:lvl1pPr algn="l" indent="0" marL="0">
              <a:lnSpc>
                <a:spcPct val="110000"/>
              </a:lnSpc>
              <a:buNone/>
              <a:defRPr lang="en-US" sz="2800" dirty="0">
                <a:solidFill>
                  <a:srgbClr val="F7F5EF"/>
                </a:solidFill>
                <a:latin typeface="Libre Baskerville" pitchFamily="34" charset="0"/>
                <a:ea typeface="Libre Baskerville" pitchFamily="34" charset="-122"/>
                <a:cs typeface="Libre Baskerville" pitchFamily="34" charset="-120"/>
              </a:defRPr>
            </a:lvl1pPr>
          </a:lstStyle>
          <a:p>
            <a:pPr algn="l" indent="0" marL="0">
              <a:lnSpc>
                <a:spcPct val="110000"/>
              </a:lnSpc>
              <a:buNone/>
            </a:pPr>
            <a:endParaRPr lang="en-US" sz="2800" dirty="0"/>
          </a:p>
        </p:txBody>
      </p:sp>
      <p:sp>
        <p:nvSpPr>
          <p:cNvPr id="3" name="Text Placeholder 2"/>
          <p:cNvSpPr/>
          <p:nvPr>
            <p:ph idx="101" type="body"/>
          </p:nvPr>
        </p:nvSpPr>
        <p:spPr>
          <a:xfrm>
            <a:off x="812712" y="1851620"/>
            <a:ext cx="10566488" cy="4193580"/>
          </a:xfrm>
          <a:prstGeom prst="rect">
            <a:avLst/>
          </a:prstGeom>
          <a:noFill/>
          <a:ln/>
        </p:spPr>
        <p:txBody>
          <a:bodyPr wrap="square" lIns="0" tIns="0" rIns="0" bIns="0" rtlCol="0" anchor="t"/>
          <a:lstStyle>
            <a:lvl1pPr algn="l" indent="0" marL="0">
              <a:lnSpc>
                <a:spcPct val="140000"/>
              </a:lnSpc>
              <a:buNone/>
              <a:defRPr lang="en-US" sz="1600" dirty="0">
                <a:solidFill>
                  <a:srgbClr val="F7F5EF"/>
                </a:solidFill>
                <a:latin typeface="Carlito" pitchFamily="34" charset="0"/>
                <a:ea typeface="Carlito" pitchFamily="34" charset="-122"/>
                <a:cs typeface="Carlit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238"/>
        </a:solidFill>
      </p:bgPr>
    </p:bg>
    <p:spTree>
      <p:nvGrpSpPr>
        <p:cNvPr id="1" name=""/>
        <p:cNvGrpSpPr/>
        <p:nvPr/>
      </p:nvGrpSpPr>
      <p:grpSpPr>
        <a:xfrm>
          <a:off x="0" y="0"/>
          <a:ext cx="0" cy="0"/>
          <a:chOff x="0" y="0"/>
          <a:chExt cx="0" cy="0"/>
        </a:xfrm>
      </p:grpSpPr>
      <p:sp>
        <p:nvSpPr>
          <p:cNvPr id="2" name="Shape 0"/>
          <p:cNvSpPr/>
          <p:nvPr/>
        </p:nvSpPr>
        <p:spPr>
          <a:xfrm>
            <a:off x="0" y="0"/>
            <a:ext cx="152356" cy="6858000"/>
          </a:xfrm>
          <a:prstGeom prst="rect">
            <a:avLst/>
          </a:prstGeom>
          <a:solidFill>
            <a:srgbClr val="FFC72C"/>
          </a:solidFill>
          <a:ln/>
        </p:spPr>
      </p:sp>
      <p:sp>
        <p:nvSpPr>
          <p:cNvPr id="3" name="Text 1"/>
          <p:cNvSpPr/>
          <p:nvPr/>
        </p:nvSpPr>
        <p:spPr>
          <a:xfrm>
            <a:off x="812712" y="812712"/>
            <a:ext cx="10883574" cy="2565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FC72C"/>
                </a:solidFill>
                <a:latin typeface="Carlito" pitchFamily="34" charset="0"/>
                <a:ea typeface="Carlito" pitchFamily="34" charset="-122"/>
                <a:cs typeface="Carlito" pitchFamily="34" charset="-120"/>
              </a:rPr>
              <a:t>NAS &amp; SHARED DRIVE DISPOSITION · STRATEGY</a:t>
            </a:r>
            <a:endParaRPr lang="en-US" sz="1300" dirty="0"/>
          </a:p>
        </p:txBody>
      </p:sp>
      <p:sp>
        <p:nvSpPr>
          <p:cNvPr id="4" name="Text 2"/>
          <p:cNvSpPr/>
          <p:nvPr>
            <p:ph type="title"/>
          </p:nvPr>
        </p:nvSpPr>
        <p:spPr>
          <a:xfrm>
            <a:off x="812712" y="1120070"/>
            <a:ext cx="10883574" cy="452151"/>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7F5EF"/>
                </a:solidFill>
                <a:latin typeface="Libre Baskerville" pitchFamily="18" charset="0"/>
                <a:ea typeface="Libre Baskerville" pitchFamily="18" charset="-122"/>
                <a:cs typeface="Libre Baskerville" pitchFamily="18" charset="-120"/>
              </a:rPr>
              <a:t>One disposition process, two accountabilities</a:t>
            </a:r>
            <a:endParaRPr lang="en-US" sz="2800" dirty="0"/>
          </a:p>
        </p:txBody>
      </p:sp>
      <p:sp>
        <p:nvSpPr>
          <p:cNvPr id="5" name="Shape 3"/>
          <p:cNvSpPr/>
          <p:nvPr/>
        </p:nvSpPr>
        <p:spPr>
          <a:xfrm>
            <a:off x="812712" y="1775354"/>
            <a:ext cx="6169643" cy="4066646"/>
          </a:xfrm>
          <a:prstGeom prst="roundRect">
            <a:avLst>
              <a:gd name="adj" fmla="val 2498"/>
            </a:avLst>
          </a:prstGeom>
          <a:solidFill>
            <a:srgbClr val="3A3F46"/>
          </a:solidFill>
          <a:ln/>
        </p:spPr>
      </p:sp>
      <p:sp>
        <p:nvSpPr>
          <p:cNvPr id="6" name="Text 4"/>
          <p:cNvSpPr/>
          <p:nvPr/>
        </p:nvSpPr>
        <p:spPr>
          <a:xfrm>
            <a:off x="1066712" y="2003888"/>
            <a:ext cx="5831492"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C72C"/>
                </a:solidFill>
                <a:latin typeface="Carlito" pitchFamily="34" charset="0"/>
                <a:ea typeface="Carlito" pitchFamily="34" charset="-122"/>
                <a:cs typeface="Carlito" pitchFamily="34" charset="-120"/>
              </a:rPr>
              <a:t>What the RIM executive needs to be true</a:t>
            </a:r>
            <a:endParaRPr lang="en-US" sz="1500" dirty="0"/>
          </a:p>
        </p:txBody>
      </p:sp>
      <p:sp>
        <p:nvSpPr>
          <p:cNvPr id="7" name="Text 5"/>
          <p:cNvSpPr/>
          <p:nvPr/>
        </p:nvSpPr>
        <p:spPr>
          <a:xfrm>
            <a:off x="1066712" y="2333956"/>
            <a:ext cx="5831492"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F7F5EF"/>
                </a:solidFill>
                <a:latin typeface="Carlito" pitchFamily="34" charset="0"/>
                <a:ea typeface="Carlito" pitchFamily="34" charset="-122"/>
                <a:cs typeface="Carlito" pitchFamily="34" charset="-120"/>
              </a:rPr>
              <a:t>Defensible.</a:t>
            </a:r>
            <a:r>
              <a:rPr lang="en-US" sz="1250" dirty="0">
                <a:solidFill>
                  <a:srgbClr val="E4E6E9"/>
                </a:solidFill>
                <a:latin typeface="Carlito" pitchFamily="34" charset="0"/>
                <a:ea typeface="Carlito" pitchFamily="34" charset="-122"/>
                <a:cs typeface="Carlito" pitchFamily="34" charset="-120"/>
              </a:rPr>
              <a:t> Every deletion traces to an approved schedule and a named approver, and holds up to a regulator, auditor or litigant.</a:t>
            </a:r>
            <a:endParaRPr lang="en-US" sz="1250" dirty="0"/>
          </a:p>
        </p:txBody>
      </p:sp>
      <p:sp>
        <p:nvSpPr>
          <p:cNvPr id="8" name="Text 6"/>
          <p:cNvSpPr/>
          <p:nvPr/>
        </p:nvSpPr>
        <p:spPr>
          <a:xfrm>
            <a:off x="1066712" y="2864115"/>
            <a:ext cx="5831492"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F7F5EF"/>
                </a:solidFill>
                <a:latin typeface="Carlito" pitchFamily="34" charset="0"/>
                <a:ea typeface="Carlito" pitchFamily="34" charset="-122"/>
                <a:cs typeface="Carlito" pitchFamily="34" charset="-120"/>
              </a:rPr>
              <a:t>The schedule is the authority.</a:t>
            </a:r>
            <a:r>
              <a:rPr lang="en-US" sz="1250" dirty="0">
                <a:solidFill>
                  <a:srgbClr val="E4E6E9"/>
                </a:solidFill>
                <a:latin typeface="Carlito" pitchFamily="34" charset="0"/>
                <a:ea typeface="Carlito" pitchFamily="34" charset="-122"/>
                <a:cs typeface="Carlito" pitchFamily="34" charset="-120"/>
              </a:rPr>
              <a:t> BigID rules reflect the retention schedule exactly; the tool never sets policy.</a:t>
            </a:r>
            <a:endParaRPr lang="en-US" sz="1250" dirty="0"/>
          </a:p>
        </p:txBody>
      </p:sp>
      <p:sp>
        <p:nvSpPr>
          <p:cNvPr id="9" name="Text 7"/>
          <p:cNvSpPr/>
          <p:nvPr/>
        </p:nvSpPr>
        <p:spPr>
          <a:xfrm>
            <a:off x="1066712" y="3394273"/>
            <a:ext cx="5831492"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F7F5EF"/>
                </a:solidFill>
                <a:latin typeface="Carlito" pitchFamily="34" charset="0"/>
                <a:ea typeface="Carlito" pitchFamily="34" charset="-122"/>
                <a:cs typeface="Carlito" pitchFamily="34" charset="-120"/>
              </a:rPr>
              <a:t>Holds are never breached.</a:t>
            </a:r>
            <a:r>
              <a:rPr lang="en-US" sz="1250" dirty="0">
                <a:solidFill>
                  <a:srgbClr val="E4E6E9"/>
                </a:solidFill>
                <a:latin typeface="Carlito" pitchFamily="34" charset="0"/>
                <a:ea typeface="Carlito" pitchFamily="34" charset="-122"/>
                <a:cs typeface="Carlito" pitchFamily="34" charset="-120"/>
              </a:rPr>
              <a:t> Nothing under legal hold, audit or regulatory request is touched.</a:t>
            </a:r>
            <a:endParaRPr lang="en-US" sz="1250" dirty="0"/>
          </a:p>
        </p:txBody>
      </p:sp>
      <p:sp>
        <p:nvSpPr>
          <p:cNvPr id="10" name="Text 8"/>
          <p:cNvSpPr/>
          <p:nvPr/>
        </p:nvSpPr>
        <p:spPr>
          <a:xfrm>
            <a:off x="1066712" y="3924433"/>
            <a:ext cx="5831492"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F7F5EF"/>
                </a:solidFill>
                <a:latin typeface="Carlito" pitchFamily="34" charset="0"/>
                <a:ea typeface="Carlito" pitchFamily="34" charset="-122"/>
                <a:cs typeface="Carlito" pitchFamily="34" charset="-120"/>
              </a:rPr>
              <a:t>Consistent, not ad hoc.</a:t>
            </a:r>
            <a:r>
              <a:rPr lang="en-US" sz="1250" dirty="0">
                <a:solidFill>
                  <a:srgbClr val="E4E6E9"/>
                </a:solidFill>
                <a:latin typeface="Carlito" pitchFamily="34" charset="0"/>
                <a:ea typeface="Carlito" pitchFamily="34" charset="-122"/>
                <a:cs typeface="Carlito" pitchFamily="34" charset="-120"/>
              </a:rPr>
              <a:t> Policy is applied the same way on every share, not as one-off cleanups.</a:t>
            </a:r>
            <a:endParaRPr lang="en-US" sz="1250" dirty="0"/>
          </a:p>
        </p:txBody>
      </p:sp>
      <p:sp>
        <p:nvSpPr>
          <p:cNvPr id="11" name="Text 9"/>
          <p:cNvSpPr/>
          <p:nvPr/>
        </p:nvSpPr>
        <p:spPr>
          <a:xfrm>
            <a:off x="1066712" y="4454591"/>
            <a:ext cx="5831492" cy="454025"/>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F7F5EF"/>
                </a:solidFill>
                <a:latin typeface="Carlito" pitchFamily="34" charset="0"/>
                <a:ea typeface="Carlito" pitchFamily="34" charset="-122"/>
                <a:cs typeface="Carlito" pitchFamily="34" charset="-120"/>
              </a:rPr>
              <a:t>Measurable risk reduction.</a:t>
            </a:r>
            <a:r>
              <a:rPr lang="en-US" sz="1250" dirty="0">
                <a:solidFill>
                  <a:srgbClr val="E4E6E9"/>
                </a:solidFill>
                <a:latin typeface="Carlito" pitchFamily="34" charset="0"/>
                <a:ea typeface="Carlito" pitchFamily="34" charset="-122"/>
                <a:cs typeface="Carlito" pitchFamily="34" charset="-120"/>
              </a:rPr>
              <a:t> The business is accountable, and results are reported as risk retired, not just terabytes freed.</a:t>
            </a:r>
            <a:endParaRPr lang="en-US" sz="1250" dirty="0"/>
          </a:p>
        </p:txBody>
      </p:sp>
      <p:sp>
        <p:nvSpPr>
          <p:cNvPr id="12" name="Shape 10"/>
          <p:cNvSpPr/>
          <p:nvPr/>
        </p:nvSpPr>
        <p:spPr>
          <a:xfrm>
            <a:off x="7185533" y="1775354"/>
            <a:ext cx="4193756" cy="1754629"/>
          </a:xfrm>
          <a:prstGeom prst="roundRect">
            <a:avLst>
              <a:gd name="adj" fmla="val 5790"/>
            </a:avLst>
          </a:prstGeom>
          <a:solidFill>
            <a:srgbClr val="FFC72C"/>
          </a:solidFill>
          <a:ln/>
        </p:spPr>
      </p:sp>
      <p:sp>
        <p:nvSpPr>
          <p:cNvPr id="13" name="Text 11"/>
          <p:cNvSpPr/>
          <p:nvPr/>
        </p:nvSpPr>
        <p:spPr>
          <a:xfrm>
            <a:off x="7414066" y="1978532"/>
            <a:ext cx="3848789"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3238"/>
                </a:solidFill>
                <a:latin typeface="Carlito" pitchFamily="34" charset="0"/>
                <a:ea typeface="Carlito" pitchFamily="34" charset="-122"/>
                <a:cs typeface="Carlito" pitchFamily="34" charset="-120"/>
              </a:rPr>
              <a:t>DRD OWNS &amp; DELIVERS</a:t>
            </a:r>
            <a:endParaRPr lang="en-US" sz="1200" dirty="0"/>
          </a:p>
        </p:txBody>
      </p:sp>
      <p:sp>
        <p:nvSpPr>
          <p:cNvPr id="14" name="Text 12"/>
          <p:cNvSpPr/>
          <p:nvPr/>
        </p:nvSpPr>
        <p:spPr>
          <a:xfrm>
            <a:off x="7414066" y="2267920"/>
            <a:ext cx="3848789"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E3238"/>
                </a:solidFill>
                <a:latin typeface="Libre Baskerville" pitchFamily="18" charset="0"/>
                <a:ea typeface="Libre Baskerville" pitchFamily="18" charset="-122"/>
                <a:cs typeface="Libre Baskerville" pitchFamily="18" charset="-120"/>
              </a:rPr>
              <a:t>Validation · Documentation · Reporting</a:t>
            </a:r>
            <a:endParaRPr lang="en-US" sz="1800" dirty="0"/>
          </a:p>
        </p:txBody>
      </p:sp>
      <p:sp>
        <p:nvSpPr>
          <p:cNvPr id="15" name="Text 13"/>
          <p:cNvSpPr/>
          <p:nvPr/>
        </p:nvSpPr>
        <p:spPr>
          <a:xfrm>
            <a:off x="7414066" y="2915598"/>
            <a:ext cx="384878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Proof that files are eligible before removal and gone after, an evidence pack per batch, and regular reporting to RIM.</a:t>
            </a:r>
            <a:endParaRPr lang="en-US" sz="1200" dirty="0"/>
          </a:p>
        </p:txBody>
      </p:sp>
      <p:sp>
        <p:nvSpPr>
          <p:cNvPr id="16" name="Shape 14"/>
          <p:cNvSpPr/>
          <p:nvPr/>
        </p:nvSpPr>
        <p:spPr>
          <a:xfrm>
            <a:off x="7185533" y="3656983"/>
            <a:ext cx="4193756" cy="1754629"/>
          </a:xfrm>
          <a:prstGeom prst="roundRect">
            <a:avLst>
              <a:gd name="adj" fmla="val 5790"/>
            </a:avLst>
          </a:prstGeom>
          <a:solidFill>
            <a:srgbClr val="F7F5EF"/>
          </a:solidFill>
          <a:ln/>
        </p:spPr>
      </p:sp>
      <p:sp>
        <p:nvSpPr>
          <p:cNvPr id="17" name="Text 15"/>
          <p:cNvSpPr/>
          <p:nvPr/>
        </p:nvSpPr>
        <p:spPr>
          <a:xfrm>
            <a:off x="7414066" y="3860161"/>
            <a:ext cx="3848789" cy="2386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400"/>
                </a:solidFill>
                <a:latin typeface="Carlito" pitchFamily="34" charset="0"/>
                <a:ea typeface="Carlito" pitchFamily="34" charset="-122"/>
                <a:cs typeface="Carlito" pitchFamily="34" charset="-120"/>
              </a:rPr>
              <a:t>RIM ENABLES &amp; AUTHORIZES</a:t>
            </a:r>
            <a:endParaRPr lang="en-US" sz="1200" dirty="0"/>
          </a:p>
        </p:txBody>
      </p:sp>
      <p:sp>
        <p:nvSpPr>
          <p:cNvPr id="18" name="Text 16"/>
          <p:cNvSpPr/>
          <p:nvPr/>
        </p:nvSpPr>
        <p:spPr>
          <a:xfrm>
            <a:off x="7414066" y="4149549"/>
            <a:ext cx="3848789"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E3238"/>
                </a:solidFill>
                <a:latin typeface="Libre Baskerville" pitchFamily="18" charset="0"/>
                <a:ea typeface="Libre Baskerville" pitchFamily="18" charset="-122"/>
                <a:cs typeface="Libre Baskerville" pitchFamily="18" charset="-120"/>
              </a:rPr>
              <a:t>Policy · Holds · Business sign-off</a:t>
            </a:r>
            <a:endParaRPr lang="en-US" sz="1800" dirty="0"/>
          </a:p>
        </p:txBody>
      </p:sp>
      <p:sp>
        <p:nvSpPr>
          <p:cNvPr id="19" name="Text 17"/>
          <p:cNvSpPr/>
          <p:nvPr/>
        </p:nvSpPr>
        <p:spPr>
          <a:xfrm>
            <a:off x="7414066" y="4797227"/>
            <a:ext cx="3848789" cy="43660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0555C"/>
                </a:solidFill>
                <a:latin typeface="Carlito" pitchFamily="34" charset="0"/>
                <a:ea typeface="Carlito" pitchFamily="34" charset="-122"/>
                <a:cs typeface="Carlito" pitchFamily="34" charset="-120"/>
              </a:rPr>
              <a:t>Schedule interpretation, the legal hold link, tolerance and exception policy, and Data Owner sponsorship.</a:t>
            </a:r>
            <a:endParaRPr lang="en-US" sz="1200" dirty="0"/>
          </a:p>
        </p:txBody>
      </p:sp>
      <p:sp>
        <p:nvSpPr>
          <p:cNvPr id="20" name="Text 18"/>
          <p:cNvSpPr/>
          <p:nvPr/>
        </p:nvSpPr>
        <p:spPr>
          <a:xfrm>
            <a:off x="812712" y="6238434"/>
            <a:ext cx="784860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A1A8"/>
                </a:solidFill>
                <a:latin typeface="Carlito" pitchFamily="34" charset="0"/>
                <a:ea typeface="Carlito" pitchFamily="34" charset="-122"/>
                <a:cs typeface="Carlito" pitchFamily="34" charset="-120"/>
              </a:rPr>
              <a:t>Data Retention &amp; Disposition · Office of Data Governance · BigID-enabled</a:t>
            </a:r>
            <a:endParaRPr lang="en-US" sz="1200" dirty="0"/>
          </a:p>
        </p:txBody>
      </p:sp>
      <p:sp>
        <p:nvSpPr>
          <p:cNvPr id="21" name="Text 19"/>
          <p:cNvSpPr/>
          <p:nvPr/>
        </p:nvSpPr>
        <p:spPr>
          <a:xfrm>
            <a:off x="10058488" y="6238434"/>
            <a:ext cx="1320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CA1A8"/>
                </a:solidFill>
                <a:latin typeface="Carlito" pitchFamily="34" charset="0"/>
                <a:ea typeface="Carlito" pitchFamily="34" charset="-122"/>
                <a:cs typeface="Carlito"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2"/>
        </a:solidFill>
      </p:bgPr>
    </p:bg>
    <p:spTree>
      <p:nvGrpSpPr>
        <p:cNvPr id="1" name=""/>
        <p:cNvGrpSpPr/>
        <p:nvPr/>
      </p:nvGrpSpPr>
      <p:grpSpPr>
        <a:xfrm>
          <a:off x="0" y="0"/>
          <a:ext cx="0" cy="0"/>
          <a:chOff x="0" y="0"/>
          <a:chExt cx="0" cy="0"/>
        </a:xfrm>
      </p:grpSpPr>
      <p:sp>
        <p:nvSpPr>
          <p:cNvPr id="2" name="Text 0"/>
          <p:cNvSpPr/>
          <p:nvPr/>
        </p:nvSpPr>
        <p:spPr>
          <a:xfrm>
            <a:off x="812712" y="812712"/>
            <a:ext cx="10883574" cy="2565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400"/>
                </a:solidFill>
                <a:latin typeface="Carlito" pitchFamily="34" charset="0"/>
                <a:ea typeface="Carlito" pitchFamily="34" charset="-122"/>
                <a:cs typeface="Carlito" pitchFamily="34" charset="-120"/>
              </a:rPr>
              <a:t>OPERATING MODEL</a:t>
            </a:r>
            <a:endParaRPr lang="en-US" sz="1300" dirty="0"/>
          </a:p>
        </p:txBody>
      </p:sp>
      <p:sp>
        <p:nvSpPr>
          <p:cNvPr id="3" name="Text 1"/>
          <p:cNvSpPr/>
          <p:nvPr>
            <p:ph type="title"/>
          </p:nvPr>
        </p:nvSpPr>
        <p:spPr>
          <a:xfrm>
            <a:off x="812712" y="1107392"/>
            <a:ext cx="10883574" cy="405077"/>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E3238"/>
                </a:solidFill>
                <a:latin typeface="Libre Baskerville" pitchFamily="18" charset="0"/>
                <a:ea typeface="Libre Baskerville" pitchFamily="18" charset="-122"/>
                <a:cs typeface="Libre Baskerville" pitchFamily="18" charset="-120"/>
              </a:rPr>
              <a:t>Five phases, two lanes: who does what</a:t>
            </a:r>
            <a:endParaRPr lang="en-US" sz="2600" dirty="0"/>
          </a:p>
        </p:txBody>
      </p:sp>
      <p:sp>
        <p:nvSpPr>
          <p:cNvPr id="4" name="Text 2"/>
          <p:cNvSpPr/>
          <p:nvPr/>
        </p:nvSpPr>
        <p:spPr>
          <a:xfrm>
            <a:off x="812712" y="1664781"/>
            <a:ext cx="1270000" cy="662671"/>
          </a:xfrm>
          <a:prstGeom prst="roundRect">
            <a:avLst>
              <a:gd name="adj" fmla="val 9582"/>
            </a:avLst>
          </a:prstGeom>
          <a:solidFill>
            <a:srgbClr val="2E3238"/>
          </a:solidFill>
          <a:ln/>
        </p:spPr>
        <p:txBody>
          <a:bodyPr wrap="square" lIns="95701" tIns="70301" rIns="44901" bIns="44901" rtlCol="0" anchor="t">
            <a:normAutofit/>
          </a:bodyPr>
          <a:lstStyle/>
          <a:p>
            <a:pPr algn="l" indent="0" marL="0">
              <a:lnSpc>
                <a:spcPts val="1560"/>
              </a:lnSpc>
              <a:buNone/>
            </a:pPr>
            <a:r>
              <a:rPr lang="en-US" sz="1300" b="1" dirty="0">
                <a:solidFill>
                  <a:srgbClr val="F7F5EF"/>
                </a:solidFill>
                <a:latin typeface="Carlito" pitchFamily="34" charset="0"/>
                <a:ea typeface="Carlito" pitchFamily="34" charset="-122"/>
                <a:cs typeface="Carlito" pitchFamily="34" charset="-120"/>
              </a:rPr>
              <a:t>1 · Define rules</a:t>
            </a:r>
            <a:endParaRPr lang="en-US" sz="1300" dirty="0"/>
          </a:p>
        </p:txBody>
      </p:sp>
      <p:sp>
        <p:nvSpPr>
          <p:cNvPr id="5" name="Text 3"/>
          <p:cNvSpPr/>
          <p:nvPr/>
        </p:nvSpPr>
        <p:spPr>
          <a:xfrm>
            <a:off x="2171568" y="1664781"/>
            <a:ext cx="1770393" cy="662671"/>
          </a:xfrm>
          <a:prstGeom prst="roundRect">
            <a:avLst>
              <a:gd name="adj" fmla="val 9582"/>
            </a:avLst>
          </a:prstGeom>
          <a:solidFill>
            <a:srgbClr val="2E3238"/>
          </a:solidFill>
          <a:ln/>
        </p:spPr>
        <p:txBody>
          <a:bodyPr wrap="square" lIns="95701" tIns="70301" rIns="44901" bIns="44901" rtlCol="0" anchor="t">
            <a:normAutofit/>
          </a:bodyPr>
          <a:lstStyle/>
          <a:p>
            <a:pPr algn="l" indent="0" marL="0">
              <a:lnSpc>
                <a:spcPts val="1560"/>
              </a:lnSpc>
              <a:buNone/>
            </a:pPr>
            <a:r>
              <a:rPr lang="en-US" sz="1300" b="1" dirty="0">
                <a:solidFill>
                  <a:srgbClr val="F7F5EF"/>
                </a:solidFill>
                <a:latin typeface="Carlito" pitchFamily="34" charset="0"/>
                <a:ea typeface="Carlito" pitchFamily="34" charset="-122"/>
                <a:cs typeface="Carlito" pitchFamily="34" charset="-120"/>
              </a:rPr>
              <a:t>2 · Identify</a:t>
            </a:r>
            <a:endParaRPr lang="en-US" sz="1300" dirty="0"/>
          </a:p>
        </p:txBody>
      </p:sp>
      <p:sp>
        <p:nvSpPr>
          <p:cNvPr id="6" name="Text 4"/>
          <p:cNvSpPr/>
          <p:nvPr/>
        </p:nvSpPr>
        <p:spPr>
          <a:xfrm>
            <a:off x="4030817" y="1664781"/>
            <a:ext cx="1770504" cy="662671"/>
          </a:xfrm>
          <a:prstGeom prst="roundRect">
            <a:avLst>
              <a:gd name="adj" fmla="val 9582"/>
            </a:avLst>
          </a:prstGeom>
          <a:solidFill>
            <a:srgbClr val="2E3238"/>
          </a:solidFill>
          <a:ln/>
        </p:spPr>
        <p:txBody>
          <a:bodyPr wrap="square" lIns="95701" tIns="70301" rIns="44901" bIns="44901" rtlCol="0" anchor="t">
            <a:normAutofit/>
          </a:bodyPr>
          <a:lstStyle/>
          <a:p>
            <a:pPr algn="l" indent="0" marL="0">
              <a:lnSpc>
                <a:spcPts val="1560"/>
              </a:lnSpc>
              <a:buNone/>
            </a:pPr>
            <a:r>
              <a:rPr lang="en-US" sz="1300" b="1" dirty="0">
                <a:solidFill>
                  <a:srgbClr val="F7F5EF"/>
                </a:solidFill>
                <a:latin typeface="Carlito" pitchFamily="34" charset="0"/>
                <a:ea typeface="Carlito" pitchFamily="34" charset="-122"/>
                <a:cs typeface="Carlito" pitchFamily="34" charset="-120"/>
              </a:rPr>
              <a:t>3 · Validate</a:t>
            </a:r>
            <a:endParaRPr lang="en-US" sz="1300" dirty="0"/>
          </a:p>
        </p:txBody>
      </p:sp>
      <p:sp>
        <p:nvSpPr>
          <p:cNvPr id="7" name="Text 5"/>
          <p:cNvSpPr/>
          <p:nvPr/>
        </p:nvSpPr>
        <p:spPr>
          <a:xfrm>
            <a:off x="5890177" y="1664781"/>
            <a:ext cx="1770393" cy="662671"/>
          </a:xfrm>
          <a:prstGeom prst="roundRect">
            <a:avLst>
              <a:gd name="adj" fmla="val 9582"/>
            </a:avLst>
          </a:prstGeom>
          <a:solidFill>
            <a:srgbClr val="2E3238"/>
          </a:solidFill>
          <a:ln/>
        </p:spPr>
        <p:txBody>
          <a:bodyPr wrap="square" lIns="95701" tIns="70301" rIns="44901" bIns="44901" rtlCol="0" anchor="t">
            <a:normAutofit/>
          </a:bodyPr>
          <a:lstStyle/>
          <a:p>
            <a:pPr algn="l" indent="0" marL="0">
              <a:lnSpc>
                <a:spcPts val="1560"/>
              </a:lnSpc>
              <a:buNone/>
            </a:pPr>
            <a:r>
              <a:rPr lang="en-US" sz="1300" b="1" dirty="0">
                <a:solidFill>
                  <a:srgbClr val="F7F5EF"/>
                </a:solidFill>
                <a:latin typeface="Carlito" pitchFamily="34" charset="0"/>
                <a:ea typeface="Carlito" pitchFamily="34" charset="-122"/>
                <a:cs typeface="Carlito" pitchFamily="34" charset="-120"/>
              </a:rPr>
              <a:t>4 · Approve &amp; dispose</a:t>
            </a:r>
            <a:endParaRPr lang="en-US" sz="1300" dirty="0"/>
          </a:p>
        </p:txBody>
      </p:sp>
      <p:sp>
        <p:nvSpPr>
          <p:cNvPr id="8" name="Text 6"/>
          <p:cNvSpPr/>
          <p:nvPr/>
        </p:nvSpPr>
        <p:spPr>
          <a:xfrm>
            <a:off x="7749425" y="1664781"/>
            <a:ext cx="1770504" cy="662671"/>
          </a:xfrm>
          <a:prstGeom prst="roundRect">
            <a:avLst>
              <a:gd name="adj" fmla="val 9582"/>
            </a:avLst>
          </a:prstGeom>
          <a:solidFill>
            <a:srgbClr val="2E3238"/>
          </a:solidFill>
          <a:ln/>
        </p:spPr>
        <p:txBody>
          <a:bodyPr wrap="square" lIns="95701" tIns="70301" rIns="44901" bIns="44901" rtlCol="0" anchor="t">
            <a:normAutofit/>
          </a:bodyPr>
          <a:lstStyle/>
          <a:p>
            <a:pPr algn="l" indent="0" marL="0">
              <a:lnSpc>
                <a:spcPts val="1560"/>
              </a:lnSpc>
              <a:buNone/>
            </a:pPr>
            <a:r>
              <a:rPr lang="en-US" sz="1300" b="1" dirty="0">
                <a:solidFill>
                  <a:srgbClr val="F7F5EF"/>
                </a:solidFill>
                <a:latin typeface="Carlito" pitchFamily="34" charset="0"/>
                <a:ea typeface="Carlito" pitchFamily="34" charset="-122"/>
                <a:cs typeface="Carlito" pitchFamily="34" charset="-120"/>
              </a:rPr>
              <a:t>5 · Verify &amp; report</a:t>
            </a:r>
            <a:endParaRPr lang="en-US" sz="1300" dirty="0"/>
          </a:p>
        </p:txBody>
      </p:sp>
      <p:sp>
        <p:nvSpPr>
          <p:cNvPr id="9" name="Shape 7"/>
          <p:cNvSpPr/>
          <p:nvPr/>
        </p:nvSpPr>
        <p:spPr>
          <a:xfrm>
            <a:off x="9611960" y="1667956"/>
            <a:ext cx="1764043" cy="656321"/>
          </a:xfrm>
          <a:prstGeom prst="roundRect">
            <a:avLst>
              <a:gd name="adj" fmla="val 11126"/>
            </a:avLst>
          </a:prstGeom>
          <a:solidFill>
            <a:srgbClr val="FFFEFB"/>
          </a:solidFill>
          <a:ln w="6350">
            <a:solidFill>
              <a:srgbClr val="E4E0D4"/>
            </a:solidFill>
            <a:prstDash val="solid"/>
          </a:ln>
        </p:spPr>
      </p:sp>
      <p:sp>
        <p:nvSpPr>
          <p:cNvPr id="10" name="Text 8"/>
          <p:cNvSpPr/>
          <p:nvPr/>
        </p:nvSpPr>
        <p:spPr>
          <a:xfrm>
            <a:off x="9730053" y="1786048"/>
            <a:ext cx="1578659"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238"/>
                </a:solidFill>
                <a:latin typeface="Carlito" pitchFamily="34" charset="0"/>
                <a:ea typeface="Carlito" pitchFamily="34" charset="-122"/>
                <a:cs typeface="Carlito" pitchFamily="34" charset="-120"/>
              </a:rPr>
              <a:t>RIM</a:t>
            </a:r>
            <a:endParaRPr lang="en-US" sz="1400" dirty="0"/>
          </a:p>
        </p:txBody>
      </p:sp>
      <p:sp>
        <p:nvSpPr>
          <p:cNvPr id="11" name="Text 9"/>
          <p:cNvSpPr/>
          <p:nvPr/>
        </p:nvSpPr>
        <p:spPr>
          <a:xfrm>
            <a:off x="9730053" y="2015795"/>
            <a:ext cx="1578659" cy="21579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0555C"/>
                </a:solidFill>
                <a:latin typeface="Carlito" pitchFamily="34" charset="0"/>
                <a:ea typeface="Carlito" pitchFamily="34" charset="-122"/>
                <a:cs typeface="Carlito" pitchFamily="34" charset="-120"/>
              </a:rPr>
              <a:t>needs to help</a:t>
            </a:r>
            <a:endParaRPr lang="en-US" sz="1200" dirty="0"/>
          </a:p>
        </p:txBody>
      </p:sp>
      <p:sp>
        <p:nvSpPr>
          <p:cNvPr id="12" name="Text 10"/>
          <p:cNvSpPr/>
          <p:nvPr/>
        </p:nvSpPr>
        <p:spPr>
          <a:xfrm>
            <a:off x="815887" y="2419483"/>
            <a:ext cx="1263650" cy="1264201"/>
          </a:xfrm>
          <a:prstGeom prst="roundRect">
            <a:avLst>
              <a:gd name="adj" fmla="val 5779"/>
            </a:avLst>
          </a:prstGeom>
          <a:solidFill>
            <a:srgbClr val="FFFEFB"/>
          </a:solidFill>
          <a:ln w="6350">
            <a:solidFill>
              <a:srgbClr val="E4E0D4"/>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Approve the schedule-to-rule mapping and event-date sources</a:t>
            </a:r>
            <a:endParaRPr lang="en-US" sz="1200" dirty="0"/>
          </a:p>
        </p:txBody>
      </p:sp>
      <p:sp>
        <p:nvSpPr>
          <p:cNvPr id="13" name="Text 11"/>
          <p:cNvSpPr/>
          <p:nvPr/>
        </p:nvSpPr>
        <p:spPr>
          <a:xfrm>
            <a:off x="2174743" y="2419483"/>
            <a:ext cx="1764043" cy="1264201"/>
          </a:xfrm>
          <a:prstGeom prst="roundRect">
            <a:avLst>
              <a:gd name="adj" fmla="val 5776"/>
            </a:avLst>
          </a:prstGeom>
          <a:solidFill>
            <a:srgbClr val="FFFEFB"/>
          </a:solidFill>
          <a:ln w="6350">
            <a:solidFill>
              <a:srgbClr val="E4E0D4"/>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Provide the legal hold and preservation feed, and a named contact</a:t>
            </a:r>
            <a:endParaRPr lang="en-US" sz="1200" dirty="0"/>
          </a:p>
        </p:txBody>
      </p:sp>
      <p:sp>
        <p:nvSpPr>
          <p:cNvPr id="14" name="Text 12"/>
          <p:cNvSpPr/>
          <p:nvPr/>
        </p:nvSpPr>
        <p:spPr>
          <a:xfrm>
            <a:off x="4033992" y="2419483"/>
            <a:ext cx="1764154" cy="1264201"/>
          </a:xfrm>
          <a:prstGeom prst="roundRect">
            <a:avLst>
              <a:gd name="adj" fmla="val 5776"/>
            </a:avLst>
          </a:prstGeom>
          <a:solidFill>
            <a:srgbClr val="FFFEFB"/>
          </a:solidFill>
          <a:ln w="6350">
            <a:solidFill>
              <a:srgbClr val="E4E0D4"/>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Set the sampling tolerance and exception policy</a:t>
            </a:r>
            <a:endParaRPr lang="en-US" sz="1200" dirty="0"/>
          </a:p>
        </p:txBody>
      </p:sp>
      <p:sp>
        <p:nvSpPr>
          <p:cNvPr id="15" name="Text 13"/>
          <p:cNvSpPr/>
          <p:nvPr/>
        </p:nvSpPr>
        <p:spPr>
          <a:xfrm>
            <a:off x="5893352" y="2419483"/>
            <a:ext cx="1764043" cy="1264201"/>
          </a:xfrm>
          <a:prstGeom prst="roundRect">
            <a:avLst>
              <a:gd name="adj" fmla="val 5776"/>
            </a:avLst>
          </a:prstGeom>
          <a:solidFill>
            <a:srgbClr val="FFFEFB"/>
          </a:solidFill>
          <a:ln w="6350">
            <a:solidFill>
              <a:srgbClr val="E4E0D4"/>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Sponsor Data Owner sign-off; own escalation for non-response</a:t>
            </a:r>
            <a:endParaRPr lang="en-US" sz="1200" dirty="0"/>
          </a:p>
        </p:txBody>
      </p:sp>
      <p:sp>
        <p:nvSpPr>
          <p:cNvPr id="16" name="Text 14"/>
          <p:cNvSpPr/>
          <p:nvPr/>
        </p:nvSpPr>
        <p:spPr>
          <a:xfrm>
            <a:off x="7752600" y="2419483"/>
            <a:ext cx="1764154" cy="1264201"/>
          </a:xfrm>
          <a:prstGeom prst="roundRect">
            <a:avLst>
              <a:gd name="adj" fmla="val 5776"/>
            </a:avLst>
          </a:prstGeom>
          <a:solidFill>
            <a:srgbClr val="FFFEFB"/>
          </a:solidFill>
          <a:ln w="6350">
            <a:solidFill>
              <a:srgbClr val="E4E0D4"/>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Accept certificates; use them in audits and exams</a:t>
            </a:r>
            <a:endParaRPr lang="en-US" sz="1200" dirty="0"/>
          </a:p>
        </p:txBody>
      </p:sp>
      <p:sp>
        <p:nvSpPr>
          <p:cNvPr id="17" name="Shape 15"/>
          <p:cNvSpPr/>
          <p:nvPr/>
        </p:nvSpPr>
        <p:spPr>
          <a:xfrm>
            <a:off x="9608785" y="2416308"/>
            <a:ext cx="1770393" cy="1270551"/>
          </a:xfrm>
          <a:prstGeom prst="roundRect">
            <a:avLst>
              <a:gd name="adj" fmla="val 5997"/>
            </a:avLst>
          </a:prstGeom>
          <a:solidFill>
            <a:srgbClr val="FFC72C"/>
          </a:solidFill>
          <a:ln/>
        </p:spPr>
      </p:sp>
      <p:sp>
        <p:nvSpPr>
          <p:cNvPr id="18" name="Text 16"/>
          <p:cNvSpPr/>
          <p:nvPr/>
        </p:nvSpPr>
        <p:spPr>
          <a:xfrm>
            <a:off x="9722997" y="2841515"/>
            <a:ext cx="1592770" cy="229791"/>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2E3238"/>
                </a:solidFill>
                <a:latin typeface="Carlito" pitchFamily="34" charset="0"/>
                <a:ea typeface="Carlito" pitchFamily="34" charset="-122"/>
                <a:cs typeface="Carlito" pitchFamily="34" charset="-120"/>
              </a:rPr>
              <a:t>DRD</a:t>
            </a:r>
            <a:endParaRPr lang="en-US" sz="1400" dirty="0"/>
          </a:p>
        </p:txBody>
      </p:sp>
      <p:sp>
        <p:nvSpPr>
          <p:cNvPr id="19" name="Text 17"/>
          <p:cNvSpPr/>
          <p:nvPr/>
        </p:nvSpPr>
        <p:spPr>
          <a:xfrm>
            <a:off x="9722997" y="3071261"/>
            <a:ext cx="1592770" cy="21579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238"/>
                </a:solidFill>
                <a:latin typeface="Carlito" pitchFamily="34" charset="0"/>
                <a:ea typeface="Carlito" pitchFamily="34" charset="-122"/>
                <a:cs typeface="Carlito" pitchFamily="34" charset="-120"/>
              </a:rPr>
              <a:t>owns &amp; delivers</a:t>
            </a:r>
            <a:endParaRPr lang="en-US" sz="1200" dirty="0"/>
          </a:p>
        </p:txBody>
      </p:sp>
      <p:sp>
        <p:nvSpPr>
          <p:cNvPr id="20" name="Text 18"/>
          <p:cNvSpPr/>
          <p:nvPr/>
        </p:nvSpPr>
        <p:spPr>
          <a:xfrm>
            <a:off x="815887" y="3778890"/>
            <a:ext cx="1263650" cy="1264201"/>
          </a:xfrm>
          <a:prstGeom prst="roundRect">
            <a:avLst>
              <a:gd name="adj" fmla="val 5779"/>
            </a:avLst>
          </a:prstGeom>
          <a:solidFill>
            <a:srgbClr val="FFF4D1"/>
          </a:solidFill>
          <a:ln w="6350">
            <a:solidFill>
              <a:srgbClr val="F2D987"/>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Translate the schedule into BigID scans, classifiers and retention rules</a:t>
            </a:r>
            <a:endParaRPr lang="en-US" sz="1200" dirty="0"/>
          </a:p>
        </p:txBody>
      </p:sp>
      <p:sp>
        <p:nvSpPr>
          <p:cNvPr id="21" name="Text 19"/>
          <p:cNvSpPr/>
          <p:nvPr/>
        </p:nvSpPr>
        <p:spPr>
          <a:xfrm>
            <a:off x="2174743" y="3778890"/>
            <a:ext cx="1764043" cy="1264201"/>
          </a:xfrm>
          <a:prstGeom prst="roundRect">
            <a:avLst>
              <a:gd name="adj" fmla="val 5776"/>
            </a:avLst>
          </a:prstGeom>
          <a:solidFill>
            <a:srgbClr val="FFF4D1"/>
          </a:solidFill>
          <a:ln w="6350">
            <a:solidFill>
              <a:srgbClr val="F2D987"/>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Scan and inventory; reconcile to storage totals; flag eligible files</a:t>
            </a:r>
            <a:endParaRPr lang="en-US" sz="1200" dirty="0"/>
          </a:p>
        </p:txBody>
      </p:sp>
      <p:sp>
        <p:nvSpPr>
          <p:cNvPr id="22" name="Text 20"/>
          <p:cNvSpPr/>
          <p:nvPr/>
        </p:nvSpPr>
        <p:spPr>
          <a:xfrm>
            <a:off x="4033992" y="3778890"/>
            <a:ext cx="1764154" cy="1264201"/>
          </a:xfrm>
          <a:prstGeom prst="roundRect">
            <a:avLst>
              <a:gd name="adj" fmla="val 5776"/>
            </a:avLst>
          </a:prstGeom>
          <a:solidFill>
            <a:srgbClr val="FFF4D1"/>
          </a:solidFill>
          <a:ln w="6350">
            <a:solidFill>
              <a:srgbClr val="F2D987"/>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Sample-test class, dates and holds; build the disposal manifest</a:t>
            </a:r>
            <a:endParaRPr lang="en-US" sz="1200" dirty="0"/>
          </a:p>
        </p:txBody>
      </p:sp>
      <p:sp>
        <p:nvSpPr>
          <p:cNvPr id="23" name="Text 21"/>
          <p:cNvSpPr/>
          <p:nvPr/>
        </p:nvSpPr>
        <p:spPr>
          <a:xfrm>
            <a:off x="5893352" y="3778890"/>
            <a:ext cx="1764043" cy="1264201"/>
          </a:xfrm>
          <a:prstGeom prst="roundRect">
            <a:avLst>
              <a:gd name="adj" fmla="val 5776"/>
            </a:avLst>
          </a:prstGeom>
          <a:solidFill>
            <a:srgbClr val="FFF4D1"/>
          </a:solidFill>
          <a:ln w="6350">
            <a:solidFill>
              <a:srgbClr val="F2D987"/>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Route the manifest for attestation; oversee batch deletion</a:t>
            </a:r>
            <a:endParaRPr lang="en-US" sz="1200" dirty="0"/>
          </a:p>
        </p:txBody>
      </p:sp>
      <p:sp>
        <p:nvSpPr>
          <p:cNvPr id="24" name="Text 22"/>
          <p:cNvSpPr/>
          <p:nvPr/>
        </p:nvSpPr>
        <p:spPr>
          <a:xfrm>
            <a:off x="7752600" y="3778890"/>
            <a:ext cx="1764154" cy="1264201"/>
          </a:xfrm>
          <a:prstGeom prst="roundRect">
            <a:avLst>
              <a:gd name="adj" fmla="val 5776"/>
            </a:avLst>
          </a:prstGeom>
          <a:solidFill>
            <a:srgbClr val="FFF4D1"/>
          </a:solidFill>
          <a:ln w="6350">
            <a:solidFill>
              <a:srgbClr val="F2D987"/>
            </a:solidFill>
            <a:prstDash val="solid"/>
          </a:ln>
        </p:spPr>
        <p:txBody>
          <a:bodyPr wrap="square" lIns="96792" tIns="96792" rIns="45992" bIns="71392" rtlCol="0" anchor="t">
            <a:normAutofit/>
          </a:bodyPr>
          <a:lstStyle/>
          <a:p>
            <a:pPr algn="l" indent="0" marL="0">
              <a:lnSpc>
                <a:spcPts val="1620"/>
              </a:lnSpc>
              <a:buNone/>
            </a:pPr>
            <a:r>
              <a:rPr lang="en-US" sz="1200" dirty="0">
                <a:solidFill>
                  <a:srgbClr val="2E3238"/>
                </a:solidFill>
                <a:latin typeface="Carlito" pitchFamily="34" charset="0"/>
                <a:ea typeface="Carlito" pitchFamily="34" charset="-122"/>
                <a:cs typeface="Carlito" pitchFamily="34" charset="-120"/>
              </a:rPr>
              <a:t>Verify removal, issue the certificate, report to RIM</a:t>
            </a:r>
            <a:endParaRPr lang="en-US" sz="1200" dirty="0"/>
          </a:p>
        </p:txBody>
      </p:sp>
      <p:sp>
        <p:nvSpPr>
          <p:cNvPr id="25" name="Shape 23"/>
          <p:cNvSpPr/>
          <p:nvPr/>
        </p:nvSpPr>
        <p:spPr>
          <a:xfrm>
            <a:off x="812712" y="5223978"/>
            <a:ext cx="10566577" cy="482534"/>
          </a:xfrm>
          <a:prstGeom prst="roundRect">
            <a:avLst>
              <a:gd name="adj" fmla="val 15792"/>
            </a:avLst>
          </a:prstGeom>
          <a:solidFill>
            <a:srgbClr val="2E3238"/>
          </a:solidFill>
          <a:ln/>
        </p:spPr>
      </p:sp>
      <p:pic>
        <p:nvPicPr>
          <p:cNvPr id="26" name="Image 0" descr="Lock">    </p:cNvPr>
          <p:cNvPicPr>
            <a:picLocks noChangeAspect="1"/>
          </p:cNvPicPr>
          <p:nvPr/>
        </p:nvPicPr>
        <p:blipFill>
          <a:blip r:embed="rId1"/>
          <a:srcRect l="0" r="0" t="0" b="0"/>
          <a:stretch/>
        </p:blipFill>
        <p:spPr>
          <a:xfrm>
            <a:off x="1015890" y="5350978"/>
            <a:ext cx="228534" cy="228534"/>
          </a:xfrm>
          <a:prstGeom prst="rect">
            <a:avLst/>
          </a:prstGeom>
        </p:spPr>
      </p:pic>
      <p:sp>
        <p:nvSpPr>
          <p:cNvPr id="27" name="Text 24"/>
          <p:cNvSpPr/>
          <p:nvPr/>
        </p:nvSpPr>
        <p:spPr>
          <a:xfrm>
            <a:off x="1396780" y="5362443"/>
            <a:ext cx="10072711" cy="231003"/>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7F5EF"/>
                </a:solidFill>
                <a:latin typeface="Carlito" pitchFamily="34" charset="0"/>
                <a:ea typeface="Carlito" pitchFamily="34" charset="-122"/>
                <a:cs typeface="Carlito" pitchFamily="34" charset="-120"/>
              </a:rPr>
              <a:t>Each phase ends in a validation gate. A failed gate sends the batch back; it never skips ahead. Deletion runs in BigID with IT Storage.</a:t>
            </a:r>
            <a:endParaRPr lang="en-US" sz="1200" dirty="0"/>
          </a:p>
        </p:txBody>
      </p:sp>
      <p:sp>
        <p:nvSpPr>
          <p:cNvPr id="28" name="Text 25"/>
          <p:cNvSpPr/>
          <p:nvPr/>
        </p:nvSpPr>
        <p:spPr>
          <a:xfrm>
            <a:off x="812712" y="6238435"/>
            <a:ext cx="58864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7F86"/>
                </a:solidFill>
                <a:latin typeface="Carlito" pitchFamily="34" charset="0"/>
                <a:ea typeface="Carlito" pitchFamily="34" charset="-122"/>
                <a:cs typeface="Carlito" pitchFamily="34" charset="-120"/>
              </a:rPr>
              <a:t>DRD · NAS &amp; Shared Drive Disposition</a:t>
            </a:r>
            <a:endParaRPr lang="en-US" sz="1200" dirty="0"/>
          </a:p>
        </p:txBody>
      </p:sp>
      <p:sp>
        <p:nvSpPr>
          <p:cNvPr id="29" name="Text 26"/>
          <p:cNvSpPr/>
          <p:nvPr/>
        </p:nvSpPr>
        <p:spPr>
          <a:xfrm>
            <a:off x="10058488" y="6238435"/>
            <a:ext cx="1320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A7F86"/>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6"/>
        </a:solidFill>
      </p:bgPr>
    </p:bg>
    <p:spTree>
      <p:nvGrpSpPr>
        <p:cNvPr id="1" name=""/>
        <p:cNvGrpSpPr/>
        <p:nvPr/>
      </p:nvGrpSpPr>
      <p:grpSpPr>
        <a:xfrm>
          <a:off x="0" y="0"/>
          <a:ext cx="0" cy="0"/>
          <a:chOff x="0" y="0"/>
          <a:chExt cx="0" cy="0"/>
        </a:xfrm>
      </p:grpSpPr>
      <p:sp>
        <p:nvSpPr>
          <p:cNvPr id="2" name="Text 0"/>
          <p:cNvSpPr/>
          <p:nvPr/>
        </p:nvSpPr>
        <p:spPr>
          <a:xfrm>
            <a:off x="812712" y="812713"/>
            <a:ext cx="10883574" cy="2565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400"/>
                </a:solidFill>
                <a:latin typeface="Carlito" pitchFamily="34" charset="0"/>
                <a:ea typeface="Carlito" pitchFamily="34" charset="-122"/>
                <a:cs typeface="Carlito" pitchFamily="34" charset="-120"/>
              </a:rPr>
              <a:t>DRD COMMITMENTS</a:t>
            </a:r>
            <a:endParaRPr lang="en-US" sz="1300" dirty="0"/>
          </a:p>
        </p:txBody>
      </p:sp>
      <p:sp>
        <p:nvSpPr>
          <p:cNvPr id="3" name="Text 1"/>
          <p:cNvSpPr/>
          <p:nvPr>
            <p:ph type="title"/>
          </p:nvPr>
        </p:nvSpPr>
        <p:spPr>
          <a:xfrm>
            <a:off x="812712" y="1107393"/>
            <a:ext cx="10883574" cy="405077"/>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2E3238"/>
                </a:solidFill>
                <a:latin typeface="Libre Baskerville" pitchFamily="18" charset="0"/>
                <a:ea typeface="Libre Baskerville" pitchFamily="18" charset="-122"/>
                <a:cs typeface="Libre Baskerville" pitchFamily="18" charset="-120"/>
              </a:rPr>
              <a:t>What DRD delivers, and what we need from RIM</a:t>
            </a:r>
            <a:endParaRPr lang="en-US" sz="2600" dirty="0"/>
          </a:p>
        </p:txBody>
      </p:sp>
      <p:sp>
        <p:nvSpPr>
          <p:cNvPr id="4" name="Shape 2"/>
          <p:cNvSpPr/>
          <p:nvPr/>
        </p:nvSpPr>
        <p:spPr>
          <a:xfrm>
            <a:off x="815887" y="1667956"/>
            <a:ext cx="3414272" cy="1855876"/>
          </a:xfrm>
          <a:prstGeom prst="roundRect">
            <a:avLst>
              <a:gd name="adj" fmla="val 5303"/>
            </a:avLst>
          </a:prstGeom>
          <a:solidFill>
            <a:srgbClr val="FFFEFB"/>
          </a:solidFill>
          <a:ln w="6350">
            <a:solidFill>
              <a:srgbClr val="E0DBCC"/>
            </a:solidFill>
            <a:prstDash val="solid"/>
          </a:ln>
        </p:spPr>
      </p:sp>
      <p:sp>
        <p:nvSpPr>
          <p:cNvPr id="5" name="Text 3"/>
          <p:cNvSpPr/>
          <p:nvPr/>
        </p:nvSpPr>
        <p:spPr>
          <a:xfrm>
            <a:off x="1022945" y="1849549"/>
            <a:ext cx="3090159"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3238"/>
                </a:solidFill>
                <a:latin typeface="Carlito" pitchFamily="34" charset="0"/>
                <a:ea typeface="Carlito" pitchFamily="34" charset="-122"/>
                <a:cs typeface="Carlito" pitchFamily="34" charset="-120"/>
              </a:rPr>
              <a:t>Validation</a:t>
            </a:r>
            <a:endParaRPr lang="en-US" sz="1500" dirty="0"/>
          </a:p>
        </p:txBody>
      </p:sp>
      <p:sp>
        <p:nvSpPr>
          <p:cNvPr id="6" name="Text 4"/>
          <p:cNvSpPr/>
          <p:nvPr/>
        </p:nvSpPr>
        <p:spPr>
          <a:xfrm>
            <a:off x="1128101" y="2154261"/>
            <a:ext cx="2977383" cy="1213379"/>
          </a:xfrm>
          <a:prstGeom prst="rect">
            <a:avLst/>
          </a:prstGeom>
          <a:noFill/>
          <a:ln/>
        </p:spPr>
        <p:txBody>
          <a:bodyPr wrap="square" lIns="0" tIns="0" rIns="0" bIns="0" rtlCol="0" anchor="t">
            <a:normAutofit/>
          </a:bodyPr>
          <a:lstStyle/>
          <a:p>
            <a:pPr algn="l" marL="148844" indent="-148844">
              <a:lnSpc>
                <a:spcPts val="1560"/>
              </a:lnSpc>
              <a:buSzPct val="100000"/>
              <a:buChar char="•"/>
            </a:pPr>
            <a:r>
              <a:rPr lang="en-US" sz="1200" b="1" dirty="0">
                <a:solidFill>
                  <a:srgbClr val="50555C"/>
                </a:solidFill>
                <a:latin typeface="Carlito" pitchFamily="34" charset="0"/>
                <a:ea typeface="Carlito" pitchFamily="34" charset="-122"/>
                <a:cs typeface="Carlito" pitchFamily="34" charset="-120"/>
              </a:rPr>
              <a:t>Before:</a:t>
            </a:r>
            <a:r>
              <a:rPr lang="en-US" sz="1200" dirty="0">
                <a:solidFill>
                  <a:srgbClr val="50555C"/>
                </a:solidFill>
                <a:latin typeface="Carlito" pitchFamily="34" charset="0"/>
                <a:ea typeface="Carlito" pitchFamily="34" charset="-122"/>
                <a:cs typeface="Carlito" pitchFamily="34" charset="-120"/>
              </a:rPr>
              <a:t> right class, reliable date, period met, no hold, owner attested</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Sample review per share and class before every batch</a:t>
            </a:r>
            <a:endParaRPr lang="en-US" sz="1200" dirty="0"/>
          </a:p>
          <a:p>
            <a:pPr algn="l" marL="148844" indent="-148844">
              <a:lnSpc>
                <a:spcPts val="1560"/>
              </a:lnSpc>
              <a:buSzPct val="100000"/>
              <a:buChar char="•"/>
            </a:pPr>
            <a:r>
              <a:rPr lang="en-US" sz="1200" b="1" dirty="0">
                <a:solidFill>
                  <a:srgbClr val="50555C"/>
                </a:solidFill>
                <a:latin typeface="Carlito" pitchFamily="34" charset="0"/>
                <a:ea typeface="Carlito" pitchFamily="34" charset="-122"/>
                <a:cs typeface="Carlito" pitchFamily="34" charset="-120"/>
              </a:rPr>
              <a:t>After:</a:t>
            </a:r>
            <a:r>
              <a:rPr lang="en-US" sz="1200" dirty="0">
                <a:solidFill>
                  <a:srgbClr val="50555C"/>
                </a:solidFill>
                <a:latin typeface="Carlito" pitchFamily="34" charset="0"/>
                <a:ea typeface="Carlito" pitchFamily="34" charset="-122"/>
                <a:cs typeface="Carlito" pitchFamily="34" charset="-120"/>
              </a:rPr>
              <a:t> log matches manifest, rescan finds zero, storage confirms</a:t>
            </a:r>
            <a:endParaRPr lang="en-US" sz="1200" dirty="0"/>
          </a:p>
        </p:txBody>
      </p:sp>
      <p:sp>
        <p:nvSpPr>
          <p:cNvPr id="7" name="Shape 5"/>
          <p:cNvSpPr/>
          <p:nvPr/>
        </p:nvSpPr>
        <p:spPr>
          <a:xfrm>
            <a:off x="4388864" y="1667956"/>
            <a:ext cx="3414272" cy="1855876"/>
          </a:xfrm>
          <a:prstGeom prst="roundRect">
            <a:avLst>
              <a:gd name="adj" fmla="val 5303"/>
            </a:avLst>
          </a:prstGeom>
          <a:solidFill>
            <a:srgbClr val="FFFEFB"/>
          </a:solidFill>
          <a:ln w="6350">
            <a:solidFill>
              <a:srgbClr val="E0DBCC"/>
            </a:solidFill>
            <a:prstDash val="solid"/>
          </a:ln>
        </p:spPr>
      </p:sp>
      <p:sp>
        <p:nvSpPr>
          <p:cNvPr id="8" name="Text 6"/>
          <p:cNvSpPr/>
          <p:nvPr/>
        </p:nvSpPr>
        <p:spPr>
          <a:xfrm>
            <a:off x="4595923" y="1849549"/>
            <a:ext cx="3090159"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3238"/>
                </a:solidFill>
                <a:latin typeface="Carlito" pitchFamily="34" charset="0"/>
                <a:ea typeface="Carlito" pitchFamily="34" charset="-122"/>
                <a:cs typeface="Carlito" pitchFamily="34" charset="-120"/>
              </a:rPr>
              <a:t>Documentation</a:t>
            </a:r>
            <a:endParaRPr lang="en-US" sz="1500" dirty="0"/>
          </a:p>
        </p:txBody>
      </p:sp>
      <p:sp>
        <p:nvSpPr>
          <p:cNvPr id="9" name="Text 7"/>
          <p:cNvSpPr/>
          <p:nvPr/>
        </p:nvSpPr>
        <p:spPr>
          <a:xfrm>
            <a:off x="4701079" y="2154261"/>
            <a:ext cx="2977383" cy="1015383"/>
          </a:xfrm>
          <a:prstGeom prst="rect">
            <a:avLst/>
          </a:prstGeom>
          <a:noFill/>
          <a:ln/>
        </p:spPr>
        <p:txBody>
          <a:bodyPr wrap="square" lIns="0" tIns="0" rIns="0" bIns="0" rtlCol="0" anchor="t">
            <a:normAutofit/>
          </a:bodyPr>
          <a:lstStyle/>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Schedule rule and BigID rule version</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Disposal manifest: path, size, hash</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Sample results and exceptions</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Owner and RIM approvals</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Certificate of disposition</a:t>
            </a:r>
            <a:endParaRPr lang="en-US" sz="1200" dirty="0"/>
          </a:p>
        </p:txBody>
      </p:sp>
      <p:sp>
        <p:nvSpPr>
          <p:cNvPr id="10" name="Shape 8"/>
          <p:cNvSpPr/>
          <p:nvPr/>
        </p:nvSpPr>
        <p:spPr>
          <a:xfrm>
            <a:off x="7961842" y="1667956"/>
            <a:ext cx="3414272" cy="1855876"/>
          </a:xfrm>
          <a:prstGeom prst="roundRect">
            <a:avLst>
              <a:gd name="adj" fmla="val 5303"/>
            </a:avLst>
          </a:prstGeom>
          <a:solidFill>
            <a:srgbClr val="FFFEFB"/>
          </a:solidFill>
          <a:ln w="6350">
            <a:solidFill>
              <a:srgbClr val="E0DBCC"/>
            </a:solidFill>
            <a:prstDash val="solid"/>
          </a:ln>
        </p:spPr>
      </p:sp>
      <p:sp>
        <p:nvSpPr>
          <p:cNvPr id="11" name="Text 9"/>
          <p:cNvSpPr/>
          <p:nvPr/>
        </p:nvSpPr>
        <p:spPr>
          <a:xfrm>
            <a:off x="8168901" y="1849549"/>
            <a:ext cx="3090159" cy="25393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E3238"/>
                </a:solidFill>
                <a:latin typeface="Carlito" pitchFamily="34" charset="0"/>
                <a:ea typeface="Carlito" pitchFamily="34" charset="-122"/>
                <a:cs typeface="Carlito" pitchFamily="34" charset="-120"/>
              </a:rPr>
              <a:t>Reporting</a:t>
            </a:r>
            <a:endParaRPr lang="en-US" sz="1500" dirty="0"/>
          </a:p>
        </p:txBody>
      </p:sp>
      <p:sp>
        <p:nvSpPr>
          <p:cNvPr id="12" name="Text 10"/>
          <p:cNvSpPr/>
          <p:nvPr/>
        </p:nvSpPr>
        <p:spPr>
          <a:xfrm>
            <a:off x="8274057" y="2154261"/>
            <a:ext cx="2977383" cy="1015383"/>
          </a:xfrm>
          <a:prstGeom prst="rect">
            <a:avLst/>
          </a:prstGeom>
          <a:noFill/>
          <a:ln/>
        </p:spPr>
        <p:txBody>
          <a:bodyPr wrap="square" lIns="0" tIns="0" rIns="0" bIns="0" rtlCol="0" anchor="t">
            <a:normAutofit/>
          </a:bodyPr>
          <a:lstStyle/>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Monthly to RIM: scanned, eligible, disposed, TB reclaimed</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Exceptions, holds excluded, approvals aging</a:t>
            </a:r>
            <a:endParaRPr lang="en-US" sz="1200" dirty="0"/>
          </a:p>
          <a:p>
            <a:pPr algn="l" marL="148844" indent="-148844">
              <a:lnSpc>
                <a:spcPts val="1560"/>
              </a:lnSpc>
              <a:buSzPct val="100000"/>
              <a:buChar char="•"/>
            </a:pPr>
            <a:r>
              <a:rPr lang="en-US" sz="1200" dirty="0">
                <a:solidFill>
                  <a:srgbClr val="50555C"/>
                </a:solidFill>
                <a:latin typeface="Carlito" pitchFamily="34" charset="0"/>
                <a:ea typeface="Carlito" pitchFamily="34" charset="-122"/>
                <a:cs typeface="Carlito" pitchFamily="34" charset="-120"/>
              </a:rPr>
              <a:t>Quarterly attestation pack for audit and compliance</a:t>
            </a:r>
            <a:endParaRPr lang="en-US" sz="1200" dirty="0"/>
          </a:p>
        </p:txBody>
      </p:sp>
      <p:sp>
        <p:nvSpPr>
          <p:cNvPr id="13" name="Shape 11"/>
          <p:cNvSpPr/>
          <p:nvPr/>
        </p:nvSpPr>
        <p:spPr>
          <a:xfrm>
            <a:off x="812712" y="3704718"/>
            <a:ext cx="10566577" cy="1099344"/>
          </a:xfrm>
          <a:prstGeom prst="roundRect">
            <a:avLst>
              <a:gd name="adj" fmla="val 9242"/>
            </a:avLst>
          </a:prstGeom>
          <a:solidFill>
            <a:srgbClr val="2E3238"/>
          </a:solidFill>
          <a:ln/>
        </p:spPr>
      </p:sp>
      <p:sp>
        <p:nvSpPr>
          <p:cNvPr id="14" name="Text 12"/>
          <p:cNvSpPr/>
          <p:nvPr/>
        </p:nvSpPr>
        <p:spPr>
          <a:xfrm>
            <a:off x="1041246" y="3882431"/>
            <a:ext cx="10412795" cy="2565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FC72C"/>
                </a:solidFill>
                <a:latin typeface="Carlito" pitchFamily="34" charset="0"/>
                <a:ea typeface="Carlito" pitchFamily="34" charset="-122"/>
                <a:cs typeface="Carlito" pitchFamily="34" charset="-120"/>
              </a:rPr>
              <a:t>DECISIONS REQUESTED FROM RIM</a:t>
            </a:r>
            <a:endParaRPr lang="en-US" sz="1300" dirty="0"/>
          </a:p>
        </p:txBody>
      </p:sp>
      <p:sp>
        <p:nvSpPr>
          <p:cNvPr id="15" name="Text 13"/>
          <p:cNvSpPr/>
          <p:nvPr/>
        </p:nvSpPr>
        <p:spPr>
          <a:xfrm>
            <a:off x="1041246" y="4215144"/>
            <a:ext cx="2465860" cy="43660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FC72C"/>
                </a:solidFill>
                <a:latin typeface="Carlito" pitchFamily="34" charset="0"/>
                <a:ea typeface="Carlito" pitchFamily="34" charset="-122"/>
                <a:cs typeface="Carlito" pitchFamily="34" charset="-120"/>
              </a:rPr>
              <a:t>1</a:t>
            </a:r>
            <a:r>
              <a:rPr lang="en-US" sz="1200" dirty="0">
                <a:solidFill>
                  <a:srgbClr val="F7F5EF"/>
                </a:solidFill>
                <a:latin typeface="Carlito" pitchFamily="34" charset="0"/>
                <a:ea typeface="Carlito" pitchFamily="34" charset="-122"/>
                <a:cs typeface="Carlito" pitchFamily="34" charset="-120"/>
              </a:rPr>
              <a:t> Confirm schedule-to-rule mapping and event-date sources</a:t>
            </a:r>
            <a:endParaRPr lang="en-US" sz="1200" dirty="0"/>
          </a:p>
        </p:txBody>
      </p:sp>
      <p:sp>
        <p:nvSpPr>
          <p:cNvPr id="16" name="Text 14"/>
          <p:cNvSpPr/>
          <p:nvPr/>
        </p:nvSpPr>
        <p:spPr>
          <a:xfrm>
            <a:off x="3612996" y="4215144"/>
            <a:ext cx="2465973" cy="43660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FC72C"/>
                </a:solidFill>
                <a:latin typeface="Carlito" pitchFamily="34" charset="0"/>
                <a:ea typeface="Carlito" pitchFamily="34" charset="-122"/>
                <a:cs typeface="Carlito" pitchFamily="34" charset="-120"/>
              </a:rPr>
              <a:t>2</a:t>
            </a:r>
            <a:r>
              <a:rPr lang="en-US" sz="1200" dirty="0">
                <a:solidFill>
                  <a:srgbClr val="F7F5EF"/>
                </a:solidFill>
                <a:latin typeface="Carlito" pitchFamily="34" charset="0"/>
                <a:ea typeface="Carlito" pitchFamily="34" charset="-122"/>
                <a:cs typeface="Carlito" pitchFamily="34" charset="-120"/>
              </a:rPr>
              <a:t> Name the legal hold contact and feed</a:t>
            </a:r>
            <a:endParaRPr lang="en-US" sz="1200" dirty="0"/>
          </a:p>
        </p:txBody>
      </p:sp>
      <p:sp>
        <p:nvSpPr>
          <p:cNvPr id="17" name="Text 15"/>
          <p:cNvSpPr/>
          <p:nvPr/>
        </p:nvSpPr>
        <p:spPr>
          <a:xfrm>
            <a:off x="6184856" y="4215144"/>
            <a:ext cx="2465860" cy="43660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FC72C"/>
                </a:solidFill>
                <a:latin typeface="Carlito" pitchFamily="34" charset="0"/>
                <a:ea typeface="Carlito" pitchFamily="34" charset="-122"/>
                <a:cs typeface="Carlito" pitchFamily="34" charset="-120"/>
              </a:rPr>
              <a:t>3</a:t>
            </a:r>
            <a:r>
              <a:rPr lang="en-US" sz="1200" dirty="0">
                <a:solidFill>
                  <a:srgbClr val="F7F5EF"/>
                </a:solidFill>
                <a:latin typeface="Carlito" pitchFamily="34" charset="0"/>
                <a:ea typeface="Carlito" pitchFamily="34" charset="-122"/>
                <a:cs typeface="Carlito" pitchFamily="34" charset="-120"/>
              </a:rPr>
              <a:t> Approve a </a:t>
            </a:r>
            <a:r>
              <a:rPr lang="en-US" sz="1200" b="1" dirty="0">
                <a:solidFill>
                  <a:srgbClr val="F7F5EF"/>
                </a:solidFill>
                <a:latin typeface="Carlito" pitchFamily="34" charset="0"/>
                <a:ea typeface="Carlito" pitchFamily="34" charset="-122"/>
                <a:cs typeface="Carlito" pitchFamily="34" charset="-120"/>
              </a:rPr>
              <a:t>[__]%</a:t>
            </a:r>
            <a:r>
              <a:rPr lang="en-US" sz="1200" dirty="0">
                <a:solidFill>
                  <a:srgbClr val="F7F5EF"/>
                </a:solidFill>
                <a:latin typeface="Carlito" pitchFamily="34" charset="0"/>
                <a:ea typeface="Carlito" pitchFamily="34" charset="-122"/>
                <a:cs typeface="Carlito" pitchFamily="34" charset="-120"/>
              </a:rPr>
              <a:t> sampling tolerance and exception policy</a:t>
            </a:r>
            <a:endParaRPr lang="en-US" sz="1200" dirty="0"/>
          </a:p>
        </p:txBody>
      </p:sp>
      <p:sp>
        <p:nvSpPr>
          <p:cNvPr id="18" name="Text 16"/>
          <p:cNvSpPr/>
          <p:nvPr/>
        </p:nvSpPr>
        <p:spPr>
          <a:xfrm>
            <a:off x="8756607" y="4215144"/>
            <a:ext cx="2465973" cy="43660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FC72C"/>
                </a:solidFill>
                <a:latin typeface="Carlito" pitchFamily="34" charset="0"/>
                <a:ea typeface="Carlito" pitchFamily="34" charset="-122"/>
                <a:cs typeface="Carlito" pitchFamily="34" charset="-120"/>
              </a:rPr>
              <a:t>4</a:t>
            </a:r>
            <a:r>
              <a:rPr lang="en-US" sz="1200" dirty="0">
                <a:solidFill>
                  <a:srgbClr val="F7F5EF"/>
                </a:solidFill>
                <a:latin typeface="Carlito" pitchFamily="34" charset="0"/>
                <a:ea typeface="Carlito" pitchFamily="34" charset="-122"/>
                <a:cs typeface="Carlito" pitchFamily="34" charset="-120"/>
              </a:rPr>
              <a:t> Sponsor Data Owner sign-off and escalation</a:t>
            </a:r>
            <a:endParaRPr lang="en-US" sz="1200" dirty="0"/>
          </a:p>
        </p:txBody>
      </p:sp>
      <p:sp>
        <p:nvSpPr>
          <p:cNvPr id="19" name="Text 17"/>
          <p:cNvSpPr/>
          <p:nvPr/>
        </p:nvSpPr>
        <p:spPr>
          <a:xfrm>
            <a:off x="812712" y="6238435"/>
            <a:ext cx="5886450" cy="2386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737A"/>
                </a:solidFill>
                <a:latin typeface="Carlito" pitchFamily="34" charset="0"/>
                <a:ea typeface="Carlito" pitchFamily="34" charset="-122"/>
                <a:cs typeface="Carlito" pitchFamily="34" charset="-120"/>
              </a:rPr>
              <a:t>DRD · NAS &amp; Shared Drive Disposition</a:t>
            </a:r>
            <a:endParaRPr lang="en-US" sz="1200" dirty="0"/>
          </a:p>
        </p:txBody>
      </p:sp>
      <p:sp>
        <p:nvSpPr>
          <p:cNvPr id="20" name="Text 18"/>
          <p:cNvSpPr/>
          <p:nvPr/>
        </p:nvSpPr>
        <p:spPr>
          <a:xfrm>
            <a:off x="10058488" y="6238435"/>
            <a:ext cx="1320800" cy="2386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737A"/>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theme/theme1.xml><?xml version="1.0" encoding="utf-8"?>
<a:theme xmlns:a="http://schemas.openxmlformats.org/drawingml/2006/main" name="NAS Disposition Validation">
  <a:themeElements>
    <a:clrScheme name="NAS Disposition Validation">
      <a:dk1>
        <a:srgbClr val="2E3238"/>
      </a:dk1>
      <a:lt1>
        <a:srgbClr val="F7F5EF"/>
      </a:lt1>
      <a:dk2>
        <a:srgbClr val="42464A"/>
      </a:dk2>
      <a:lt2>
        <a:srgbClr val="C5C4C1"/>
      </a:lt2>
      <a:accent1>
        <a:srgbClr val="FFC72C"/>
      </a:accent1>
      <a:accent2>
        <a:srgbClr val="FFF4D1"/>
      </a:accent2>
      <a:accent3>
        <a:srgbClr val="8A6400"/>
      </a:accent3>
      <a:accent4>
        <a:srgbClr val="50555C"/>
      </a:accent4>
      <a:accent5>
        <a:srgbClr val="9CA1A8"/>
      </a:accent5>
      <a:accent6>
        <a:srgbClr val="7A7F86"/>
      </a:accent6>
      <a:hlink>
        <a:srgbClr val="0563C1"/>
      </a:hlink>
      <a:folHlink>
        <a:srgbClr val="954F72"/>
      </a:folHlink>
    </a:clrScheme>
    <a:fontScheme name="NAS Disposition Validation">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 Disposition Validation</dc:title>
  <dc:subject/>
  <dc:creator/>
  <cp:lastModifiedBy/>
  <cp:revision>1</cp:revision>
  <dcterms:created xsi:type="dcterms:W3CDTF">2026-10-09T12:30:40Z</dcterms:created>
  <dcterms:modified xsi:type="dcterms:W3CDTF">2026-10-09T12:30:40Z</dcterms:modified>
</cp:coreProperties>
</file>