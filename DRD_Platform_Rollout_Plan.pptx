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de47beb-c639-401d-0b27-6e09067c9a92}">
          <p14:sldIdLst>
            <p14:sldId id="256"/>
          </p14:sldIdLst>
        </p14:section>
        <p14:section name="Plan" id="{99ff87e5-9d64-fa38-1036-c1a0f45f3a47}">
          <p14:sldIdLst>
            <p14:sldId id="257"/>
            <p14:sldId id="258"/>
          </p14:sldIdLst>
        </p14:section>
        <p14:section name="Beta" id="{7a5d8bfb-dc87-0b07-ad53-2c62b0391cf5}">
          <p14:sldIdLst>
            <p14:sldId id="259"/>
            <p14:sldId id="260"/>
          </p14:sldIdLst>
        </p14:section>
        <p14:section name="Iterate" id="{19b5c1ca-2265-c17b-c575-f8e5f3b15c69}">
          <p14:sldIdLst>
            <p14:sldId id="261"/>
            <p14:sldId id="262"/>
          </p14:sldIdLst>
        </p14:section>
        <p14:section name="Scale" id="{bab503ad-e61e-8430-1746-b7c27aab996a}">
          <p14:sldIdLst>
            <p14:sldId id="263"/>
            <p14:sldId id="264"/>
            <p14:sldId id="265"/>
          </p14:sldIdLst>
        </p14:section>
        <p14:section name="Close" id="{68bee85b-7c71-32e9-8502-9facf86b8289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align leadership on how the DRD platform moves from a controlled beta to firm-wide adoption, and secure sponsorship for the go/no-go gate.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Dates are indicative and assume a November beta start. Adjust once the beta cohort is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LIGHT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03120"/>
            <a:ext cx="86868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E6275"/>
                </a:solidFill>
              </a:rPr>
              <a:t>Office of Data Governance  |  Data Retention &amp; Disposition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image" Target="../media/image-3-2.png"/><Relationship Id="rId7" Type="http://schemas.openxmlformats.org/officeDocument/2006/relationships/image" Target="../media/image-3-2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1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1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1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image" Target="../media/image-6-1.png"/><Relationship Id="rId14" Type="http://schemas.openxmlformats.org/officeDocument/2006/relationships/image" Target="../media/image-6-14.png"/><Relationship Id="rId15" Type="http://schemas.openxmlformats.org/officeDocument/2006/relationships/slideLayout" Target="../slideLayouts/slideLayout3.xml"/><Relationship Id="rId1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image" Target="../media/image-11-1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9C6E8"/>
                </a:solidFill>
              </a:rPr>
              <a:t>DATA RETENTION &amp; DISPOSITION PLATFORM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731520" y="21031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Beta to Firm-wide: The Enterprise Rollout Plan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3DDF2"/>
                </a:solidFill>
              </a:rPr>
              <a:t>A phased, feedback-driven path to adoption across the firm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8521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9C6E8"/>
                </a:solidFill>
              </a:rPr>
              <a:t>Office of Data Governance  ·  October 2026</a:t>
            </a:r>
            <a:endParaRPr lang="en-US" sz="1300" dirty="0"/>
          </a:p>
        </p:txBody>
      </p:sp>
      <p:pic>
        <p:nvPicPr>
          <p:cNvPr id="6" name="Image 0" descr="arrow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10332720" y="548640"/>
            <a:ext cx="914400" cy="5486400"/>
          </a:xfrm>
          <a:prstGeom prst="rect">
            <a:avLst/>
          </a:prstGeom>
        </p:spPr>
      </p:pic>
      <p:pic>
        <p:nvPicPr>
          <p:cNvPr id="7" name="Image 1" descr="n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1592" y="914400"/>
            <a:ext cx="676656" cy="676656"/>
          </a:xfrm>
          <a:prstGeom prst="rect">
            <a:avLst/>
          </a:prstGeom>
        </p:spPr>
      </p:pic>
      <p:pic>
        <p:nvPicPr>
          <p:cNvPr id="8" name="Image 2" descr="n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51592" y="2057400"/>
            <a:ext cx="676656" cy="676656"/>
          </a:xfrm>
          <a:prstGeom prst="rect">
            <a:avLst/>
          </a:prstGeom>
        </p:spPr>
      </p:pic>
      <p:pic>
        <p:nvPicPr>
          <p:cNvPr id="9" name="Image 3" descr="n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51592" y="3200400"/>
            <a:ext cx="676656" cy="676656"/>
          </a:xfrm>
          <a:prstGeom prst="rect">
            <a:avLst/>
          </a:prstGeom>
        </p:spPr>
      </p:pic>
      <p:pic>
        <p:nvPicPr>
          <p:cNvPr id="10" name="Image 4" descr="n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1592" y="4343400"/>
            <a:ext cx="676656" cy="67665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3AA8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 it with a few, then scale it to the firm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275"/>
                </a:solidFill>
              </a:rPr>
              <a:t>We de-risk adoption by learning with a hand-picked beta cohort before every employee touches the platform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148840"/>
            <a:ext cx="731520" cy="73152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3317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28600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small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5661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Select 10–15 domain stewards, custodians and data owners from BDS to train on and test the application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38328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2148840"/>
            <a:ext cx="731520" cy="73152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0" y="233172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12064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 deliberately</a:t>
            </a:r>
            <a:endParaRPr lang="en-US" sz="1900" dirty="0"/>
          </a:p>
        </p:txBody>
      </p:sp>
      <p:sp>
        <p:nvSpPr>
          <p:cNvPr id="16" name="Text 12"/>
          <p:cNvSpPr txBox="1"/>
          <p:nvPr/>
        </p:nvSpPr>
        <p:spPr>
          <a:xfrm>
            <a:off x="3657600" y="35661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Run structured working sessions backed by explanation guides, quick-reference cards and recorded walkthroughs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21792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92240" y="2148840"/>
            <a:ext cx="731520" cy="73152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233172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95528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 and improve</a:t>
            </a:r>
            <a:endParaRPr lang="en-US" sz="1900" dirty="0"/>
          </a:p>
        </p:txBody>
      </p:sp>
      <p:sp>
        <p:nvSpPr>
          <p:cNvPr id="22" name="Text 17"/>
          <p:cNvSpPr txBox="1"/>
          <p:nvPr/>
        </p:nvSpPr>
        <p:spPr>
          <a:xfrm>
            <a:off x="6492240" y="35661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Capture feedback in every session, triage weekly and ship app updates in short release cycles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9052560" y="1874520"/>
            <a:ext cx="2606040" cy="35661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9326880" y="2148840"/>
            <a:ext cx="731520" cy="731520"/>
          </a:xfrm>
          <a:prstGeom prst="ellipse">
            <a:avLst/>
          </a:prstGeom>
          <a:solidFill>
            <a:srgbClr val="3D0A4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0" y="233172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789920" y="21488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9C6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27" name="Text 21"/>
          <p:cNvSpPr txBox="1"/>
          <p:nvPr/>
        </p:nvSpPr>
        <p:spPr>
          <a:xfrm>
            <a:off x="9326880" y="30632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on evidence</a:t>
            </a:r>
            <a:endParaRPr lang="en-US" sz="1900" dirty="0"/>
          </a:p>
        </p:txBody>
      </p:sp>
      <p:sp>
        <p:nvSpPr>
          <p:cNvPr id="28" name="Text 22"/>
          <p:cNvSpPr txBox="1"/>
          <p:nvPr/>
        </p:nvSpPr>
        <p:spPr>
          <a:xfrm>
            <a:off x="9326880" y="356616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Gate firm-wide rollout on agreed exit criteria, then deploy in waves with hypercare support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548640" y="566928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7EEF7"/>
          </a:solidFill>
          <a:ln w="12700">
            <a:solidFill>
              <a:srgbClr val="F7EEF7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777240" y="56692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A42"/>
                </a:solidFill>
              </a:rPr>
              <a:t>Decision sought:  </a:t>
            </a:r>
            <a:pPr indent="0" marL="0">
              <a:buNone/>
            </a:pPr>
            <a:r>
              <a:rPr lang="en-US" sz="1500" dirty="0">
                <a:solidFill>
                  <a:srgbClr val="2B2230"/>
                </a:solidFill>
              </a:rPr>
              <a:t>endorse the beta cohort, the go/no-go criteria, and the wave-based firm-wide rollout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3AA8"/>
                </a:solidFill>
              </a:rPr>
              <a:t>ROLLOUT JOURNEY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phases from readiness to business-as-usual</a:t>
            </a:r>
            <a:endParaRPr lang="en-US" sz="3400" dirty="0"/>
          </a:p>
        </p:txBody>
      </p:sp>
      <p:pic>
        <p:nvPicPr>
          <p:cNvPr id="4" name="Image 0" descr="arr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77240" cy="5120640"/>
          </a:xfrm>
          <a:prstGeom prst="rect">
            <a:avLst/>
          </a:prstGeom>
        </p:spPr>
      </p:pic>
      <p:pic>
        <p:nvPicPr>
          <p:cNvPr id="5" name="Image 1" descr="n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41732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67512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</a:t>
            </a:r>
            <a:endParaRPr lang="en-US" sz="1300" dirty="0"/>
          </a:p>
        </p:txBody>
      </p:sp>
      <p:sp>
        <p:nvSpPr>
          <p:cNvPr id="7" name="Shape 3"/>
          <p:cNvSpPr/>
          <p:nvPr/>
        </p:nvSpPr>
        <p:spPr>
          <a:xfrm>
            <a:off x="1508760" y="1371600"/>
            <a:ext cx="10104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8" name="Text 4"/>
          <p:cNvSpPr txBox="1"/>
          <p:nvPr/>
        </p:nvSpPr>
        <p:spPr>
          <a:xfrm>
            <a:off x="1691640" y="13716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3AA8"/>
                </a:solidFill>
              </a:rPr>
              <a:t>Oct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2971800" y="13716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Readiness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035040" y="137160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Freeze beta scope, stand up sandbox, finalize guides and feedback channel</a:t>
            </a:r>
            <a:endParaRPr lang="en-US" sz="1400" dirty="0"/>
          </a:p>
        </p:txBody>
      </p:sp>
      <p:pic>
        <p:nvPicPr>
          <p:cNvPr id="11" name="Image 2" descr="n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224028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667512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1508760" y="2194560"/>
            <a:ext cx="10104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4" name="Text 9"/>
          <p:cNvSpPr txBox="1"/>
          <p:nvPr/>
        </p:nvSpPr>
        <p:spPr>
          <a:xfrm>
            <a:off x="1691640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3AA8"/>
                </a:solidFill>
              </a:rPr>
              <a:t>Nov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297180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Beta onboarding</a:t>
            </a:r>
            <a:endParaRPr lang="en-US" sz="1700" dirty="0"/>
          </a:p>
        </p:txBody>
      </p:sp>
      <p:sp>
        <p:nvSpPr>
          <p:cNvPr id="16" name="Text 11"/>
          <p:cNvSpPr txBox="1"/>
          <p:nvPr/>
        </p:nvSpPr>
        <p:spPr>
          <a:xfrm>
            <a:off x="6035040" y="219456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Select BDS stewards, custodians and owners; kickoff and hands-on training session</a:t>
            </a:r>
            <a:endParaRPr lang="en-US" sz="1400" dirty="0"/>
          </a:p>
        </p:txBody>
      </p:sp>
      <p:pic>
        <p:nvPicPr>
          <p:cNvPr id="17" name="Image 3" descr="n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30632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67512" y="3063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1508760" y="3017520"/>
            <a:ext cx="10104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20" name="Text 14"/>
          <p:cNvSpPr txBox="1"/>
          <p:nvPr/>
        </p:nvSpPr>
        <p:spPr>
          <a:xfrm>
            <a:off x="1691640" y="30175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3AA8"/>
                </a:solidFill>
              </a:rPr>
              <a:t>Nov – Dec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2971800" y="30175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sessions &amp; feedback</a:t>
            </a:r>
            <a:endParaRPr lang="en-US" sz="1700" dirty="0"/>
          </a:p>
        </p:txBody>
      </p:sp>
      <p:sp>
        <p:nvSpPr>
          <p:cNvPr id="22" name="Text 16"/>
          <p:cNvSpPr txBox="1"/>
          <p:nvPr/>
        </p:nvSpPr>
        <p:spPr>
          <a:xfrm>
            <a:off x="6035040" y="301752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Second session with owners and stewards; structured feedback collection on real use cases</a:t>
            </a:r>
            <a:endParaRPr lang="en-US" sz="1400" dirty="0"/>
          </a:p>
        </p:txBody>
      </p:sp>
      <p:pic>
        <p:nvPicPr>
          <p:cNvPr id="23" name="Image 4" descr="nod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388620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67512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1508760" y="3840480"/>
            <a:ext cx="10104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26" name="Text 19"/>
          <p:cNvSpPr txBox="1"/>
          <p:nvPr/>
        </p:nvSpPr>
        <p:spPr>
          <a:xfrm>
            <a:off x="1691640" y="3840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3AA8"/>
                </a:solidFill>
              </a:rPr>
              <a:t>Dec – Jan</a:t>
            </a:r>
            <a:endParaRPr lang="en-US" sz="1400" dirty="0"/>
          </a:p>
        </p:txBody>
      </p:sp>
      <p:sp>
        <p:nvSpPr>
          <p:cNvPr id="27" name="Text 20"/>
          <p:cNvSpPr txBox="1"/>
          <p:nvPr/>
        </p:nvSpPr>
        <p:spPr>
          <a:xfrm>
            <a:off x="2971800" y="3840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Iterate &amp; harden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6035040" y="384048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Prioritize feedback, ship app updates, refresh guides, re-test with beta users</a:t>
            </a:r>
            <a:endParaRPr lang="en-US" sz="1400" dirty="0"/>
          </a:p>
        </p:txBody>
      </p:sp>
      <p:pic>
        <p:nvPicPr>
          <p:cNvPr id="29" name="Image 5" descr="nod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709160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667512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1508760" y="4663440"/>
            <a:ext cx="1010412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32" name="Text 24"/>
          <p:cNvSpPr txBox="1"/>
          <p:nvPr/>
        </p:nvSpPr>
        <p:spPr>
          <a:xfrm>
            <a:off x="1691640" y="46634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93AA8"/>
                </a:solidFill>
              </a:rPr>
              <a:t>Jan</a:t>
            </a:r>
            <a:endParaRPr lang="en-US" sz="1400" dirty="0"/>
          </a:p>
        </p:txBody>
      </p:sp>
      <p:sp>
        <p:nvSpPr>
          <p:cNvPr id="33" name="Text 25"/>
          <p:cNvSpPr txBox="1"/>
          <p:nvPr/>
        </p:nvSpPr>
        <p:spPr>
          <a:xfrm>
            <a:off x="2971800" y="4663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/ No-Go</a:t>
            </a:r>
            <a:endParaRPr lang="en-US" sz="1700" dirty="0"/>
          </a:p>
        </p:txBody>
      </p:sp>
      <p:sp>
        <p:nvSpPr>
          <p:cNvPr id="34" name="Text 26"/>
          <p:cNvSpPr txBox="1"/>
          <p:nvPr/>
        </p:nvSpPr>
        <p:spPr>
          <a:xfrm>
            <a:off x="6035040" y="466344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Assess against exit criteria; executive sign-off; finalize comms and support model</a:t>
            </a:r>
            <a:endParaRPr lang="en-US" sz="1400" dirty="0"/>
          </a:p>
        </p:txBody>
      </p:sp>
      <p:pic>
        <p:nvPicPr>
          <p:cNvPr id="35" name="Image 6" descr="n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512" y="5532120"/>
            <a:ext cx="457200" cy="457200"/>
          </a:xfrm>
          <a:prstGeom prst="rect">
            <a:avLst/>
          </a:prstGeom>
        </p:spPr>
      </p:pic>
      <p:sp>
        <p:nvSpPr>
          <p:cNvPr id="36" name="Text 27"/>
          <p:cNvSpPr txBox="1"/>
          <p:nvPr/>
        </p:nvSpPr>
        <p:spPr>
          <a:xfrm>
            <a:off x="667512" y="5532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1508760" y="5486400"/>
            <a:ext cx="10104120" cy="640080"/>
          </a:xfrm>
          <a:prstGeom prst="roundRect">
            <a:avLst>
              <a:gd name="adj" fmla="val 11429"/>
            </a:avLst>
          </a:prstGeom>
          <a:solidFill>
            <a:srgbClr val="3D0A42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38" name="Text 29"/>
          <p:cNvSpPr txBox="1"/>
          <p:nvPr/>
        </p:nvSpPr>
        <p:spPr>
          <a:xfrm>
            <a:off x="1691640" y="54864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6E8"/>
                </a:solidFill>
              </a:rPr>
              <a:t>Feb – Mar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2971800" y="5486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Firm-wide rollout &amp; hypercare</a:t>
            </a:r>
            <a:endParaRPr lang="en-US" sz="1700" dirty="0"/>
          </a:p>
        </p:txBody>
      </p:sp>
      <p:sp>
        <p:nvSpPr>
          <p:cNvPr id="40" name="Text 31"/>
          <p:cNvSpPr txBox="1"/>
          <p:nvPr/>
        </p:nvSpPr>
        <p:spPr>
          <a:xfrm>
            <a:off x="6035040" y="5486400"/>
            <a:ext cx="5440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3DDF2"/>
                </a:solidFill>
              </a:rPr>
              <a:t>Deploy in waves by division, champions network, then transition to BAU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3AA8"/>
                </a:solidFill>
              </a:rPr>
              <a:t>PHASE 1 · BETA COHORT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small, representative cohort shapes the product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840480" cy="4709160"/>
          </a:xfrm>
          <a:prstGeom prst="roundRect">
            <a:avLst>
              <a:gd name="adj" fmla="val 3333"/>
            </a:avLst>
          </a:prstGeom>
          <a:solidFill>
            <a:srgbClr val="3D0A42"/>
          </a:solidFill>
          <a:ln w="12700">
            <a:solidFill>
              <a:srgbClr val="3D0A4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10–15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6E8"/>
                </a:solidFill>
              </a:rPr>
              <a:t>beta testers drawn from BDS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Mix of roles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Mix of data domains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Structured and shared-drive data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Committed for ~8 weeks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46304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83480" y="1737360"/>
            <a:ext cx="594360" cy="59436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8928" y="1892808"/>
            <a:ext cx="283464" cy="28346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715000" y="1737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Owners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24688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Approve retention outcomes and disposal sign-off; validate the decision workflow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183880" y="146304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8458200" y="1737360"/>
            <a:ext cx="594360" cy="59436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3648" y="1892808"/>
            <a:ext cx="283464" cy="28346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9189720" y="17373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Stewards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8458200" y="24688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Apply retention schedules to domain data; test classification and review screens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4709160" y="388620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983480" y="4160520"/>
            <a:ext cx="594360" cy="59436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928" y="4315968"/>
            <a:ext cx="283464" cy="28346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715000" y="4160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Custodians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4983480" y="48920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Validate technical execution, inventory accuracy and disposition evidence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8183880" y="3886200"/>
            <a:ext cx="3246120" cy="2194560"/>
          </a:xfrm>
          <a:prstGeom prst="roundRect">
            <a:avLst>
              <a:gd name="adj" fmla="val 5000"/>
            </a:avLst>
          </a:prstGeom>
          <a:solidFill>
            <a:srgbClr val="F7EEF7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458200" y="4160520"/>
            <a:ext cx="594360" cy="59436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648" y="4315968"/>
            <a:ext cx="283464" cy="28346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189720" y="41605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Selection criteria</a:t>
            </a:r>
            <a:endParaRPr lang="en-US" sz="1800" dirty="0"/>
          </a:p>
        </p:txBody>
      </p:sp>
      <p:sp>
        <p:nvSpPr>
          <p:cNvPr id="27" name="Text 21"/>
          <p:cNvSpPr txBox="1"/>
          <p:nvPr/>
        </p:nvSpPr>
        <p:spPr>
          <a:xfrm>
            <a:off x="8458200" y="489204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Active retention responsibility, willingness to give candid feedback, and a real use case to test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3AA8"/>
                </a:solidFill>
              </a:rPr>
              <a:t>PHASE 2 · WORKING SESSIONS &amp; ENABLEMENT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working sessions plus a self-serve kit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pic>
        <p:nvPicPr>
          <p:cNvPr id="5" name="Image 0" descr="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737360"/>
            <a:ext cx="822960" cy="8229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17373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1874520" y="17373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3AA8"/>
                </a:solidFill>
              </a:rPr>
              <a:t>SESSION 1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1874520" y="202996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Kickoff &amp; hands-on training</a:t>
            </a:r>
            <a:endParaRPr lang="en-US" sz="1900" dirty="0"/>
          </a:p>
        </p:txBody>
      </p:sp>
      <p:sp>
        <p:nvSpPr>
          <p:cNvPr id="9" name="Text 6"/>
          <p:cNvSpPr txBox="1"/>
          <p:nvPr/>
        </p:nvSpPr>
        <p:spPr>
          <a:xfrm>
            <a:off x="1874520" y="25603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Why DRD matters, platform walkthrough, guided tasks on beta users’ own domains, how to log feedback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84048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pic>
        <p:nvPicPr>
          <p:cNvPr id="11" name="Image 1" descr="n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114800"/>
            <a:ext cx="822960" cy="8229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822960" y="4114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9"/>
          <p:cNvSpPr txBox="1"/>
          <p:nvPr/>
        </p:nvSpPr>
        <p:spPr>
          <a:xfrm>
            <a:off x="1874520" y="41148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3AA8"/>
                </a:solidFill>
              </a:rPr>
              <a:t>SESSION 2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1874520" y="4407408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Feedback working session</a:t>
            </a:r>
            <a:endParaRPr lang="en-US" sz="1900" dirty="0"/>
          </a:p>
        </p:txBody>
      </p:sp>
      <p:sp>
        <p:nvSpPr>
          <p:cNvPr id="15" name="Text 11"/>
          <p:cNvSpPr txBox="1"/>
          <p:nvPr/>
        </p:nvSpPr>
        <p:spPr>
          <a:xfrm>
            <a:off x="1874520" y="4937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Data owners and stewards share findings; walk through pain points live; agree priorities for the next release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6355080" y="1463040"/>
            <a:ext cx="5257800" cy="4526280"/>
          </a:xfrm>
          <a:prstGeom prst="roundRect">
            <a:avLst>
              <a:gd name="adj" fmla="val 2828"/>
            </a:avLst>
          </a:prstGeom>
          <a:solidFill>
            <a:srgbClr val="F7EEF7"/>
          </a:solidFill>
          <a:ln w="12700">
            <a:solidFill>
              <a:srgbClr val="F7EEF7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6751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Enablement kit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675120" y="2286000"/>
            <a:ext cx="502920" cy="50292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36" y="2414016"/>
            <a:ext cx="246888" cy="24688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360920" y="22219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42"/>
                </a:solidFill>
              </a:rPr>
              <a:t>Explanation guide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What the platform does and why each step matters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6675120" y="3017520"/>
            <a:ext cx="502920" cy="50292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3136" y="3145536"/>
            <a:ext cx="246888" cy="24688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360920" y="29535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42"/>
                </a:solidFill>
              </a:rPr>
              <a:t>Role quick-reference cards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One page per role: owner, steward, custodian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6675120" y="3749040"/>
            <a:ext cx="502920" cy="50292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3136" y="3877056"/>
            <a:ext cx="246888" cy="24688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7360920" y="368503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42"/>
                </a:solidFill>
              </a:rPr>
              <a:t>Recorded walkthroughs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Short videos for the core workflows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675120" y="4480560"/>
            <a:ext cx="502920" cy="50292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3136" y="4608576"/>
            <a:ext cx="246888" cy="24688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360920" y="44165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42"/>
                </a:solidFill>
              </a:rPr>
              <a:t>Sandbox environment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Safe data to practise on without risk</a:t>
            </a:r>
            <a:endParaRPr lang="en-US" sz="1400" dirty="0"/>
          </a:p>
        </p:txBody>
      </p:sp>
      <p:sp>
        <p:nvSpPr>
          <p:cNvPr id="30" name="Shape 22"/>
          <p:cNvSpPr/>
          <p:nvPr/>
        </p:nvSpPr>
        <p:spPr>
          <a:xfrm>
            <a:off x="6675120" y="5212080"/>
            <a:ext cx="502920" cy="50292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03136" y="5340096"/>
            <a:ext cx="246888" cy="246888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7360920" y="514807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42"/>
                </a:solidFill>
              </a:rPr>
              <a:t>Office hours &amp; feedback channel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Weekly drop-in plus a single place to log issues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3AA8"/>
                </a:solidFill>
              </a:rPr>
              <a:t>PHASE 3 · ITERATE &amp; HARDEN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piece of feedback is captured, decided and closed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275"/>
                </a:solidFill>
              </a:rPr>
              <a:t>A weekly rhythm turns beta findings into app updates and sharper guides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F7EEF7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pic>
        <p:nvPicPr>
          <p:cNvPr id="6" name="Image 0" descr="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86000"/>
            <a:ext cx="914400" cy="9144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5880" y="2514600"/>
            <a:ext cx="457200" cy="457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800" dirty="0"/>
          </a:p>
        </p:txBody>
      </p:sp>
      <p:sp>
        <p:nvSpPr>
          <p:cNvPr id="9" name="Text 5"/>
          <p:cNvSpPr txBox="1"/>
          <p:nvPr/>
        </p:nvSpPr>
        <p:spPr>
          <a:xfrm>
            <a:off x="731520" y="38862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230"/>
                </a:solidFill>
              </a:rPr>
              <a:t>Session notes, feedback form, office hours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7752" y="3383280"/>
            <a:ext cx="201168" cy="2743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2816352" y="201168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pic>
        <p:nvPicPr>
          <p:cNvPr id="12" name="Image 3" descr="n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2286000"/>
            <a:ext cx="914400" cy="914400"/>
          </a:xfrm>
          <a:prstGeom prst="rect">
            <a:avLst/>
          </a:prstGeom>
        </p:spPr>
      </p:pic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2514600"/>
            <a:ext cx="457200" cy="4572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2953512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Triage</a:t>
            </a:r>
            <a:endParaRPr lang="en-US" sz="1800" dirty="0"/>
          </a:p>
        </p:txBody>
      </p:sp>
      <p:sp>
        <p:nvSpPr>
          <p:cNvPr id="15" name="Text 8"/>
          <p:cNvSpPr txBox="1"/>
          <p:nvPr/>
        </p:nvSpPr>
        <p:spPr>
          <a:xfrm>
            <a:off x="2999232" y="38862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230"/>
                </a:solidFill>
              </a:rPr>
              <a:t>Weekly: tag as defect, usability, enhancement or training gap</a:t>
            </a:r>
            <a:endParaRPr lang="en-US" sz="13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5464" y="3383280"/>
            <a:ext cx="201168" cy="274320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5084064" y="201168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F7EEF7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pic>
        <p:nvPicPr>
          <p:cNvPr id="18" name="Image 6" descr="nod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32704" y="2286000"/>
            <a:ext cx="914400" cy="914400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61304" y="2514600"/>
            <a:ext cx="457200" cy="457200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5221224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</a:t>
            </a:r>
            <a:endParaRPr lang="en-US" sz="1800" dirty="0"/>
          </a:p>
        </p:txBody>
      </p:sp>
      <p:sp>
        <p:nvSpPr>
          <p:cNvPr id="21" name="Text 11"/>
          <p:cNvSpPr txBox="1"/>
          <p:nvPr/>
        </p:nvSpPr>
        <p:spPr>
          <a:xfrm>
            <a:off x="5266944" y="38862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230"/>
                </a:solidFill>
              </a:rPr>
              <a:t>Severity × reach; must-fix before go-live vs backlog</a:t>
            </a:r>
            <a:endParaRPr lang="en-US" sz="130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23176" y="3383280"/>
            <a:ext cx="201168" cy="274320"/>
          </a:xfrm>
          <a:prstGeom prst="rect">
            <a:avLst/>
          </a:prstGeom>
        </p:spPr>
      </p:pic>
      <p:sp>
        <p:nvSpPr>
          <p:cNvPr id="23" name="Shape 12"/>
          <p:cNvSpPr/>
          <p:nvPr/>
        </p:nvSpPr>
        <p:spPr>
          <a:xfrm>
            <a:off x="7351776" y="201168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pic>
        <p:nvPicPr>
          <p:cNvPr id="24" name="Image 9" descr="node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0416" y="2286000"/>
            <a:ext cx="914400" cy="914400"/>
          </a:xfrm>
          <a:prstGeom prst="rect">
            <a:avLst/>
          </a:prstGeom>
        </p:spPr>
      </p:pic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29016" y="2514600"/>
            <a:ext cx="457200" cy="457200"/>
          </a:xfrm>
          <a:prstGeom prst="rect">
            <a:avLst/>
          </a:prstGeom>
        </p:spPr>
      </p:pic>
      <p:sp>
        <p:nvSpPr>
          <p:cNvPr id="26" name="Text 13"/>
          <p:cNvSpPr txBox="1"/>
          <p:nvPr/>
        </p:nvSpPr>
        <p:spPr>
          <a:xfrm>
            <a:off x="7488936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Release</a:t>
            </a:r>
            <a:endParaRPr lang="en-US" sz="1800" dirty="0"/>
          </a:p>
        </p:txBody>
      </p:sp>
      <p:sp>
        <p:nvSpPr>
          <p:cNvPr id="27" name="Text 14"/>
          <p:cNvSpPr txBox="1"/>
          <p:nvPr/>
        </p:nvSpPr>
        <p:spPr>
          <a:xfrm>
            <a:off x="7534656" y="38862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230"/>
                </a:solidFill>
              </a:rPr>
              <a:t>Short release cycles; update guides with each release</a:t>
            </a:r>
            <a:endParaRPr lang="en-US" sz="1300" dirty="0"/>
          </a:p>
        </p:txBody>
      </p:sp>
      <p:pic>
        <p:nvPicPr>
          <p:cNvPr id="2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90888" y="3383280"/>
            <a:ext cx="201168" cy="274320"/>
          </a:xfrm>
          <a:prstGeom prst="rect">
            <a:avLst/>
          </a:prstGeom>
        </p:spPr>
      </p:pic>
      <p:sp>
        <p:nvSpPr>
          <p:cNvPr id="29" name="Shape 15"/>
          <p:cNvSpPr/>
          <p:nvPr/>
        </p:nvSpPr>
        <p:spPr>
          <a:xfrm>
            <a:off x="9619488" y="2011680"/>
            <a:ext cx="2011680" cy="3017520"/>
          </a:xfrm>
          <a:prstGeom prst="roundRect">
            <a:avLst>
              <a:gd name="adj" fmla="val 5455"/>
            </a:avLst>
          </a:prstGeom>
          <a:solidFill>
            <a:srgbClr val="F7EEF7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pic>
        <p:nvPicPr>
          <p:cNvPr id="30" name="Image 12" descr="nod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68128" y="2286000"/>
            <a:ext cx="914400" cy="914400"/>
          </a:xfrm>
          <a:prstGeom prst="rect">
            <a:avLst/>
          </a:prstGeom>
        </p:spPr>
      </p:pic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396728" y="2514600"/>
            <a:ext cx="457200" cy="457200"/>
          </a:xfrm>
          <a:prstGeom prst="rect">
            <a:avLst/>
          </a:prstGeom>
        </p:spPr>
      </p:pic>
      <p:sp>
        <p:nvSpPr>
          <p:cNvPr id="32" name="Text 16"/>
          <p:cNvSpPr txBox="1"/>
          <p:nvPr/>
        </p:nvSpPr>
        <p:spPr>
          <a:xfrm>
            <a:off x="9756648" y="33832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Close the loop</a:t>
            </a:r>
            <a:endParaRPr lang="en-US" sz="1800" dirty="0"/>
          </a:p>
        </p:txBody>
      </p:sp>
      <p:sp>
        <p:nvSpPr>
          <p:cNvPr id="33" name="Text 17"/>
          <p:cNvSpPr txBox="1"/>
          <p:nvPr/>
        </p:nvSpPr>
        <p:spPr>
          <a:xfrm>
            <a:off x="9802368" y="3886200"/>
            <a:ext cx="1645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B2230"/>
                </a:solidFill>
              </a:rPr>
              <a:t>Tell beta users what changed and re-test with them</a:t>
            </a:r>
            <a:endParaRPr lang="en-US" sz="1300" dirty="0"/>
          </a:p>
        </p:txBody>
      </p:sp>
      <p:sp>
        <p:nvSpPr>
          <p:cNvPr id="34" name="Shape 18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3D0A42"/>
          </a:solidFill>
          <a:ln w="12700">
            <a:solidFill>
              <a:srgbClr val="3D0A42"/>
            </a:solidFill>
            <a:prstDash val="solid"/>
          </a:ln>
        </p:spPr>
      </p:sp>
      <p:sp>
        <p:nvSpPr>
          <p:cNvPr id="35" name="Text 19"/>
          <p:cNvSpPr txBox="1"/>
          <p:nvPr/>
        </p:nvSpPr>
        <p:spPr>
          <a:xfrm>
            <a:off x="822960" y="534924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9C6E8"/>
                </a:solidFill>
              </a:rPr>
              <a:t>Rule of thumb: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no open Severity 1–2 items and every piece of feedback dispositioned before go/no-go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3AA8"/>
                </a:solidFill>
              </a:rPr>
              <a:t>PHASE 4 · GO / NO-GO GATE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scale only when the evidence says we are ready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E6275"/>
                </a:solidFill>
              </a:rPr>
              <a:t>Proposed exit criteria for executive sign-off (targets to confirm with sponsors)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148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93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90%</a:t>
            </a:r>
            <a:endParaRPr lang="en-US" sz="48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</a:rPr>
              <a:t>Task completion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6118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Beta users complete core workflows unaided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83280" y="19202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11880" y="2148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93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</a:rPr>
              <a:t>Open Sev 1–2 defects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6118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No critical or high defects outstanding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19202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446520" y="2148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93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4 / 5</a:t>
            </a:r>
            <a:endParaRPr lang="en-US" sz="4800" dirty="0"/>
          </a:p>
        </p:txBody>
      </p:sp>
      <p:sp>
        <p:nvSpPr>
          <p:cNvPr id="15" name="Text 13"/>
          <p:cNvSpPr txBox="1"/>
          <p:nvPr/>
        </p:nvSpPr>
        <p:spPr>
          <a:xfrm>
            <a:off x="6446520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</a:rPr>
              <a:t>User satisfaction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36118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Average beta rating of ease and usefulness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52560" y="1920240"/>
            <a:ext cx="2606040" cy="27432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281160" y="2148840"/>
            <a:ext cx="2148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A93A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800" dirty="0"/>
          </a:p>
        </p:txBody>
      </p:sp>
      <p:sp>
        <p:nvSpPr>
          <p:cNvPr id="19" name="Text 17"/>
          <p:cNvSpPr txBox="1"/>
          <p:nvPr/>
        </p:nvSpPr>
        <p:spPr>
          <a:xfrm>
            <a:off x="9281160" y="320040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</a:rPr>
              <a:t>Feedback dispositioned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3611880"/>
            <a:ext cx="2148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Every item fixed, scheduled or explained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4937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93AA8"/>
                </a:solidFill>
              </a:rPr>
              <a:t>ALSO REQUIRED</a:t>
            </a:r>
            <a:endParaRPr lang="en-US" sz="11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349240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914400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Guides and training refreshed for final release</a:t>
            </a:r>
            <a:endParaRPr lang="en-US" sz="1400" dirty="0"/>
          </a:p>
        </p:txBody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5349240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749040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Support model and escalation path staffed</a:t>
            </a:r>
            <a:endParaRPr lang="en-US" sz="14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5349240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6583680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Division champions named for every wave</a:t>
            </a:r>
            <a:endParaRPr lang="en-US" sz="14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534924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9418320" y="525780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Data Owner disposal sign-off process confirmed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3AA8"/>
                </a:solidFill>
              </a:rPr>
              <a:t>PHASE 5 · FIRM-WIDE ROLLOUT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 out in waves, each one easier than the last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3474720"/>
            <a:ext cx="2606040" cy="2011680"/>
          </a:xfrm>
          <a:prstGeom prst="roundRect">
            <a:avLst>
              <a:gd name="adj" fmla="val 5455"/>
            </a:avLst>
          </a:prstGeom>
          <a:solidFill>
            <a:srgbClr val="E9C6E8"/>
          </a:solidFill>
          <a:ln w="12700">
            <a:solidFill>
              <a:srgbClr val="E9C6E8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365760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1462"/>
                </a:solidFill>
              </a:rPr>
              <a:t>FEB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93192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1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3891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A42"/>
                </a:solidFill>
              </a:rPr>
              <a:t>Beta domains go live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75488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230"/>
                </a:solidFill>
              </a:rPr>
              <a:t>BDS and beta users move to production, acting as champions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83280" y="2971800"/>
            <a:ext cx="2606040" cy="2514600"/>
          </a:xfrm>
          <a:prstGeom prst="roundRect">
            <a:avLst>
              <a:gd name="adj" fmla="val 4364"/>
            </a:avLst>
          </a:prstGeom>
          <a:solidFill>
            <a:srgbClr val="C878C7"/>
          </a:solidFill>
          <a:ln w="12700">
            <a:solidFill>
              <a:srgbClr val="C878C7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3611880" y="3154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C1462"/>
                </a:solidFill>
              </a:rPr>
              <a:t>FEB – MAR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342900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2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88620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0A42"/>
                </a:solidFill>
              </a:rPr>
              <a:t>Early adopter divisions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11880" y="425196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230"/>
                </a:solidFill>
              </a:rPr>
              <a:t>Divisions with mature stewardship and clear retention owners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2468880"/>
            <a:ext cx="2606040" cy="3017520"/>
          </a:xfrm>
          <a:prstGeom prst="roundRect">
            <a:avLst>
              <a:gd name="adj" fmla="val 4211"/>
            </a:avLst>
          </a:prstGeom>
          <a:solidFill>
            <a:srgbClr val="A93AA8"/>
          </a:solidFill>
          <a:ln w="12700">
            <a:solidFill>
              <a:srgbClr val="A93AA8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46520" y="26517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C6E8"/>
                </a:solidFill>
              </a:rPr>
              <a:t>MAR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92608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Wave 3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38328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Remaining divisions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374904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EEF7"/>
                </a:solidFill>
              </a:rPr>
              <a:t>All other data owners and stewards across the firm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606040" cy="3520440"/>
          </a:xfrm>
          <a:prstGeom prst="roundRect">
            <a:avLst>
              <a:gd name="adj" fmla="val 4211"/>
            </a:avLst>
          </a:prstGeom>
          <a:solidFill>
            <a:srgbClr val="3D0A42"/>
          </a:solidFill>
          <a:ln w="12700">
            <a:solidFill>
              <a:srgbClr val="3D0A42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81160" y="214884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C6E8"/>
                </a:solidFill>
              </a:rPr>
              <a:t>MAR – APR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42316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Hypercare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28803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Stabilize &amp; hand off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281160" y="3246120"/>
            <a:ext cx="2148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7EEF7"/>
                </a:solidFill>
              </a:rPr>
              <a:t>4–6 weeks of elevated support, then transition to BAU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6692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0A42"/>
                </a:solidFill>
              </a:rPr>
              <a:t>Each wave repeats the beta playbook at scale: </a:t>
            </a:r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targeted comms, live training, guides, office hours, and a feedback channel that stays open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3AA8"/>
                </a:solidFill>
              </a:rPr>
              <a:t>GOVERNANCE &amp; OWNERSHIP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Clear ownership at every step of the rollout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3D0A42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A93AA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1892808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54480" y="1737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DRD Program (ODG)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688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DDF2"/>
                </a:solidFill>
              </a:rPr>
              <a:t>Owns the plan, beta cohort, criteria, comms and go/no-go recommendation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737360"/>
            <a:ext cx="594360" cy="594360"/>
          </a:xfrm>
          <a:prstGeom prst="ellipse">
            <a:avLst/>
          </a:prstGeom>
          <a:solidFill>
            <a:srgbClr val="F7EEF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7448" y="1892808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03520" y="1737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&amp; Engineering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4688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Builds and releases app updates, runs defect triage, owns environments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4630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1040" y="1737360"/>
            <a:ext cx="594360" cy="594360"/>
          </a:xfrm>
          <a:prstGeom prst="ellipse">
            <a:avLst/>
          </a:prstGeom>
          <a:solidFill>
            <a:srgbClr val="F7EEF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6488" y="1892808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052560" y="173736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Owners &amp; Stewards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46888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Test, give feedback, champion adoption in their divisions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54864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22960" y="4114800"/>
            <a:ext cx="594360" cy="594360"/>
          </a:xfrm>
          <a:prstGeom prst="ellipse">
            <a:avLst/>
          </a:prstGeom>
          <a:solidFill>
            <a:srgbClr val="F7EEF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" y="4270248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54480" y="4114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Records &amp; Information Mgmt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4846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Partners on schedules and shared-drive disposition alignment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29768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114800"/>
            <a:ext cx="594360" cy="594360"/>
          </a:xfrm>
          <a:prstGeom prst="ellipse">
            <a:avLst/>
          </a:prstGeom>
          <a:solidFill>
            <a:srgbClr val="F7EEF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4270248"/>
            <a:ext cx="283464" cy="28346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5303520" y="4114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&amp; Compliance</a:t>
            </a:r>
            <a:endParaRPr lang="en-US" sz="17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4846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Advises on defensible disposition and evidence requirements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8046720" y="384048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9525">
            <a:solidFill>
              <a:srgbClr val="EEDCEE"/>
            </a:solidFill>
            <a:prstDash val="solid"/>
          </a:ln>
          <a:effectLst>
            <a:outerShdw sx="100000" sy="100000" kx="0" ky="0" algn="bl" rotWithShape="0" blurRad="152400" dist="38100" dir="5400000">
              <a:srgbClr val="3D0A42">
                <a:alpha val="14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21040" y="4114800"/>
            <a:ext cx="594360" cy="594360"/>
          </a:xfrm>
          <a:prstGeom prst="ellipse">
            <a:avLst/>
          </a:prstGeom>
          <a:solidFill>
            <a:srgbClr val="F7EEF7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6488" y="4270248"/>
            <a:ext cx="283464" cy="283464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9052560" y="4114800"/>
            <a:ext cx="2331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Change &amp; Communications</a:t>
            </a:r>
            <a:endParaRPr lang="en-US" sz="17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48463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B2230"/>
                </a:solidFill>
              </a:rPr>
              <a:t>Firm-wide announcements, training calendar, intranet content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3AA8"/>
                </a:solidFill>
              </a:rPr>
              <a:t>RISKS &amp; MITIGATIONS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3D0A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risks, owned and mitigated up front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834640"/>
                <a:gridCol w="49377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A4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0A42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Beta users lack time to test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Thin or late feedback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Manager sponsorship, fixed session slots, small focused tasks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 exceeds release capacity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Go-live slips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Severity-based triage; strict must-fix vs backlog line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adoption after go-live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Retention not applied consistently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Champions per division, role-based training, usage reporting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Disposition errors erode trust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 reluctance to sign off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Sandbox practice, review step before execution, audit evidence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delays (scanning, integration)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timing at 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B22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 dependencies weekly; waves can shift independently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EDC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E627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8288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9C6E8"/>
                </a:solidFill>
              </a:rPr>
              <a:t>NEXT 30 DAYS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next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878C7"/>
            </a:solidFill>
            <a:prstDash val="solid"/>
          </a:ln>
        </p:spPr>
      </p:sp>
      <p:pic>
        <p:nvPicPr>
          <p:cNvPr id="5" name="Image 0" descr="n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86000"/>
            <a:ext cx="731520" cy="7315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 beta cohort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DDF2"/>
                </a:solidFill>
              </a:rPr>
              <a:t>Name 10–15 BDS stewards, custodians and owners; secure manager sponsorship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83280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878C7"/>
            </a:solidFill>
            <a:prstDash val="solid"/>
          </a:ln>
        </p:spPr>
      </p:sp>
      <p:pic>
        <p:nvPicPr>
          <p:cNvPr id="10" name="Image 1" descr="n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2286000"/>
            <a:ext cx="731520" cy="7315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5760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365760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Finalize enablement kit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DDF2"/>
                </a:solidFill>
              </a:rPr>
              <a:t>Explanation guide, role cards, walkthrough videos, sandbox ready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217920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878C7"/>
            </a:solidFill>
            <a:prstDash val="solid"/>
          </a:ln>
        </p:spPr>
      </p:sp>
      <p:pic>
        <p:nvPicPr>
          <p:cNvPr id="15" name="Image 2" descr="no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286000"/>
            <a:ext cx="731520" cy="7315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4922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649224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Schedule both sessions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649224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DDF2"/>
                </a:solidFill>
              </a:rPr>
              <a:t>Kickoff/training and the feedback working session on calendars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9052560" y="20116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C878C7"/>
            </a:solidFill>
            <a:prstDash val="solid"/>
          </a:ln>
        </p:spPr>
      </p:sp>
      <p:pic>
        <p:nvPicPr>
          <p:cNvPr id="20" name="Image 3" descr="nod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2286000"/>
            <a:ext cx="731520" cy="7315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2688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2" name="Text 16"/>
          <p:cNvSpPr txBox="1"/>
          <p:nvPr/>
        </p:nvSpPr>
        <p:spPr>
          <a:xfrm>
            <a:off x="9326880" y="32004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Agree exit criteria</a:t>
            </a:r>
            <a:endParaRPr lang="en-US" sz="1900" dirty="0"/>
          </a:p>
        </p:txBody>
      </p:sp>
      <p:sp>
        <p:nvSpPr>
          <p:cNvPr id="23" name="Text 17"/>
          <p:cNvSpPr txBox="1"/>
          <p:nvPr/>
        </p:nvSpPr>
        <p:spPr>
          <a:xfrm>
            <a:off x="9326880" y="393192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DDF2"/>
                </a:solidFill>
              </a:rPr>
              <a:t>Sponsors confirm go/no-go targets and sign-off forum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E9C6E8"/>
                </a:solidFill>
              </a:rPr>
              <a:t>Ask of leadership: endorse the plan and sponsor the go/no-go gate in January</a:t>
            </a:r>
            <a:endParaRPr lang="en-US" sz="1700" dirty="0"/>
          </a:p>
        </p:txBody>
      </p:sp>
      <p:sp>
        <p:nvSpPr>
          <p:cNvPr id="25" name="Text 0"/>
          <p:cNvSpPr/>
          <p:nvPr>
            <p:ph idx="100" type="title" hasCustomPrompt="1"/>
          </p:nvPr>
        </p:nvSpPr>
        <p:spPr>
          <a:xfrm>
            <a:off x="731520" y="2103120"/>
            <a:ext cx="8686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RD Orchid">
  <a:themeElements>
    <a:clrScheme name="DRD Orchid">
      <a:dk1>
        <a:srgbClr val="2B2230"/>
      </a:dk1>
      <a:lt1>
        <a:srgbClr val="FFFFFF"/>
      </a:lt1>
      <a:dk2>
        <a:srgbClr val="3D0A42"/>
      </a:dk2>
      <a:lt2>
        <a:srgbClr val="F7EEF7"/>
      </a:lt2>
      <a:accent1>
        <a:srgbClr val="A93AA8"/>
      </a:accent1>
      <a:accent2>
        <a:srgbClr val="5C1462"/>
      </a:accent2>
      <a:accent3>
        <a:srgbClr val="C878C7"/>
      </a:accent3>
      <a:accent4>
        <a:srgbClr val="E9C6E8"/>
      </a:accent4>
      <a:accent5>
        <a:srgbClr val="8E6A94"/>
      </a:accent5>
      <a:accent6>
        <a:srgbClr val="C9A227"/>
      </a:accent6>
      <a:hlink>
        <a:srgbClr val="A93AA8"/>
      </a:hlink>
      <a:folHlink>
        <a:srgbClr val="5C1462"/>
      </a:folHlink>
    </a:clrScheme>
    <a:fontScheme name="DRD Orchi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DRD Platform Rollout Plan</dc:title>
  <dc:subject>PptxGenJS Presentation</dc:subject>
  <dc:creator>Office of Data Governance</dc:creator>
  <cp:lastModifiedBy>Office of Data Governance</cp:lastModifiedBy>
  <cp:revision>1</cp:revision>
  <dcterms:created xsi:type="dcterms:W3CDTF">2026-10-20T22:32:59Z</dcterms:created>
  <dcterms:modified xsi:type="dcterms:W3CDTF">2026-10-20T22:32:59Z</dcterms:modified>
</cp:coreProperties>
</file>