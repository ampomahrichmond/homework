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3716000" cy="9144000"/>
  <p:notesSz cx="914400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Purge strategy at a glance. Six stages: BigID discovers expired-retention candidates; stewards validate metadata; legal hold and business-dependency checks protect anything that must be kept; data owners give final sign-off; BigID executes secure deletion and leaves a tombstone record; results are verified, reported and the workflow closed. Nothing is purged without owner approval, and every deletion is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Remediation strategy: prioritize the riskiest shares, scan and classify with BigID, validate and decide with stewards and owners, dispose defensibly, then sustain with recurring cycles. DRD leads and owns validation, documentation and reporting, with RIM as a key partner. The response SLA and wave schedule are still to be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F">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286000" y="201168"/>
            <a:ext cx="9144000" cy="548640"/>
          </a:xfrm>
          <a:prstGeom prst="rect">
            <a:avLst/>
          </a:prstGeom>
          <a:noFill/>
          <a:ln/>
        </p:spPr>
        <p:txBody>
          <a:bodyPr wrap="square" rtlCol="0"/>
          <a:lstStyle>
            <a:lvl1pPr algn="ctr" indent="0" marL="0">
              <a:buNone/>
              <a:defRPr lang="en-US" sz="2800" b="1" dirty="0">
                <a:solidFill>
                  <a:srgbClr val="33383D"/>
                </a:solidFill>
              </a:defRPr>
            </a:lvl1pPr>
          </a:lstStyle>
          <a:p>
            <a:pPr algn="ct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image" Target="../media/image-1-25.png"/><Relationship Id="rId26" Type="http://schemas.openxmlformats.org/officeDocument/2006/relationships/image" Target="../media/image-1-26.png"/><Relationship Id="rId27" Type="http://schemas.openxmlformats.org/officeDocument/2006/relationships/slideLayout" Target="../slideLayouts/slideLayout2.xml"/><Relationship Id="rId2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2.xml"/><Relationship Id="rId2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2286000" y="201168"/>
            <a:ext cx="9144000" cy="548640"/>
          </a:xfrm>
          <a:prstGeom prst="rect">
            <a:avLst/>
          </a:prstGeom>
          <a:noFill/>
          <a:ln/>
        </p:spPr>
        <p:txBody>
          <a:bodyPr wrap="square" lIns="0" tIns="0" rIns="0" bIns="0" rtlCol="0" anchor="ctr"/>
          <a:lstStyle/>
          <a:p>
            <a:pPr algn="ctr" indent="0" marL="0">
              <a:buNone/>
            </a:pPr>
            <a:r>
              <a:rPr lang="en-US" sz="2800" b="1" dirty="0">
                <a:solidFill>
                  <a:srgbClr val="33383D"/>
                </a:solidFill>
              </a:rPr>
              <a:t>File Share Retention to Purge / Disposal Workflow</a:t>
            </a:r>
            <a:endParaRPr lang="en-US" sz="2800" dirty="0"/>
          </a:p>
        </p:txBody>
      </p:sp>
      <p:sp>
        <p:nvSpPr>
          <p:cNvPr id="3" name="Shape 1"/>
          <p:cNvSpPr/>
          <p:nvPr/>
        </p:nvSpPr>
        <p:spPr>
          <a:xfrm>
            <a:off x="274320" y="274320"/>
            <a:ext cx="1691640" cy="457200"/>
          </a:xfrm>
          <a:prstGeom prst="roundRect">
            <a:avLst>
              <a:gd name="adj" fmla="val 50000"/>
            </a:avLst>
          </a:prstGeom>
          <a:solidFill>
            <a:srgbClr val="FFC72C"/>
          </a:solidFill>
          <a:ln w="12700">
            <a:solidFill>
              <a:srgbClr val="FFC72C"/>
            </a:solidFill>
            <a:prstDash val="solid"/>
          </a:ln>
        </p:spPr>
      </p:sp>
      <p:pic>
        <p:nvPicPr>
          <p:cNvPr id="4" name="Image 0" descr="preencoded.png">    </p:cNvPr>
          <p:cNvPicPr>
            <a:picLocks noChangeAspect="1"/>
          </p:cNvPicPr>
          <p:nvPr/>
        </p:nvPicPr>
        <p:blipFill>
          <a:blip r:embed="rId1"/>
          <a:stretch>
            <a:fillRect/>
          </a:stretch>
        </p:blipFill>
        <p:spPr>
          <a:xfrm>
            <a:off x="411480" y="365760"/>
            <a:ext cx="274320" cy="274320"/>
          </a:xfrm>
          <a:prstGeom prst="rect">
            <a:avLst/>
          </a:prstGeom>
        </p:spPr>
      </p:pic>
      <p:sp>
        <p:nvSpPr>
          <p:cNvPr id="5" name="Text 2"/>
          <p:cNvSpPr txBox="1"/>
          <p:nvPr/>
        </p:nvSpPr>
        <p:spPr>
          <a:xfrm>
            <a:off x="749808" y="274320"/>
            <a:ext cx="1188720" cy="457200"/>
          </a:xfrm>
          <a:prstGeom prst="rect">
            <a:avLst/>
          </a:prstGeom>
          <a:noFill/>
          <a:ln/>
        </p:spPr>
        <p:txBody>
          <a:bodyPr wrap="square" lIns="0" tIns="0" rIns="0" bIns="0" rtlCol="0" anchor="ctr"/>
          <a:lstStyle/>
          <a:p>
            <a:pPr indent="0" marL="0">
              <a:buNone/>
            </a:pPr>
            <a:r>
              <a:rPr lang="en-US" sz="1100" b="1" spc="100" kern="0" dirty="0">
                <a:solidFill>
                  <a:srgbClr val="33383D"/>
                </a:solidFill>
              </a:rPr>
              <a:t>DRD PROGRAM</a:t>
            </a:r>
            <a:endParaRPr lang="en-US" sz="1100" dirty="0"/>
          </a:p>
        </p:txBody>
      </p:sp>
      <p:sp>
        <p:nvSpPr>
          <p:cNvPr id="6" name="Text 3"/>
          <p:cNvSpPr txBox="1"/>
          <p:nvPr/>
        </p:nvSpPr>
        <p:spPr>
          <a:xfrm>
            <a:off x="11612880" y="274320"/>
            <a:ext cx="1828800" cy="457200"/>
          </a:xfrm>
          <a:prstGeom prst="rect">
            <a:avLst/>
          </a:prstGeom>
          <a:noFill/>
          <a:ln/>
        </p:spPr>
        <p:txBody>
          <a:bodyPr wrap="square" lIns="0" tIns="0" rIns="0" bIns="0" rtlCol="0" anchor="ctr"/>
          <a:lstStyle/>
          <a:p>
            <a:pPr algn="r" indent="0" marL="0">
              <a:buNone/>
            </a:pPr>
            <a:r>
              <a:rPr lang="en-US" sz="1200" dirty="0">
                <a:solidFill>
                  <a:srgbClr val="5F666D"/>
                </a:solidFill>
              </a:rPr>
              <a:t>Platform: </a:t>
            </a:r>
            <a:pPr algn="r" indent="0" marL="0">
              <a:buNone/>
            </a:pPr>
            <a:r>
              <a:rPr lang="en-US" sz="1200" b="1" dirty="0">
                <a:solidFill>
                  <a:srgbClr val="33383D"/>
                </a:solidFill>
              </a:rPr>
              <a:t>BigID</a:t>
            </a:r>
            <a:endParaRPr lang="en-US" sz="1200" dirty="0"/>
          </a:p>
        </p:txBody>
      </p:sp>
      <p:sp>
        <p:nvSpPr>
          <p:cNvPr id="7" name="Text 4"/>
          <p:cNvSpPr txBox="1"/>
          <p:nvPr/>
        </p:nvSpPr>
        <p:spPr>
          <a:xfrm>
            <a:off x="2286000" y="768096"/>
            <a:ext cx="9144000" cy="292608"/>
          </a:xfrm>
          <a:prstGeom prst="rect">
            <a:avLst/>
          </a:prstGeom>
          <a:noFill/>
          <a:ln/>
        </p:spPr>
        <p:txBody>
          <a:bodyPr wrap="square" lIns="0" tIns="0" rIns="0" bIns="0" rtlCol="0" anchor="ctr"/>
          <a:lstStyle/>
          <a:p>
            <a:pPr algn="ctr" indent="0" marL="0">
              <a:buNone/>
            </a:pPr>
            <a:r>
              <a:rPr lang="en-US" sz="1500" b="1" dirty="0">
                <a:solidFill>
                  <a:srgbClr val="33383D"/>
                </a:solidFill>
              </a:rPr>
              <a:t>Discover</a:t>
            </a:r>
            <a:pPr algn="ctr" indent="0" marL="0">
              <a:buNone/>
            </a:pPr>
            <a:r>
              <a:rPr lang="en-US" sz="1500" b="1" dirty="0">
                <a:solidFill>
                  <a:srgbClr val="A87A00"/>
                </a:solidFill>
              </a:rPr>
              <a:t>   →   </a:t>
            </a:r>
            <a:pPr algn="ctr" indent="0" marL="0">
              <a:buNone/>
            </a:pPr>
            <a:r>
              <a:rPr lang="en-US" sz="1500" b="1" dirty="0">
                <a:solidFill>
                  <a:srgbClr val="33383D"/>
                </a:solidFill>
              </a:rPr>
              <a:t>Validate</a:t>
            </a:r>
            <a:pPr algn="ctr" indent="0" marL="0">
              <a:buNone/>
            </a:pPr>
            <a:r>
              <a:rPr lang="en-US" sz="1500" b="1" dirty="0">
                <a:solidFill>
                  <a:srgbClr val="A87A00"/>
                </a:solidFill>
              </a:rPr>
              <a:t>   →   </a:t>
            </a:r>
            <a:pPr algn="ctr" indent="0" marL="0">
              <a:buNone/>
            </a:pPr>
            <a:r>
              <a:rPr lang="en-US" sz="1500" b="1" dirty="0">
                <a:solidFill>
                  <a:srgbClr val="33383D"/>
                </a:solidFill>
              </a:rPr>
              <a:t>Approve</a:t>
            </a:r>
            <a:pPr algn="ctr" indent="0" marL="0">
              <a:buNone/>
            </a:pPr>
            <a:r>
              <a:rPr lang="en-US" sz="1500" b="1" dirty="0">
                <a:solidFill>
                  <a:srgbClr val="A87A00"/>
                </a:solidFill>
              </a:rPr>
              <a:t>   →   </a:t>
            </a:r>
            <a:pPr algn="ctr" indent="0" marL="0">
              <a:buNone/>
            </a:pPr>
            <a:r>
              <a:rPr lang="en-US" sz="1500" b="1" dirty="0">
                <a:solidFill>
                  <a:srgbClr val="33383D"/>
                </a:solidFill>
              </a:rPr>
              <a:t>Execute</a:t>
            </a:r>
            <a:pPr algn="ctr" indent="0" marL="0">
              <a:buNone/>
            </a:pPr>
            <a:r>
              <a:rPr lang="en-US" sz="1500" b="1" dirty="0">
                <a:solidFill>
                  <a:srgbClr val="A87A00"/>
                </a:solidFill>
              </a:rPr>
              <a:t>   →   </a:t>
            </a:r>
            <a:pPr algn="ctr" indent="0" marL="0">
              <a:buNone/>
            </a:pPr>
            <a:r>
              <a:rPr lang="en-US" sz="1500" b="1" dirty="0">
                <a:solidFill>
                  <a:srgbClr val="33383D"/>
                </a:solidFill>
              </a:rPr>
              <a:t>Verify</a:t>
            </a:r>
            <a:pPr algn="ctr" indent="0" marL="0">
              <a:buNone/>
            </a:pPr>
            <a:r>
              <a:rPr lang="en-US" sz="1500" b="1" dirty="0">
                <a:solidFill>
                  <a:srgbClr val="A87A00"/>
                </a:solidFill>
              </a:rPr>
              <a:t>   →   </a:t>
            </a:r>
            <a:pPr algn="ctr" indent="0" marL="0">
              <a:buNone/>
            </a:pPr>
            <a:r>
              <a:rPr lang="en-US" sz="1500" b="1" dirty="0">
                <a:solidFill>
                  <a:srgbClr val="33383D"/>
                </a:solidFill>
              </a:rPr>
              <a:t>Close</a:t>
            </a:r>
            <a:endParaRPr lang="en-US" sz="1500" dirty="0"/>
          </a:p>
        </p:txBody>
      </p:sp>
      <p:sp>
        <p:nvSpPr>
          <p:cNvPr id="8" name="Text 5"/>
          <p:cNvSpPr txBox="1"/>
          <p:nvPr/>
        </p:nvSpPr>
        <p:spPr>
          <a:xfrm>
            <a:off x="2286000" y="1042416"/>
            <a:ext cx="9144000" cy="256032"/>
          </a:xfrm>
          <a:prstGeom prst="rect">
            <a:avLst/>
          </a:prstGeom>
          <a:noFill/>
          <a:ln/>
        </p:spPr>
        <p:txBody>
          <a:bodyPr wrap="square" lIns="0" tIns="0" rIns="0" bIns="0" rtlCol="0" anchor="ctr"/>
          <a:lstStyle/>
          <a:p>
            <a:pPr algn="ctr" indent="0" marL="0">
              <a:buNone/>
            </a:pPr>
            <a:r>
              <a:rPr lang="en-US" sz="1200" i="1" dirty="0">
                <a:solidFill>
                  <a:srgbClr val="5F666D"/>
                </a:solidFill>
              </a:rPr>
              <a:t>Turn metadata into action. Retain what matters. Delete what doesn’t.</a:t>
            </a:r>
            <a:endParaRPr lang="en-US" sz="1200" dirty="0"/>
          </a:p>
        </p:txBody>
      </p:sp>
      <p:sp>
        <p:nvSpPr>
          <p:cNvPr id="9" name="Shape 6"/>
          <p:cNvSpPr/>
          <p:nvPr/>
        </p:nvSpPr>
        <p:spPr>
          <a:xfrm>
            <a:off x="274320" y="1417320"/>
            <a:ext cx="1828800" cy="5760720"/>
          </a:xfrm>
          <a:prstGeom prst="roundRect">
            <a:avLst>
              <a:gd name="adj" fmla="val 5000"/>
            </a:avLst>
          </a:prstGeom>
          <a:solidFill>
            <a:srgbClr val="FFF7DE"/>
          </a:solidFill>
          <a:ln w="12700">
            <a:solidFill>
              <a:srgbClr val="FFF7DE"/>
            </a:solidFill>
            <a:prstDash val="solid"/>
          </a:ln>
        </p:spPr>
      </p:sp>
      <p:sp>
        <p:nvSpPr>
          <p:cNvPr id="10" name="Shape 7"/>
          <p:cNvSpPr/>
          <p:nvPr/>
        </p:nvSpPr>
        <p:spPr>
          <a:xfrm>
            <a:off x="274320" y="1417320"/>
            <a:ext cx="1828800" cy="621792"/>
          </a:xfrm>
          <a:prstGeom prst="roundRect">
            <a:avLst>
              <a:gd name="adj" fmla="val 14706"/>
            </a:avLst>
          </a:prstGeom>
          <a:solidFill>
            <a:srgbClr val="FFD866"/>
          </a:solidFill>
          <a:ln w="12700">
            <a:solidFill>
              <a:srgbClr val="FFD866"/>
            </a:solidFill>
            <a:prstDash val="solid"/>
          </a:ln>
        </p:spPr>
      </p:sp>
      <p:sp>
        <p:nvSpPr>
          <p:cNvPr id="11" name="Shape 8"/>
          <p:cNvSpPr/>
          <p:nvPr/>
        </p:nvSpPr>
        <p:spPr>
          <a:xfrm>
            <a:off x="365760" y="1545336"/>
            <a:ext cx="365760" cy="365760"/>
          </a:xfrm>
          <a:prstGeom prst="ellipse">
            <a:avLst/>
          </a:prstGeom>
          <a:solidFill>
            <a:srgbClr val="33383D"/>
          </a:solidFill>
          <a:ln w="19050">
            <a:solidFill>
              <a:srgbClr val="FFFFFF"/>
            </a:solidFill>
            <a:prstDash val="solid"/>
          </a:ln>
        </p:spPr>
      </p:sp>
      <p:sp>
        <p:nvSpPr>
          <p:cNvPr id="12" name="Text 9"/>
          <p:cNvSpPr txBox="1"/>
          <p:nvPr/>
        </p:nvSpPr>
        <p:spPr>
          <a:xfrm>
            <a:off x="365760" y="1545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3" name="Text 10"/>
          <p:cNvSpPr txBox="1"/>
          <p:nvPr/>
        </p:nvSpPr>
        <p:spPr>
          <a:xfrm>
            <a:off x="804672" y="1472184"/>
            <a:ext cx="1261872" cy="512064"/>
          </a:xfrm>
          <a:prstGeom prst="rect">
            <a:avLst/>
          </a:prstGeom>
          <a:noFill/>
          <a:ln/>
        </p:spPr>
        <p:txBody>
          <a:bodyPr wrap="square" lIns="0" tIns="0" rIns="0" bIns="0" rtlCol="0" anchor="ctr"/>
          <a:lstStyle/>
          <a:p>
            <a:pPr indent="0" marL="0">
              <a:buNone/>
            </a:pPr>
            <a:r>
              <a:rPr lang="en-US" sz="1150" b="1" dirty="0">
                <a:solidFill>
                  <a:srgbClr val="33383D"/>
                </a:solidFill>
              </a:rPr>
              <a:t>Ingest &amp; Identify</a:t>
            </a:r>
            <a:endParaRPr lang="en-US" sz="1000" dirty="0"/>
          </a:p>
          <a:p>
            <a:pPr indent="0" marL="0">
              <a:buNone/>
            </a:pPr>
            <a:r>
              <a:rPr lang="en-US" sz="1000" dirty="0">
                <a:solidFill>
                  <a:srgbClr val="33383D"/>
                </a:solidFill>
              </a:rPr>
              <a:t>From BigID scan</a:t>
            </a:r>
            <a:endParaRPr lang="en-US" sz="1000" dirty="0"/>
          </a:p>
        </p:txBody>
      </p:sp>
      <p:sp>
        <p:nvSpPr>
          <p:cNvPr id="14" name="Shape 11"/>
          <p:cNvSpPr/>
          <p:nvPr/>
        </p:nvSpPr>
        <p:spPr>
          <a:xfrm>
            <a:off x="2304288" y="1417320"/>
            <a:ext cx="2148840" cy="5760720"/>
          </a:xfrm>
          <a:prstGeom prst="roundRect">
            <a:avLst>
              <a:gd name="adj" fmla="val 4255"/>
            </a:avLst>
          </a:prstGeom>
          <a:solidFill>
            <a:srgbClr val="F0F8EC"/>
          </a:solidFill>
          <a:ln w="12700">
            <a:solidFill>
              <a:srgbClr val="F0F8EC"/>
            </a:solidFill>
            <a:prstDash val="solid"/>
          </a:ln>
        </p:spPr>
      </p:sp>
      <p:sp>
        <p:nvSpPr>
          <p:cNvPr id="15" name="Shape 12"/>
          <p:cNvSpPr/>
          <p:nvPr/>
        </p:nvSpPr>
        <p:spPr>
          <a:xfrm>
            <a:off x="2304288" y="1417320"/>
            <a:ext cx="2148840" cy="621792"/>
          </a:xfrm>
          <a:prstGeom prst="roundRect">
            <a:avLst>
              <a:gd name="adj" fmla="val 14706"/>
            </a:avLst>
          </a:prstGeom>
          <a:solidFill>
            <a:srgbClr val="C3E6B4"/>
          </a:solidFill>
          <a:ln w="12700">
            <a:solidFill>
              <a:srgbClr val="C3E6B4"/>
            </a:solidFill>
            <a:prstDash val="solid"/>
          </a:ln>
        </p:spPr>
      </p:sp>
      <p:sp>
        <p:nvSpPr>
          <p:cNvPr id="16" name="Shape 13"/>
          <p:cNvSpPr/>
          <p:nvPr/>
        </p:nvSpPr>
        <p:spPr>
          <a:xfrm>
            <a:off x="2395728" y="1545336"/>
            <a:ext cx="365760" cy="365760"/>
          </a:xfrm>
          <a:prstGeom prst="ellipse">
            <a:avLst/>
          </a:prstGeom>
          <a:solidFill>
            <a:srgbClr val="33383D"/>
          </a:solidFill>
          <a:ln w="19050">
            <a:solidFill>
              <a:srgbClr val="FFFFFF"/>
            </a:solidFill>
            <a:prstDash val="solid"/>
          </a:ln>
        </p:spPr>
      </p:sp>
      <p:sp>
        <p:nvSpPr>
          <p:cNvPr id="17" name="Text 14"/>
          <p:cNvSpPr txBox="1"/>
          <p:nvPr/>
        </p:nvSpPr>
        <p:spPr>
          <a:xfrm>
            <a:off x="2395728" y="1545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5"/>
          <p:cNvSpPr txBox="1"/>
          <p:nvPr/>
        </p:nvSpPr>
        <p:spPr>
          <a:xfrm>
            <a:off x="2834640" y="1472184"/>
            <a:ext cx="1581912" cy="512064"/>
          </a:xfrm>
          <a:prstGeom prst="rect">
            <a:avLst/>
          </a:prstGeom>
          <a:noFill/>
          <a:ln/>
        </p:spPr>
        <p:txBody>
          <a:bodyPr wrap="square" lIns="0" tIns="0" rIns="0" bIns="0" rtlCol="0" anchor="ctr"/>
          <a:lstStyle/>
          <a:p>
            <a:pPr indent="0" marL="0">
              <a:buNone/>
            </a:pPr>
            <a:r>
              <a:rPr lang="en-US" sz="1150" b="1" dirty="0">
                <a:solidFill>
                  <a:srgbClr val="33383D"/>
                </a:solidFill>
              </a:rPr>
              <a:t>Validate Metadata</a:t>
            </a:r>
            <a:endParaRPr lang="en-US" sz="1000" dirty="0"/>
          </a:p>
          <a:p>
            <a:pPr indent="0" marL="0">
              <a:buNone/>
            </a:pPr>
            <a:r>
              <a:rPr lang="en-US" sz="1000" dirty="0">
                <a:solidFill>
                  <a:srgbClr val="33383D"/>
                </a:solidFill>
              </a:rPr>
              <a:t>Records &amp; policy check</a:t>
            </a:r>
            <a:endParaRPr lang="en-US" sz="1000" dirty="0"/>
          </a:p>
        </p:txBody>
      </p:sp>
      <p:sp>
        <p:nvSpPr>
          <p:cNvPr id="19" name="Shape 16"/>
          <p:cNvSpPr/>
          <p:nvPr/>
        </p:nvSpPr>
        <p:spPr>
          <a:xfrm>
            <a:off x="4654296" y="1417320"/>
            <a:ext cx="2697480" cy="5760720"/>
          </a:xfrm>
          <a:prstGeom prst="roundRect">
            <a:avLst>
              <a:gd name="adj" fmla="val 3390"/>
            </a:avLst>
          </a:prstGeom>
          <a:solidFill>
            <a:srgbClr val="FFF7DE"/>
          </a:solidFill>
          <a:ln w="12700">
            <a:solidFill>
              <a:srgbClr val="FFF7DE"/>
            </a:solidFill>
            <a:prstDash val="solid"/>
          </a:ln>
        </p:spPr>
      </p:sp>
      <p:sp>
        <p:nvSpPr>
          <p:cNvPr id="20" name="Shape 17"/>
          <p:cNvSpPr/>
          <p:nvPr/>
        </p:nvSpPr>
        <p:spPr>
          <a:xfrm>
            <a:off x="4654296" y="1417320"/>
            <a:ext cx="2697480" cy="621792"/>
          </a:xfrm>
          <a:prstGeom prst="roundRect">
            <a:avLst>
              <a:gd name="adj" fmla="val 14706"/>
            </a:avLst>
          </a:prstGeom>
          <a:solidFill>
            <a:srgbClr val="FFD866"/>
          </a:solidFill>
          <a:ln w="12700">
            <a:solidFill>
              <a:srgbClr val="FFD866"/>
            </a:solidFill>
            <a:prstDash val="solid"/>
          </a:ln>
        </p:spPr>
      </p:sp>
      <p:sp>
        <p:nvSpPr>
          <p:cNvPr id="21" name="Shape 18"/>
          <p:cNvSpPr/>
          <p:nvPr/>
        </p:nvSpPr>
        <p:spPr>
          <a:xfrm>
            <a:off x="4745736" y="1545336"/>
            <a:ext cx="365760" cy="365760"/>
          </a:xfrm>
          <a:prstGeom prst="ellipse">
            <a:avLst/>
          </a:prstGeom>
          <a:solidFill>
            <a:srgbClr val="33383D"/>
          </a:solidFill>
          <a:ln w="19050">
            <a:solidFill>
              <a:srgbClr val="FFFFFF"/>
            </a:solidFill>
            <a:prstDash val="solid"/>
          </a:ln>
        </p:spPr>
      </p:sp>
      <p:sp>
        <p:nvSpPr>
          <p:cNvPr id="22" name="Text 19"/>
          <p:cNvSpPr txBox="1"/>
          <p:nvPr/>
        </p:nvSpPr>
        <p:spPr>
          <a:xfrm>
            <a:off x="4745736" y="1545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0"/>
          <p:cNvSpPr txBox="1"/>
          <p:nvPr/>
        </p:nvSpPr>
        <p:spPr>
          <a:xfrm>
            <a:off x="5184648" y="1472184"/>
            <a:ext cx="2130552" cy="512064"/>
          </a:xfrm>
          <a:prstGeom prst="rect">
            <a:avLst/>
          </a:prstGeom>
          <a:noFill/>
          <a:ln/>
        </p:spPr>
        <p:txBody>
          <a:bodyPr wrap="square" lIns="0" tIns="0" rIns="0" bIns="0" rtlCol="0" anchor="ctr"/>
          <a:lstStyle/>
          <a:p>
            <a:pPr indent="0" marL="0">
              <a:buNone/>
            </a:pPr>
            <a:r>
              <a:rPr lang="en-US" sz="1150" b="1" dirty="0">
                <a:solidFill>
                  <a:srgbClr val="33383D"/>
                </a:solidFill>
              </a:rPr>
              <a:t>Hold &amp; Risk Check</a:t>
            </a:r>
            <a:endParaRPr lang="en-US" sz="1000" dirty="0"/>
          </a:p>
          <a:p>
            <a:pPr indent="0" marL="0">
              <a:buNone/>
            </a:pPr>
            <a:r>
              <a:rPr lang="en-US" sz="1000" dirty="0">
                <a:solidFill>
                  <a:srgbClr val="33383D"/>
                </a:solidFill>
              </a:rPr>
              <a:t>Compliance safeguards</a:t>
            </a:r>
            <a:endParaRPr lang="en-US" sz="1000" dirty="0"/>
          </a:p>
        </p:txBody>
      </p:sp>
      <p:sp>
        <p:nvSpPr>
          <p:cNvPr id="24" name="Shape 21"/>
          <p:cNvSpPr/>
          <p:nvPr/>
        </p:nvSpPr>
        <p:spPr>
          <a:xfrm>
            <a:off x="7552944" y="1417320"/>
            <a:ext cx="2286000" cy="5760720"/>
          </a:xfrm>
          <a:prstGeom prst="roundRect">
            <a:avLst>
              <a:gd name="adj" fmla="val 4000"/>
            </a:avLst>
          </a:prstGeom>
          <a:solidFill>
            <a:srgbClr val="F0F8EC"/>
          </a:solidFill>
          <a:ln w="12700">
            <a:solidFill>
              <a:srgbClr val="F0F8EC"/>
            </a:solidFill>
            <a:prstDash val="solid"/>
          </a:ln>
        </p:spPr>
      </p:sp>
      <p:sp>
        <p:nvSpPr>
          <p:cNvPr id="25" name="Shape 22"/>
          <p:cNvSpPr/>
          <p:nvPr/>
        </p:nvSpPr>
        <p:spPr>
          <a:xfrm>
            <a:off x="7552944" y="1417320"/>
            <a:ext cx="2286000" cy="621792"/>
          </a:xfrm>
          <a:prstGeom prst="roundRect">
            <a:avLst>
              <a:gd name="adj" fmla="val 14706"/>
            </a:avLst>
          </a:prstGeom>
          <a:solidFill>
            <a:srgbClr val="C3E6B4"/>
          </a:solidFill>
          <a:ln w="12700">
            <a:solidFill>
              <a:srgbClr val="C3E6B4"/>
            </a:solidFill>
            <a:prstDash val="solid"/>
          </a:ln>
        </p:spPr>
      </p:sp>
      <p:sp>
        <p:nvSpPr>
          <p:cNvPr id="26" name="Shape 23"/>
          <p:cNvSpPr/>
          <p:nvPr/>
        </p:nvSpPr>
        <p:spPr>
          <a:xfrm>
            <a:off x="7644384" y="1545336"/>
            <a:ext cx="365760" cy="365760"/>
          </a:xfrm>
          <a:prstGeom prst="ellipse">
            <a:avLst/>
          </a:prstGeom>
          <a:solidFill>
            <a:srgbClr val="33383D"/>
          </a:solidFill>
          <a:ln w="19050">
            <a:solidFill>
              <a:srgbClr val="FFFFFF"/>
            </a:solidFill>
            <a:prstDash val="solid"/>
          </a:ln>
        </p:spPr>
      </p:sp>
      <p:sp>
        <p:nvSpPr>
          <p:cNvPr id="27" name="Text 24"/>
          <p:cNvSpPr txBox="1"/>
          <p:nvPr/>
        </p:nvSpPr>
        <p:spPr>
          <a:xfrm>
            <a:off x="7644384" y="1545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8" name="Text 25"/>
          <p:cNvSpPr txBox="1"/>
          <p:nvPr/>
        </p:nvSpPr>
        <p:spPr>
          <a:xfrm>
            <a:off x="8083296" y="1472184"/>
            <a:ext cx="1719072" cy="512064"/>
          </a:xfrm>
          <a:prstGeom prst="rect">
            <a:avLst/>
          </a:prstGeom>
          <a:noFill/>
          <a:ln/>
        </p:spPr>
        <p:txBody>
          <a:bodyPr wrap="square" lIns="0" tIns="0" rIns="0" bIns="0" rtlCol="0" anchor="ctr"/>
          <a:lstStyle/>
          <a:p>
            <a:pPr indent="0" marL="0">
              <a:buNone/>
            </a:pPr>
            <a:r>
              <a:rPr lang="en-US" sz="1150" b="1" dirty="0">
                <a:solidFill>
                  <a:srgbClr val="33383D"/>
                </a:solidFill>
              </a:rPr>
              <a:t>Approval</a:t>
            </a:r>
            <a:endParaRPr lang="en-US" sz="1000" dirty="0"/>
          </a:p>
          <a:p>
            <a:pPr indent="0" marL="0">
              <a:buNone/>
            </a:pPr>
            <a:r>
              <a:rPr lang="en-US" sz="1000" dirty="0">
                <a:solidFill>
                  <a:srgbClr val="33383D"/>
                </a:solidFill>
              </a:rPr>
              <a:t>Review &amp; sign-off</a:t>
            </a:r>
            <a:endParaRPr lang="en-US" sz="1000" dirty="0"/>
          </a:p>
        </p:txBody>
      </p:sp>
      <p:sp>
        <p:nvSpPr>
          <p:cNvPr id="29" name="Shape 26"/>
          <p:cNvSpPr/>
          <p:nvPr/>
        </p:nvSpPr>
        <p:spPr>
          <a:xfrm>
            <a:off x="10040112" y="1417320"/>
            <a:ext cx="1600200" cy="5760720"/>
          </a:xfrm>
          <a:prstGeom prst="roundRect">
            <a:avLst>
              <a:gd name="adj" fmla="val 5714"/>
            </a:avLst>
          </a:prstGeom>
          <a:solidFill>
            <a:srgbClr val="FFF7DE"/>
          </a:solidFill>
          <a:ln w="12700">
            <a:solidFill>
              <a:srgbClr val="FFF7DE"/>
            </a:solidFill>
            <a:prstDash val="solid"/>
          </a:ln>
        </p:spPr>
      </p:sp>
      <p:sp>
        <p:nvSpPr>
          <p:cNvPr id="30" name="Shape 27"/>
          <p:cNvSpPr/>
          <p:nvPr/>
        </p:nvSpPr>
        <p:spPr>
          <a:xfrm>
            <a:off x="10040112" y="1417320"/>
            <a:ext cx="1600200" cy="621792"/>
          </a:xfrm>
          <a:prstGeom prst="roundRect">
            <a:avLst>
              <a:gd name="adj" fmla="val 14706"/>
            </a:avLst>
          </a:prstGeom>
          <a:solidFill>
            <a:srgbClr val="FFD866"/>
          </a:solidFill>
          <a:ln w="12700">
            <a:solidFill>
              <a:srgbClr val="FFD866"/>
            </a:solidFill>
            <a:prstDash val="solid"/>
          </a:ln>
        </p:spPr>
      </p:sp>
      <p:sp>
        <p:nvSpPr>
          <p:cNvPr id="31" name="Shape 28"/>
          <p:cNvSpPr/>
          <p:nvPr/>
        </p:nvSpPr>
        <p:spPr>
          <a:xfrm>
            <a:off x="10131552" y="1545336"/>
            <a:ext cx="365760" cy="365760"/>
          </a:xfrm>
          <a:prstGeom prst="ellipse">
            <a:avLst/>
          </a:prstGeom>
          <a:solidFill>
            <a:srgbClr val="33383D"/>
          </a:solidFill>
          <a:ln w="19050">
            <a:solidFill>
              <a:srgbClr val="FFFFFF"/>
            </a:solidFill>
            <a:prstDash val="solid"/>
          </a:ln>
        </p:spPr>
      </p:sp>
      <p:sp>
        <p:nvSpPr>
          <p:cNvPr id="32" name="Text 29"/>
          <p:cNvSpPr txBox="1"/>
          <p:nvPr/>
        </p:nvSpPr>
        <p:spPr>
          <a:xfrm>
            <a:off x="10131552" y="1545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3" name="Text 30"/>
          <p:cNvSpPr txBox="1"/>
          <p:nvPr/>
        </p:nvSpPr>
        <p:spPr>
          <a:xfrm>
            <a:off x="10570464" y="1472184"/>
            <a:ext cx="1033272" cy="512064"/>
          </a:xfrm>
          <a:prstGeom prst="rect">
            <a:avLst/>
          </a:prstGeom>
          <a:noFill/>
          <a:ln/>
        </p:spPr>
        <p:txBody>
          <a:bodyPr wrap="square" lIns="0" tIns="0" rIns="0" bIns="0" rtlCol="0" anchor="ctr"/>
          <a:lstStyle/>
          <a:p>
            <a:pPr indent="0" marL="0">
              <a:buNone/>
            </a:pPr>
            <a:r>
              <a:rPr lang="en-US" sz="1150" b="1" dirty="0">
                <a:solidFill>
                  <a:srgbClr val="33383D"/>
                </a:solidFill>
              </a:rPr>
              <a:t>Execute Purge</a:t>
            </a:r>
            <a:endParaRPr lang="en-US" sz="1000" dirty="0"/>
          </a:p>
          <a:p>
            <a:pPr indent="0" marL="0">
              <a:buNone/>
            </a:pPr>
            <a:r>
              <a:rPr lang="en-US" sz="1000" dirty="0">
                <a:solidFill>
                  <a:srgbClr val="33383D"/>
                </a:solidFill>
              </a:rPr>
              <a:t>Secure deletion &amp; disposal</a:t>
            </a:r>
            <a:endParaRPr lang="en-US" sz="1000" dirty="0"/>
          </a:p>
        </p:txBody>
      </p:sp>
      <p:sp>
        <p:nvSpPr>
          <p:cNvPr id="34" name="Shape 31"/>
          <p:cNvSpPr/>
          <p:nvPr/>
        </p:nvSpPr>
        <p:spPr>
          <a:xfrm>
            <a:off x="11841480" y="1417320"/>
            <a:ext cx="1600200" cy="5760720"/>
          </a:xfrm>
          <a:prstGeom prst="roundRect">
            <a:avLst>
              <a:gd name="adj" fmla="val 5714"/>
            </a:avLst>
          </a:prstGeom>
          <a:solidFill>
            <a:srgbClr val="F0F8EC"/>
          </a:solidFill>
          <a:ln w="12700">
            <a:solidFill>
              <a:srgbClr val="F0F8EC"/>
            </a:solidFill>
            <a:prstDash val="solid"/>
          </a:ln>
        </p:spPr>
      </p:sp>
      <p:sp>
        <p:nvSpPr>
          <p:cNvPr id="35" name="Shape 32"/>
          <p:cNvSpPr/>
          <p:nvPr/>
        </p:nvSpPr>
        <p:spPr>
          <a:xfrm>
            <a:off x="11841480" y="1417320"/>
            <a:ext cx="1600200" cy="621792"/>
          </a:xfrm>
          <a:prstGeom prst="roundRect">
            <a:avLst>
              <a:gd name="adj" fmla="val 14706"/>
            </a:avLst>
          </a:prstGeom>
          <a:solidFill>
            <a:srgbClr val="C3E6B4"/>
          </a:solidFill>
          <a:ln w="12700">
            <a:solidFill>
              <a:srgbClr val="C3E6B4"/>
            </a:solidFill>
            <a:prstDash val="solid"/>
          </a:ln>
        </p:spPr>
      </p:sp>
      <p:sp>
        <p:nvSpPr>
          <p:cNvPr id="36" name="Shape 33"/>
          <p:cNvSpPr/>
          <p:nvPr/>
        </p:nvSpPr>
        <p:spPr>
          <a:xfrm>
            <a:off x="11932920" y="1545336"/>
            <a:ext cx="365760" cy="365760"/>
          </a:xfrm>
          <a:prstGeom prst="ellipse">
            <a:avLst/>
          </a:prstGeom>
          <a:solidFill>
            <a:srgbClr val="33383D"/>
          </a:solidFill>
          <a:ln w="19050">
            <a:solidFill>
              <a:srgbClr val="FFFFFF"/>
            </a:solidFill>
            <a:prstDash val="solid"/>
          </a:ln>
        </p:spPr>
      </p:sp>
      <p:sp>
        <p:nvSpPr>
          <p:cNvPr id="37" name="Text 34"/>
          <p:cNvSpPr txBox="1"/>
          <p:nvPr/>
        </p:nvSpPr>
        <p:spPr>
          <a:xfrm>
            <a:off x="11932920" y="1545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8" name="Text 35"/>
          <p:cNvSpPr txBox="1"/>
          <p:nvPr/>
        </p:nvSpPr>
        <p:spPr>
          <a:xfrm>
            <a:off x="12371832" y="1472184"/>
            <a:ext cx="1033272" cy="512064"/>
          </a:xfrm>
          <a:prstGeom prst="rect">
            <a:avLst/>
          </a:prstGeom>
          <a:noFill/>
          <a:ln/>
        </p:spPr>
        <p:txBody>
          <a:bodyPr wrap="square" lIns="0" tIns="0" rIns="0" bIns="0" rtlCol="0" anchor="ctr"/>
          <a:lstStyle/>
          <a:p>
            <a:pPr indent="0" marL="0">
              <a:buNone/>
            </a:pPr>
            <a:r>
              <a:rPr lang="en-US" sz="1150" b="1" dirty="0">
                <a:solidFill>
                  <a:srgbClr val="33383D"/>
                </a:solidFill>
              </a:rPr>
              <a:t>Verify &amp; Close</a:t>
            </a:r>
            <a:endParaRPr lang="en-US" sz="1000" dirty="0"/>
          </a:p>
          <a:p>
            <a:pPr indent="0" marL="0">
              <a:buNone/>
            </a:pPr>
            <a:r>
              <a:rPr lang="en-US" sz="1000" dirty="0">
                <a:solidFill>
                  <a:srgbClr val="33383D"/>
                </a:solidFill>
              </a:rPr>
              <a:t>Audit &amp; reporting</a:t>
            </a:r>
            <a:endParaRPr lang="en-US" sz="1000" dirty="0"/>
          </a:p>
        </p:txBody>
      </p:sp>
      <p:sp>
        <p:nvSpPr>
          <p:cNvPr id="39" name="Shape 36"/>
          <p:cNvSpPr/>
          <p:nvPr/>
        </p:nvSpPr>
        <p:spPr>
          <a:xfrm>
            <a:off x="365760" y="2148840"/>
            <a:ext cx="1645920" cy="1417320"/>
          </a:xfrm>
          <a:prstGeom prst="roundRect">
            <a:avLst>
              <a:gd name="adj" fmla="val 4516"/>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40" name="Image 1" descr="preencoded.png">    </p:cNvPr>
          <p:cNvPicPr>
            <a:picLocks noChangeAspect="1"/>
          </p:cNvPicPr>
          <p:nvPr/>
        </p:nvPicPr>
        <p:blipFill>
          <a:blip r:embed="rId2"/>
          <a:stretch>
            <a:fillRect/>
          </a:stretch>
        </p:blipFill>
        <p:spPr>
          <a:xfrm>
            <a:off x="457200" y="2258568"/>
            <a:ext cx="274320" cy="274320"/>
          </a:xfrm>
          <a:prstGeom prst="rect">
            <a:avLst/>
          </a:prstGeom>
        </p:spPr>
      </p:pic>
      <p:sp>
        <p:nvSpPr>
          <p:cNvPr id="41" name="Text 37"/>
          <p:cNvSpPr txBox="1"/>
          <p:nvPr/>
        </p:nvSpPr>
        <p:spPr>
          <a:xfrm>
            <a:off x="822960" y="2212848"/>
            <a:ext cx="1115568" cy="402336"/>
          </a:xfrm>
          <a:prstGeom prst="rect">
            <a:avLst/>
          </a:prstGeom>
          <a:noFill/>
          <a:ln/>
        </p:spPr>
        <p:txBody>
          <a:bodyPr wrap="square" lIns="0" tIns="0" rIns="0" bIns="0" rtlCol="0" anchor="ctr"/>
          <a:lstStyle/>
          <a:p>
            <a:pPr indent="0" marL="0">
              <a:buNone/>
            </a:pPr>
            <a:r>
              <a:rPr lang="en-US" sz="1100" b="1" dirty="0">
                <a:solidFill>
                  <a:srgbClr val="33383D"/>
                </a:solidFill>
              </a:rPr>
              <a:t>BigID scans file shares</a:t>
            </a:r>
            <a:endParaRPr lang="en-US" sz="1100" dirty="0"/>
          </a:p>
        </p:txBody>
      </p:sp>
      <p:sp>
        <p:nvSpPr>
          <p:cNvPr id="42" name="Text 38"/>
          <p:cNvSpPr txBox="1"/>
          <p:nvPr/>
        </p:nvSpPr>
        <p:spPr>
          <a:xfrm>
            <a:off x="457200" y="2670048"/>
            <a:ext cx="1481328" cy="850392"/>
          </a:xfrm>
          <a:prstGeom prst="rect">
            <a:avLst/>
          </a:prstGeom>
          <a:noFill/>
          <a:ln/>
        </p:spPr>
        <p:txBody>
          <a:bodyPr wrap="square" lIns="0" tIns="0" rIns="0" bIns="0" rtlCol="0" anchor="t"/>
          <a:lstStyle/>
          <a:p>
            <a:pPr indent="0" marL="0">
              <a:buNone/>
            </a:pPr>
            <a:r>
              <a:rPr lang="en-US" sz="1000" dirty="0">
                <a:solidFill>
                  <a:srgbClr val="5F666D"/>
                </a:solidFill>
              </a:rPr>
              <a:t>Collects metadata (file path, type, owner, last modified, classification, retention rule)</a:t>
            </a:r>
            <a:endParaRPr lang="en-US" sz="1000" dirty="0"/>
          </a:p>
        </p:txBody>
      </p:sp>
      <p:sp>
        <p:nvSpPr>
          <p:cNvPr id="43" name="Shape 39"/>
          <p:cNvSpPr/>
          <p:nvPr/>
        </p:nvSpPr>
        <p:spPr>
          <a:xfrm>
            <a:off x="365760" y="3840480"/>
            <a:ext cx="1645920" cy="1280160"/>
          </a:xfrm>
          <a:prstGeom prst="roundRect">
            <a:avLst>
              <a:gd name="adj" fmla="val 5000"/>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44" name="Image 2" descr="preencoded.png">    </p:cNvPr>
          <p:cNvPicPr>
            <a:picLocks noChangeAspect="1"/>
          </p:cNvPicPr>
          <p:nvPr/>
        </p:nvPicPr>
        <p:blipFill>
          <a:blip r:embed="rId3"/>
          <a:stretch>
            <a:fillRect/>
          </a:stretch>
        </p:blipFill>
        <p:spPr>
          <a:xfrm>
            <a:off x="457200" y="3950208"/>
            <a:ext cx="274320" cy="274320"/>
          </a:xfrm>
          <a:prstGeom prst="rect">
            <a:avLst/>
          </a:prstGeom>
        </p:spPr>
      </p:pic>
      <p:sp>
        <p:nvSpPr>
          <p:cNvPr id="45" name="Text 40"/>
          <p:cNvSpPr txBox="1"/>
          <p:nvPr/>
        </p:nvSpPr>
        <p:spPr>
          <a:xfrm>
            <a:off x="822960" y="3904488"/>
            <a:ext cx="1115568" cy="576072"/>
          </a:xfrm>
          <a:prstGeom prst="rect">
            <a:avLst/>
          </a:prstGeom>
          <a:noFill/>
          <a:ln/>
        </p:spPr>
        <p:txBody>
          <a:bodyPr wrap="square" lIns="0" tIns="0" rIns="0" bIns="0" rtlCol="0" anchor="ctr"/>
          <a:lstStyle/>
          <a:p>
            <a:pPr indent="0" marL="0">
              <a:buNone/>
            </a:pPr>
            <a:r>
              <a:rPr lang="en-US" sz="1100" b="1" dirty="0">
                <a:solidFill>
                  <a:srgbClr val="33383D"/>
                </a:solidFill>
              </a:rPr>
              <a:t>Identify candidates for review</a:t>
            </a:r>
            <a:endParaRPr lang="en-US" sz="1100" dirty="0"/>
          </a:p>
        </p:txBody>
      </p:sp>
      <p:sp>
        <p:nvSpPr>
          <p:cNvPr id="46" name="Text 41"/>
          <p:cNvSpPr txBox="1"/>
          <p:nvPr/>
        </p:nvSpPr>
        <p:spPr>
          <a:xfrm>
            <a:off x="457200" y="4535424"/>
            <a:ext cx="1481328" cy="539496"/>
          </a:xfrm>
          <a:prstGeom prst="rect">
            <a:avLst/>
          </a:prstGeom>
          <a:noFill/>
          <a:ln/>
        </p:spPr>
        <p:txBody>
          <a:bodyPr wrap="square" lIns="0" tIns="0" rIns="0" bIns="0" rtlCol="0" anchor="t"/>
          <a:lstStyle/>
          <a:p>
            <a:pPr indent="0" marL="0">
              <a:buNone/>
            </a:pPr>
            <a:r>
              <a:rPr lang="en-US" sz="1000" dirty="0">
                <a:solidFill>
                  <a:srgbClr val="5F666D"/>
                </a:solidFill>
              </a:rPr>
              <a:t>Files where the retention period has expired (e.g., age, policy, ROT)</a:t>
            </a:r>
            <a:endParaRPr lang="en-US" sz="1000" dirty="0"/>
          </a:p>
        </p:txBody>
      </p:sp>
      <p:sp>
        <p:nvSpPr>
          <p:cNvPr id="47" name="Shape 42"/>
          <p:cNvSpPr/>
          <p:nvPr/>
        </p:nvSpPr>
        <p:spPr>
          <a:xfrm>
            <a:off x="365760" y="5394960"/>
            <a:ext cx="1645920" cy="1280160"/>
          </a:xfrm>
          <a:prstGeom prst="roundRect">
            <a:avLst>
              <a:gd name="adj" fmla="val 5000"/>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48" name="Image 3" descr="preencoded.png">    </p:cNvPr>
          <p:cNvPicPr>
            <a:picLocks noChangeAspect="1"/>
          </p:cNvPicPr>
          <p:nvPr/>
        </p:nvPicPr>
        <p:blipFill>
          <a:blip r:embed="rId4"/>
          <a:stretch>
            <a:fillRect/>
          </a:stretch>
        </p:blipFill>
        <p:spPr>
          <a:xfrm>
            <a:off x="457200" y="5504688"/>
            <a:ext cx="274320" cy="274320"/>
          </a:xfrm>
          <a:prstGeom prst="rect">
            <a:avLst/>
          </a:prstGeom>
        </p:spPr>
      </p:pic>
      <p:sp>
        <p:nvSpPr>
          <p:cNvPr id="49" name="Text 43"/>
          <p:cNvSpPr txBox="1"/>
          <p:nvPr/>
        </p:nvSpPr>
        <p:spPr>
          <a:xfrm>
            <a:off x="822960" y="5458968"/>
            <a:ext cx="1115568" cy="576072"/>
          </a:xfrm>
          <a:prstGeom prst="rect">
            <a:avLst/>
          </a:prstGeom>
          <a:noFill/>
          <a:ln/>
        </p:spPr>
        <p:txBody>
          <a:bodyPr wrap="square" lIns="0" tIns="0" rIns="0" bIns="0" rtlCol="0" anchor="ctr"/>
          <a:lstStyle/>
          <a:p>
            <a:pPr indent="0" marL="0">
              <a:buNone/>
            </a:pPr>
            <a:r>
              <a:rPr lang="en-US" sz="1100" b="1" dirty="0">
                <a:solidFill>
                  <a:srgbClr val="33383D"/>
                </a:solidFill>
              </a:rPr>
              <a:t>Create validation queue</a:t>
            </a:r>
            <a:endParaRPr lang="en-US" sz="1100" dirty="0"/>
          </a:p>
        </p:txBody>
      </p:sp>
      <p:sp>
        <p:nvSpPr>
          <p:cNvPr id="50" name="Text 44"/>
          <p:cNvSpPr txBox="1"/>
          <p:nvPr/>
        </p:nvSpPr>
        <p:spPr>
          <a:xfrm>
            <a:off x="457200" y="6089904"/>
            <a:ext cx="1481328" cy="539496"/>
          </a:xfrm>
          <a:prstGeom prst="rect">
            <a:avLst/>
          </a:prstGeom>
          <a:noFill/>
          <a:ln/>
        </p:spPr>
        <p:txBody>
          <a:bodyPr wrap="square" lIns="0" tIns="0" rIns="0" bIns="0" rtlCol="0" anchor="t"/>
          <a:lstStyle/>
          <a:p>
            <a:pPr indent="0" marL="0">
              <a:buNone/>
            </a:pPr>
            <a:r>
              <a:rPr lang="en-US" sz="1000" dirty="0">
                <a:solidFill>
                  <a:srgbClr val="5F666D"/>
                </a:solidFill>
              </a:rPr>
              <a:t>Send to review workflow (e.g., in BigID or integrated ticketing tool)</a:t>
            </a:r>
            <a:endParaRPr lang="en-US" sz="1000" dirty="0"/>
          </a:p>
        </p:txBody>
      </p:sp>
      <p:sp>
        <p:nvSpPr>
          <p:cNvPr id="51" name="Shape 45"/>
          <p:cNvSpPr/>
          <p:nvPr/>
        </p:nvSpPr>
        <p:spPr>
          <a:xfrm>
            <a:off x="1188720" y="3566160"/>
            <a:ext cx="9144" cy="274320"/>
          </a:xfrm>
          <a:custGeom>
            <a:avLst/>
            <a:gdLst/>
            <a:ahLst/>
            <a:cxnLst/>
            <a:rect l="l" t="t" r="r" b="b"/>
            <a:pathLst>
              <a:path w="9144" h="274320">
                <a:moveTo>
                  <a:pt x="0" y="0"/>
                </a:moveTo>
                <a:lnTo>
                  <a:pt x="0" y="274320"/>
                </a:lnTo>
              </a:path>
            </a:pathLst>
          </a:custGeom>
          <a:noFill/>
          <a:ln w="19050">
            <a:solidFill>
              <a:srgbClr val="4A5056"/>
            </a:solidFill>
            <a:prstDash val="solid"/>
            <a:tailEnd type="triangle"/>
          </a:ln>
        </p:spPr>
      </p:sp>
      <p:sp>
        <p:nvSpPr>
          <p:cNvPr id="52" name="Shape 46"/>
          <p:cNvSpPr/>
          <p:nvPr/>
        </p:nvSpPr>
        <p:spPr>
          <a:xfrm>
            <a:off x="1188720" y="5120640"/>
            <a:ext cx="9144" cy="274320"/>
          </a:xfrm>
          <a:custGeom>
            <a:avLst/>
            <a:gdLst/>
            <a:ahLst/>
            <a:cxnLst/>
            <a:rect l="l" t="t" r="r" b="b"/>
            <a:pathLst>
              <a:path w="9144" h="274320">
                <a:moveTo>
                  <a:pt x="0" y="0"/>
                </a:moveTo>
                <a:lnTo>
                  <a:pt x="0" y="274320"/>
                </a:lnTo>
              </a:path>
            </a:pathLst>
          </a:custGeom>
          <a:noFill/>
          <a:ln w="19050">
            <a:solidFill>
              <a:srgbClr val="4A5056"/>
            </a:solidFill>
            <a:prstDash val="solid"/>
            <a:tailEnd type="triangle"/>
          </a:ln>
        </p:spPr>
      </p:sp>
      <p:sp>
        <p:nvSpPr>
          <p:cNvPr id="53" name="Shape 47"/>
          <p:cNvSpPr/>
          <p:nvPr/>
        </p:nvSpPr>
        <p:spPr>
          <a:xfrm>
            <a:off x="2395728" y="2148840"/>
            <a:ext cx="1965960" cy="1600200"/>
          </a:xfrm>
          <a:prstGeom prst="roundRect">
            <a:avLst>
              <a:gd name="adj" fmla="val 4000"/>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54" name="Image 4" descr="preencoded.png">    </p:cNvPr>
          <p:cNvPicPr>
            <a:picLocks noChangeAspect="1"/>
          </p:cNvPicPr>
          <p:nvPr/>
        </p:nvPicPr>
        <p:blipFill>
          <a:blip r:embed="rId5"/>
          <a:stretch>
            <a:fillRect/>
          </a:stretch>
        </p:blipFill>
        <p:spPr>
          <a:xfrm>
            <a:off x="2487168" y="2258568"/>
            <a:ext cx="274320" cy="274320"/>
          </a:xfrm>
          <a:prstGeom prst="rect">
            <a:avLst/>
          </a:prstGeom>
        </p:spPr>
      </p:pic>
      <p:sp>
        <p:nvSpPr>
          <p:cNvPr id="55" name="Text 48"/>
          <p:cNvSpPr txBox="1"/>
          <p:nvPr/>
        </p:nvSpPr>
        <p:spPr>
          <a:xfrm>
            <a:off x="2852928" y="2212848"/>
            <a:ext cx="1435608" cy="384048"/>
          </a:xfrm>
          <a:prstGeom prst="rect">
            <a:avLst/>
          </a:prstGeom>
          <a:noFill/>
          <a:ln/>
        </p:spPr>
        <p:txBody>
          <a:bodyPr wrap="square" lIns="0" tIns="0" rIns="0" bIns="0" rtlCol="0" anchor="ctr"/>
          <a:lstStyle/>
          <a:p>
            <a:pPr indent="0" marL="0">
              <a:buNone/>
            </a:pPr>
            <a:r>
              <a:rPr lang="en-US" sz="1100" b="1" dirty="0">
                <a:solidFill>
                  <a:srgbClr val="33383D"/>
                </a:solidFill>
              </a:rPr>
              <a:t>Review file details</a:t>
            </a:r>
            <a:endParaRPr lang="en-US" sz="1100" dirty="0"/>
          </a:p>
        </p:txBody>
      </p:sp>
      <p:sp>
        <p:nvSpPr>
          <p:cNvPr id="56" name="Text 49"/>
          <p:cNvSpPr txBox="1"/>
          <p:nvPr/>
        </p:nvSpPr>
        <p:spPr>
          <a:xfrm>
            <a:off x="2487168" y="2651760"/>
            <a:ext cx="1801368" cy="1051560"/>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5F666D"/>
                </a:solidFill>
              </a:rPr>
              <a:t>Business owner</a:t>
            </a:r>
            <a:endParaRPr lang="en-US" sz="1000" dirty="0"/>
          </a:p>
          <a:p>
            <a:pPr marL="127000" indent="-127000">
              <a:spcAft>
                <a:spcPts val="100"/>
              </a:spcAft>
              <a:buSzPct val="100000"/>
              <a:buChar char="•"/>
            </a:pPr>
            <a:r>
              <a:rPr lang="en-US" sz="1000" dirty="0">
                <a:solidFill>
                  <a:srgbClr val="5F666D"/>
                </a:solidFill>
              </a:rPr>
              <a:t>Classification / sensitivity</a:t>
            </a:r>
            <a:endParaRPr lang="en-US" sz="1000" dirty="0"/>
          </a:p>
          <a:p>
            <a:pPr marL="127000" indent="-127000">
              <a:spcAft>
                <a:spcPts val="100"/>
              </a:spcAft>
              <a:buSzPct val="100000"/>
              <a:buChar char="•"/>
            </a:pPr>
            <a:r>
              <a:rPr lang="en-US" sz="1000" dirty="0">
                <a:solidFill>
                  <a:srgbClr val="5F666D"/>
                </a:solidFill>
              </a:rPr>
              <a:t>Record type</a:t>
            </a:r>
            <a:endParaRPr lang="en-US" sz="1000" dirty="0"/>
          </a:p>
          <a:p>
            <a:pPr marL="127000" indent="-127000">
              <a:spcAft>
                <a:spcPts val="100"/>
              </a:spcAft>
              <a:buSzPct val="100000"/>
              <a:buChar char="•"/>
            </a:pPr>
            <a:r>
              <a:rPr lang="en-US" sz="1000" dirty="0">
                <a:solidFill>
                  <a:srgbClr val="5F666D"/>
                </a:solidFill>
              </a:rPr>
              <a:t>Retention rule applied</a:t>
            </a:r>
            <a:endParaRPr lang="en-US" sz="1000" dirty="0"/>
          </a:p>
          <a:p>
            <a:pPr marL="127000" indent="-127000">
              <a:spcAft>
                <a:spcPts val="100"/>
              </a:spcAft>
              <a:buSzPct val="100000"/>
              <a:buChar char="•"/>
            </a:pPr>
            <a:r>
              <a:rPr lang="en-US" sz="1000" dirty="0">
                <a:solidFill>
                  <a:srgbClr val="5F666D"/>
                </a:solidFill>
              </a:rPr>
              <a:t>Last accessed / modified</a:t>
            </a:r>
            <a:endParaRPr lang="en-US" sz="1000" dirty="0"/>
          </a:p>
          <a:p>
            <a:pPr marL="127000" indent="-127000">
              <a:spcAft>
                <a:spcPts val="100"/>
              </a:spcAft>
              <a:buSzPct val="100000"/>
              <a:buChar char="•"/>
            </a:pPr>
            <a:r>
              <a:rPr lang="en-US" sz="1000" dirty="0">
                <a:solidFill>
                  <a:srgbClr val="5F666D"/>
                </a:solidFill>
              </a:rPr>
              <a:t>Duplicates / ROT status</a:t>
            </a:r>
            <a:endParaRPr lang="en-US" sz="1000" dirty="0"/>
          </a:p>
        </p:txBody>
      </p:sp>
      <p:sp>
        <p:nvSpPr>
          <p:cNvPr id="57" name="Shape 50"/>
          <p:cNvSpPr/>
          <p:nvPr/>
        </p:nvSpPr>
        <p:spPr>
          <a:xfrm>
            <a:off x="2377440" y="3977640"/>
            <a:ext cx="1051560" cy="1097280"/>
          </a:xfrm>
          <a:prstGeom prst="diamond">
            <a:avLst/>
          </a:prstGeom>
          <a:solidFill>
            <a:srgbClr val="FFFFFF"/>
          </a:solidFill>
          <a:ln w="19050">
            <a:solidFill>
              <a:srgbClr val="86BF72"/>
            </a:solidFill>
            <a:prstDash val="solid"/>
          </a:ln>
          <a:effectLst>
            <a:outerShdw sx="100000" sy="100000" kx="0" ky="0" algn="bl" rotWithShape="0" blurRad="76200" dist="19050" dir="5400000">
              <a:srgbClr val="000000">
                <a:alpha val="10000"/>
              </a:srgbClr>
            </a:outerShdw>
          </a:effectLst>
        </p:spPr>
      </p:sp>
      <p:sp>
        <p:nvSpPr>
          <p:cNvPr id="58" name="Text 51"/>
          <p:cNvSpPr txBox="1"/>
          <p:nvPr/>
        </p:nvSpPr>
        <p:spPr>
          <a:xfrm>
            <a:off x="2587752" y="4219042"/>
            <a:ext cx="630936" cy="614477"/>
          </a:xfrm>
          <a:prstGeom prst="rect">
            <a:avLst/>
          </a:prstGeom>
          <a:noFill/>
          <a:ln/>
        </p:spPr>
        <p:txBody>
          <a:bodyPr wrap="square" lIns="0" tIns="0" rIns="0" bIns="0" rtlCol="0" anchor="ctr"/>
          <a:lstStyle/>
          <a:p>
            <a:pPr algn="ctr" indent="0" marL="0">
              <a:buNone/>
            </a:pPr>
            <a:r>
              <a:rPr lang="en-US" sz="1000" b="1" dirty="0">
                <a:solidFill>
                  <a:srgbClr val="33383D"/>
                </a:solidFill>
              </a:rPr>
              <a:t>Metadata accurate and complete?</a:t>
            </a:r>
            <a:endParaRPr lang="en-US" sz="1000" dirty="0"/>
          </a:p>
        </p:txBody>
      </p:sp>
      <p:sp>
        <p:nvSpPr>
          <p:cNvPr id="59" name="Shape 52"/>
          <p:cNvSpPr/>
          <p:nvPr/>
        </p:nvSpPr>
        <p:spPr>
          <a:xfrm>
            <a:off x="2903220" y="3749040"/>
            <a:ext cx="9144" cy="228600"/>
          </a:xfrm>
          <a:custGeom>
            <a:avLst/>
            <a:gdLst/>
            <a:ahLst/>
            <a:cxnLst/>
            <a:rect l="l" t="t" r="r" b="b"/>
            <a:pathLst>
              <a:path w="9144" h="228600">
                <a:moveTo>
                  <a:pt x="0" y="0"/>
                </a:moveTo>
                <a:lnTo>
                  <a:pt x="0" y="228600"/>
                </a:lnTo>
              </a:path>
            </a:pathLst>
          </a:custGeom>
          <a:noFill/>
          <a:ln w="19050">
            <a:solidFill>
              <a:srgbClr val="4A5056"/>
            </a:solidFill>
            <a:prstDash val="solid"/>
            <a:tailEnd type="triangle"/>
          </a:ln>
        </p:spPr>
      </p:sp>
      <p:sp>
        <p:nvSpPr>
          <p:cNvPr id="60" name="Shape 53"/>
          <p:cNvSpPr/>
          <p:nvPr/>
        </p:nvSpPr>
        <p:spPr>
          <a:xfrm>
            <a:off x="3218688" y="4846320"/>
            <a:ext cx="1143000" cy="1325880"/>
          </a:xfrm>
          <a:prstGeom prst="roundRect">
            <a:avLst>
              <a:gd name="adj" fmla="val 5600"/>
            </a:avLst>
          </a:prstGeom>
          <a:solidFill>
            <a:srgbClr val="FFEFC0"/>
          </a:solidFill>
          <a:ln w="12700">
            <a:solidFill>
              <a:srgbClr val="E9B21C"/>
            </a:solidFill>
            <a:prstDash val="solid"/>
          </a:ln>
          <a:effectLst>
            <a:outerShdw sx="100000" sy="100000" kx="0" ky="0" algn="bl" rotWithShape="0" blurRad="76200" dist="19050" dir="5400000">
              <a:srgbClr val="000000">
                <a:alpha val="10000"/>
              </a:srgbClr>
            </a:outerShdw>
          </a:effectLst>
        </p:spPr>
      </p:sp>
      <p:pic>
        <p:nvPicPr>
          <p:cNvPr id="61" name="Image 5" descr="preencoded.png">    </p:cNvPr>
          <p:cNvPicPr>
            <a:picLocks noChangeAspect="1"/>
          </p:cNvPicPr>
          <p:nvPr/>
        </p:nvPicPr>
        <p:blipFill>
          <a:blip r:embed="rId6"/>
          <a:stretch>
            <a:fillRect/>
          </a:stretch>
        </p:blipFill>
        <p:spPr>
          <a:xfrm>
            <a:off x="3310128" y="4956048"/>
            <a:ext cx="274320" cy="274320"/>
          </a:xfrm>
          <a:prstGeom prst="rect">
            <a:avLst/>
          </a:prstGeom>
        </p:spPr>
      </p:pic>
      <p:sp>
        <p:nvSpPr>
          <p:cNvPr id="62" name="Text 54"/>
          <p:cNvSpPr txBox="1"/>
          <p:nvPr/>
        </p:nvSpPr>
        <p:spPr>
          <a:xfrm>
            <a:off x="3675888" y="4910328"/>
            <a:ext cx="612648" cy="402336"/>
          </a:xfrm>
          <a:prstGeom prst="rect">
            <a:avLst/>
          </a:prstGeom>
          <a:noFill/>
          <a:ln/>
        </p:spPr>
        <p:txBody>
          <a:bodyPr wrap="square" lIns="0" tIns="0" rIns="0" bIns="0" rtlCol="0" anchor="ctr"/>
          <a:lstStyle/>
          <a:p>
            <a:pPr indent="0" marL="0">
              <a:buNone/>
            </a:pPr>
            <a:r>
              <a:rPr lang="en-US" sz="1100" b="1" dirty="0">
                <a:solidFill>
                  <a:srgbClr val="33383D"/>
                </a:solidFill>
              </a:rPr>
              <a:t>Correct metadata</a:t>
            </a:r>
            <a:endParaRPr lang="en-US" sz="1100" dirty="0"/>
          </a:p>
        </p:txBody>
      </p:sp>
      <p:sp>
        <p:nvSpPr>
          <p:cNvPr id="63" name="Text 55"/>
          <p:cNvSpPr txBox="1"/>
          <p:nvPr/>
        </p:nvSpPr>
        <p:spPr>
          <a:xfrm>
            <a:off x="3310128" y="5367528"/>
            <a:ext cx="978408" cy="758952"/>
          </a:xfrm>
          <a:prstGeom prst="rect">
            <a:avLst/>
          </a:prstGeom>
          <a:noFill/>
          <a:ln/>
        </p:spPr>
        <p:txBody>
          <a:bodyPr wrap="square" lIns="0" tIns="0" rIns="0" bIns="0" rtlCol="0" anchor="t"/>
          <a:lstStyle/>
          <a:p>
            <a:pPr indent="0" marL="0">
              <a:buNone/>
            </a:pPr>
            <a:r>
              <a:rPr lang="en-US" sz="1000" dirty="0">
                <a:solidFill>
                  <a:srgbClr val="5F666D"/>
                </a:solidFill>
              </a:rPr>
              <a:t>Update classification, owner or retention rule; re-validate</a:t>
            </a:r>
            <a:endParaRPr lang="en-US" sz="1000" dirty="0"/>
          </a:p>
        </p:txBody>
      </p:sp>
      <p:sp>
        <p:nvSpPr>
          <p:cNvPr id="64" name="Shape 56"/>
          <p:cNvSpPr/>
          <p:nvPr/>
        </p:nvSpPr>
        <p:spPr>
          <a:xfrm>
            <a:off x="3429000" y="4526280"/>
            <a:ext cx="361188" cy="320040"/>
          </a:xfrm>
          <a:custGeom>
            <a:avLst/>
            <a:gdLst/>
            <a:ahLst/>
            <a:cxnLst/>
            <a:rect l="l" t="t" r="r" b="b"/>
            <a:pathLst>
              <a:path w="361188" h="320040">
                <a:moveTo>
                  <a:pt x="0" y="0"/>
                </a:moveTo>
                <a:lnTo>
                  <a:pt x="361188" y="0"/>
                </a:lnTo>
                <a:lnTo>
                  <a:pt x="361188" y="320040"/>
                </a:lnTo>
              </a:path>
            </a:pathLst>
          </a:custGeom>
          <a:noFill/>
          <a:ln w="19050">
            <a:solidFill>
              <a:srgbClr val="4A5056"/>
            </a:solidFill>
            <a:prstDash val="solid"/>
            <a:tailEnd type="triangle"/>
          </a:ln>
        </p:spPr>
      </p:sp>
      <p:sp>
        <p:nvSpPr>
          <p:cNvPr id="65" name="Text 57"/>
          <p:cNvSpPr txBox="1"/>
          <p:nvPr/>
        </p:nvSpPr>
        <p:spPr>
          <a:xfrm>
            <a:off x="3447288" y="4297680"/>
            <a:ext cx="365760" cy="201168"/>
          </a:xfrm>
          <a:prstGeom prst="rect">
            <a:avLst/>
          </a:prstGeom>
          <a:noFill/>
          <a:ln/>
        </p:spPr>
        <p:txBody>
          <a:bodyPr wrap="square" lIns="0" tIns="0" rIns="0" bIns="0" rtlCol="0" anchor="ctr"/>
          <a:lstStyle/>
          <a:p>
            <a:pPr algn="ctr" indent="0" marL="0">
              <a:buNone/>
            </a:pPr>
            <a:r>
              <a:rPr lang="en-US" sz="1000" b="1" dirty="0">
                <a:solidFill>
                  <a:srgbClr val="A87A00"/>
                </a:solidFill>
              </a:rPr>
              <a:t>No</a:t>
            </a:r>
            <a:endParaRPr lang="en-US" sz="1000" dirty="0"/>
          </a:p>
        </p:txBody>
      </p:sp>
      <p:sp>
        <p:nvSpPr>
          <p:cNvPr id="66" name="Shape 58"/>
          <p:cNvSpPr/>
          <p:nvPr/>
        </p:nvSpPr>
        <p:spPr>
          <a:xfrm>
            <a:off x="4361688" y="2971800"/>
            <a:ext cx="54864" cy="2523744"/>
          </a:xfrm>
          <a:custGeom>
            <a:avLst/>
            <a:gdLst/>
            <a:ahLst/>
            <a:cxnLst/>
            <a:rect l="l" t="t" r="r" b="b"/>
            <a:pathLst>
              <a:path w="54864" h="2523744">
                <a:moveTo>
                  <a:pt x="0" y="2523744"/>
                </a:moveTo>
                <a:lnTo>
                  <a:pt x="54864" y="2523744"/>
                </a:lnTo>
                <a:lnTo>
                  <a:pt x="54864" y="0"/>
                </a:lnTo>
                <a:lnTo>
                  <a:pt x="0" y="0"/>
                </a:lnTo>
              </a:path>
            </a:pathLst>
          </a:custGeom>
          <a:noFill/>
          <a:ln w="12700">
            <a:solidFill>
              <a:srgbClr val="A87A00"/>
            </a:solidFill>
            <a:prstDash val="dash"/>
            <a:tailEnd type="triangle"/>
          </a:ln>
        </p:spPr>
      </p:sp>
      <p:sp>
        <p:nvSpPr>
          <p:cNvPr id="67" name="Shape 59"/>
          <p:cNvSpPr/>
          <p:nvPr/>
        </p:nvSpPr>
        <p:spPr>
          <a:xfrm>
            <a:off x="2395728" y="6217920"/>
            <a:ext cx="1965960" cy="914400"/>
          </a:xfrm>
          <a:prstGeom prst="roundRect">
            <a:avLst>
              <a:gd name="adj" fmla="val 7000"/>
            </a:avLst>
          </a:prstGeom>
          <a:solidFill>
            <a:srgbClr val="E2F2DA"/>
          </a:solidFill>
          <a:ln w="12700">
            <a:solidFill>
              <a:srgbClr val="86BF72"/>
            </a:solidFill>
            <a:prstDash val="solid"/>
          </a:ln>
          <a:effectLst>
            <a:outerShdw sx="100000" sy="100000" kx="0" ky="0" algn="bl" rotWithShape="0" blurRad="76200" dist="19050" dir="5400000">
              <a:srgbClr val="000000">
                <a:alpha val="10000"/>
              </a:srgbClr>
            </a:outerShdw>
          </a:effectLst>
        </p:spPr>
      </p:sp>
      <p:pic>
        <p:nvPicPr>
          <p:cNvPr id="68" name="Image 6" descr="preencoded.png">    </p:cNvPr>
          <p:cNvPicPr>
            <a:picLocks noChangeAspect="1"/>
          </p:cNvPicPr>
          <p:nvPr/>
        </p:nvPicPr>
        <p:blipFill>
          <a:blip r:embed="rId7"/>
          <a:stretch>
            <a:fillRect/>
          </a:stretch>
        </p:blipFill>
        <p:spPr>
          <a:xfrm>
            <a:off x="2487168" y="6327648"/>
            <a:ext cx="274320" cy="274320"/>
          </a:xfrm>
          <a:prstGeom prst="rect">
            <a:avLst/>
          </a:prstGeom>
        </p:spPr>
      </p:pic>
      <p:sp>
        <p:nvSpPr>
          <p:cNvPr id="69" name="Text 60"/>
          <p:cNvSpPr txBox="1"/>
          <p:nvPr/>
        </p:nvSpPr>
        <p:spPr>
          <a:xfrm>
            <a:off x="2852928" y="6281928"/>
            <a:ext cx="1435608" cy="402336"/>
          </a:xfrm>
          <a:prstGeom prst="rect">
            <a:avLst/>
          </a:prstGeom>
          <a:noFill/>
          <a:ln/>
        </p:spPr>
        <p:txBody>
          <a:bodyPr wrap="square" lIns="0" tIns="0" rIns="0" bIns="0" rtlCol="0" anchor="ctr"/>
          <a:lstStyle/>
          <a:p>
            <a:pPr indent="0" marL="0">
              <a:buNone/>
            </a:pPr>
            <a:r>
              <a:rPr lang="en-US" sz="1100" b="1" dirty="0">
                <a:solidFill>
                  <a:srgbClr val="33383D"/>
                </a:solidFill>
              </a:rPr>
              <a:t>Confirmed eligible for disposition</a:t>
            </a:r>
            <a:endParaRPr lang="en-US" sz="1100" dirty="0"/>
          </a:p>
        </p:txBody>
      </p:sp>
      <p:sp>
        <p:nvSpPr>
          <p:cNvPr id="70" name="Text 61"/>
          <p:cNvSpPr txBox="1"/>
          <p:nvPr/>
        </p:nvSpPr>
        <p:spPr>
          <a:xfrm>
            <a:off x="2487168" y="6739128"/>
            <a:ext cx="1801368" cy="347472"/>
          </a:xfrm>
          <a:prstGeom prst="rect">
            <a:avLst/>
          </a:prstGeom>
          <a:noFill/>
          <a:ln/>
        </p:spPr>
        <p:txBody>
          <a:bodyPr wrap="square" lIns="0" tIns="0" rIns="0" bIns="0" rtlCol="0" anchor="t"/>
          <a:lstStyle/>
          <a:p>
            <a:pPr indent="0" marL="0">
              <a:buNone/>
            </a:pPr>
            <a:r>
              <a:rPr lang="en-US" sz="1000" dirty="0">
                <a:solidFill>
                  <a:srgbClr val="5F666D"/>
                </a:solidFill>
              </a:rPr>
              <a:t>Meets retention requirements; no legal or operational hold</a:t>
            </a:r>
            <a:endParaRPr lang="en-US" sz="1000" dirty="0"/>
          </a:p>
        </p:txBody>
      </p:sp>
      <p:sp>
        <p:nvSpPr>
          <p:cNvPr id="71" name="Shape 62"/>
          <p:cNvSpPr/>
          <p:nvPr/>
        </p:nvSpPr>
        <p:spPr>
          <a:xfrm>
            <a:off x="2903220" y="5074920"/>
            <a:ext cx="9144" cy="1143000"/>
          </a:xfrm>
          <a:custGeom>
            <a:avLst/>
            <a:gdLst/>
            <a:ahLst/>
            <a:cxnLst/>
            <a:rect l="l" t="t" r="r" b="b"/>
            <a:pathLst>
              <a:path w="9144" h="1143000">
                <a:moveTo>
                  <a:pt x="0" y="0"/>
                </a:moveTo>
                <a:lnTo>
                  <a:pt x="0" y="1143000"/>
                </a:lnTo>
              </a:path>
            </a:pathLst>
          </a:custGeom>
          <a:noFill/>
          <a:ln w="19050">
            <a:solidFill>
              <a:srgbClr val="4A5056"/>
            </a:solidFill>
            <a:prstDash val="solid"/>
            <a:tailEnd type="triangle"/>
          </a:ln>
        </p:spPr>
      </p:sp>
      <p:sp>
        <p:nvSpPr>
          <p:cNvPr id="72" name="Text 63"/>
          <p:cNvSpPr txBox="1"/>
          <p:nvPr/>
        </p:nvSpPr>
        <p:spPr>
          <a:xfrm>
            <a:off x="2491740" y="5394960"/>
            <a:ext cx="365760" cy="201168"/>
          </a:xfrm>
          <a:prstGeom prst="rect">
            <a:avLst/>
          </a:prstGeom>
          <a:noFill/>
          <a:ln/>
        </p:spPr>
        <p:txBody>
          <a:bodyPr wrap="square" lIns="0" tIns="0" rIns="0" bIns="0" rtlCol="0" anchor="ctr"/>
          <a:lstStyle/>
          <a:p>
            <a:pPr algn="ctr" indent="0" marL="0">
              <a:buNone/>
            </a:pPr>
            <a:r>
              <a:rPr lang="en-US" sz="1000" b="1" dirty="0">
                <a:solidFill>
                  <a:srgbClr val="3F7F2E"/>
                </a:solidFill>
              </a:rPr>
              <a:t>Yes</a:t>
            </a:r>
            <a:endParaRPr lang="en-US" sz="1000" dirty="0"/>
          </a:p>
        </p:txBody>
      </p:sp>
      <p:sp>
        <p:nvSpPr>
          <p:cNvPr id="73" name="Shape 64"/>
          <p:cNvSpPr/>
          <p:nvPr/>
        </p:nvSpPr>
        <p:spPr>
          <a:xfrm>
            <a:off x="2011680" y="2944368"/>
            <a:ext cx="384048" cy="3090672"/>
          </a:xfrm>
          <a:custGeom>
            <a:avLst/>
            <a:gdLst/>
            <a:ahLst/>
            <a:cxnLst/>
            <a:rect l="l" t="t" r="r" b="b"/>
            <a:pathLst>
              <a:path w="384048" h="3090672">
                <a:moveTo>
                  <a:pt x="0" y="3090672"/>
                </a:moveTo>
                <a:lnTo>
                  <a:pt x="192024" y="3090672"/>
                </a:lnTo>
                <a:lnTo>
                  <a:pt x="192024" y="0"/>
                </a:lnTo>
                <a:lnTo>
                  <a:pt x="384048" y="0"/>
                </a:lnTo>
              </a:path>
            </a:pathLst>
          </a:custGeom>
          <a:noFill/>
          <a:ln w="19050">
            <a:solidFill>
              <a:srgbClr val="4A5056"/>
            </a:solidFill>
            <a:prstDash val="solid"/>
            <a:tailEnd type="triangle"/>
          </a:ln>
        </p:spPr>
      </p:sp>
      <p:sp>
        <p:nvSpPr>
          <p:cNvPr id="74" name="Shape 65"/>
          <p:cNvSpPr/>
          <p:nvPr/>
        </p:nvSpPr>
        <p:spPr>
          <a:xfrm>
            <a:off x="4727448" y="2194560"/>
            <a:ext cx="1188720" cy="1188720"/>
          </a:xfrm>
          <a:prstGeom prst="diamond">
            <a:avLst/>
          </a:prstGeom>
          <a:solidFill>
            <a:srgbClr val="FFFFFF"/>
          </a:solidFill>
          <a:ln w="19050">
            <a:solidFill>
              <a:srgbClr val="FFD866"/>
            </a:solidFill>
            <a:prstDash val="solid"/>
          </a:ln>
          <a:effectLst>
            <a:outerShdw sx="100000" sy="100000" kx="0" ky="0" algn="bl" rotWithShape="0" blurRad="76200" dist="19050" dir="5400000">
              <a:srgbClr val="000000">
                <a:alpha val="10000"/>
              </a:srgbClr>
            </a:outerShdw>
          </a:effectLst>
        </p:spPr>
      </p:sp>
      <p:sp>
        <p:nvSpPr>
          <p:cNvPr id="75" name="Text 66"/>
          <p:cNvSpPr txBox="1"/>
          <p:nvPr/>
        </p:nvSpPr>
        <p:spPr>
          <a:xfrm>
            <a:off x="4965192" y="2456078"/>
            <a:ext cx="713232" cy="665683"/>
          </a:xfrm>
          <a:prstGeom prst="rect">
            <a:avLst/>
          </a:prstGeom>
          <a:noFill/>
          <a:ln/>
        </p:spPr>
        <p:txBody>
          <a:bodyPr wrap="square" lIns="0" tIns="0" rIns="0" bIns="0" rtlCol="0" anchor="ctr"/>
          <a:lstStyle/>
          <a:p>
            <a:pPr algn="ctr" indent="0" marL="0">
              <a:buNone/>
            </a:pPr>
            <a:r>
              <a:rPr lang="en-US" sz="1000" b="1" dirty="0">
                <a:solidFill>
                  <a:srgbClr val="33383D"/>
                </a:solidFill>
              </a:rPr>
              <a:t>Is file under legal hold or exemption?</a:t>
            </a:r>
            <a:endParaRPr lang="en-US" sz="1000" dirty="0"/>
          </a:p>
        </p:txBody>
      </p:sp>
      <p:sp>
        <p:nvSpPr>
          <p:cNvPr id="76" name="Shape 67"/>
          <p:cNvSpPr/>
          <p:nvPr/>
        </p:nvSpPr>
        <p:spPr>
          <a:xfrm>
            <a:off x="6144768" y="2148840"/>
            <a:ext cx="1115568" cy="1554480"/>
          </a:xfrm>
          <a:prstGeom prst="roundRect">
            <a:avLst>
              <a:gd name="adj" fmla="val 5738"/>
            </a:avLst>
          </a:prstGeom>
          <a:solidFill>
            <a:srgbClr val="FFEFC0"/>
          </a:solidFill>
          <a:ln w="12700">
            <a:solidFill>
              <a:srgbClr val="E9B21C"/>
            </a:solidFill>
            <a:prstDash val="solid"/>
          </a:ln>
          <a:effectLst>
            <a:outerShdw sx="100000" sy="100000" kx="0" ky="0" algn="bl" rotWithShape="0" blurRad="76200" dist="19050" dir="5400000">
              <a:srgbClr val="000000">
                <a:alpha val="10000"/>
              </a:srgbClr>
            </a:outerShdw>
          </a:effectLst>
        </p:spPr>
      </p:sp>
      <p:pic>
        <p:nvPicPr>
          <p:cNvPr id="77" name="Image 7" descr="preencoded.png">    </p:cNvPr>
          <p:cNvPicPr>
            <a:picLocks noChangeAspect="1"/>
          </p:cNvPicPr>
          <p:nvPr/>
        </p:nvPicPr>
        <p:blipFill>
          <a:blip r:embed="rId8"/>
          <a:stretch>
            <a:fillRect/>
          </a:stretch>
        </p:blipFill>
        <p:spPr>
          <a:xfrm>
            <a:off x="6236208" y="2258568"/>
            <a:ext cx="274320" cy="274320"/>
          </a:xfrm>
          <a:prstGeom prst="rect">
            <a:avLst/>
          </a:prstGeom>
        </p:spPr>
      </p:pic>
      <p:sp>
        <p:nvSpPr>
          <p:cNvPr id="78" name="Text 68"/>
          <p:cNvSpPr txBox="1"/>
          <p:nvPr/>
        </p:nvSpPr>
        <p:spPr>
          <a:xfrm>
            <a:off x="6601968" y="2212848"/>
            <a:ext cx="585216" cy="576072"/>
          </a:xfrm>
          <a:prstGeom prst="rect">
            <a:avLst/>
          </a:prstGeom>
          <a:noFill/>
          <a:ln/>
        </p:spPr>
        <p:txBody>
          <a:bodyPr wrap="square" lIns="0" tIns="0" rIns="0" bIns="0" rtlCol="0" anchor="ctr"/>
          <a:lstStyle/>
          <a:p>
            <a:pPr indent="0" marL="0">
              <a:buNone/>
            </a:pPr>
            <a:r>
              <a:rPr lang="en-US" sz="1100" b="1" dirty="0">
                <a:solidFill>
                  <a:srgbClr val="33383D"/>
                </a:solidFill>
              </a:rPr>
              <a:t>Exclude from purge</a:t>
            </a:r>
            <a:endParaRPr lang="en-US" sz="1100" dirty="0"/>
          </a:p>
        </p:txBody>
      </p:sp>
      <p:sp>
        <p:nvSpPr>
          <p:cNvPr id="79" name="Text 69"/>
          <p:cNvSpPr txBox="1"/>
          <p:nvPr/>
        </p:nvSpPr>
        <p:spPr>
          <a:xfrm>
            <a:off x="6236208" y="2843784"/>
            <a:ext cx="950976" cy="813816"/>
          </a:xfrm>
          <a:prstGeom prst="rect">
            <a:avLst/>
          </a:prstGeom>
          <a:noFill/>
          <a:ln/>
        </p:spPr>
        <p:txBody>
          <a:bodyPr wrap="square" lIns="0" tIns="0" rIns="0" bIns="0" rtlCol="0" anchor="t"/>
          <a:lstStyle/>
          <a:p>
            <a:pPr indent="0" marL="0">
              <a:buNone/>
            </a:pPr>
            <a:r>
              <a:rPr lang="en-US" sz="1000" dirty="0">
                <a:solidFill>
                  <a:srgbClr val="5F666D"/>
                </a:solidFill>
              </a:rPr>
              <a:t>Keep file; tag as Legal Hold or Exemption. Re-check next cycle.</a:t>
            </a:r>
            <a:endParaRPr lang="en-US" sz="1000" dirty="0"/>
          </a:p>
        </p:txBody>
      </p:sp>
      <p:sp>
        <p:nvSpPr>
          <p:cNvPr id="80" name="Shape 70"/>
          <p:cNvSpPr/>
          <p:nvPr/>
        </p:nvSpPr>
        <p:spPr>
          <a:xfrm>
            <a:off x="5916168" y="2788920"/>
            <a:ext cx="228600" cy="9144"/>
          </a:xfrm>
          <a:custGeom>
            <a:avLst/>
            <a:gdLst/>
            <a:ahLst/>
            <a:cxnLst/>
            <a:rect l="l" t="t" r="r" b="b"/>
            <a:pathLst>
              <a:path w="228600" h="9144">
                <a:moveTo>
                  <a:pt x="0" y="0"/>
                </a:moveTo>
                <a:lnTo>
                  <a:pt x="228600" y="0"/>
                </a:lnTo>
              </a:path>
            </a:pathLst>
          </a:custGeom>
          <a:noFill/>
          <a:ln w="19050">
            <a:solidFill>
              <a:srgbClr val="4A5056"/>
            </a:solidFill>
            <a:prstDash val="solid"/>
            <a:tailEnd type="triangle"/>
          </a:ln>
        </p:spPr>
      </p:sp>
      <p:sp>
        <p:nvSpPr>
          <p:cNvPr id="81" name="Text 71"/>
          <p:cNvSpPr txBox="1"/>
          <p:nvPr/>
        </p:nvSpPr>
        <p:spPr>
          <a:xfrm>
            <a:off x="5943600" y="2560320"/>
            <a:ext cx="365760" cy="201168"/>
          </a:xfrm>
          <a:prstGeom prst="rect">
            <a:avLst/>
          </a:prstGeom>
          <a:noFill/>
          <a:ln/>
        </p:spPr>
        <p:txBody>
          <a:bodyPr wrap="square" lIns="0" tIns="0" rIns="0" bIns="0" rtlCol="0" anchor="ctr"/>
          <a:lstStyle/>
          <a:p>
            <a:pPr algn="ctr" indent="0" marL="0">
              <a:buNone/>
            </a:pPr>
            <a:r>
              <a:rPr lang="en-US" sz="1000" b="1" dirty="0">
                <a:solidFill>
                  <a:srgbClr val="3F7F2E"/>
                </a:solidFill>
              </a:rPr>
              <a:t>Yes</a:t>
            </a:r>
            <a:endParaRPr lang="en-US" sz="1000" dirty="0"/>
          </a:p>
        </p:txBody>
      </p:sp>
      <p:sp>
        <p:nvSpPr>
          <p:cNvPr id="82" name="Shape 72"/>
          <p:cNvSpPr/>
          <p:nvPr/>
        </p:nvSpPr>
        <p:spPr>
          <a:xfrm>
            <a:off x="4727448" y="3840480"/>
            <a:ext cx="1188720" cy="1234440"/>
          </a:xfrm>
          <a:prstGeom prst="diamond">
            <a:avLst/>
          </a:prstGeom>
          <a:solidFill>
            <a:srgbClr val="FFFFFF"/>
          </a:solidFill>
          <a:ln w="19050">
            <a:solidFill>
              <a:srgbClr val="FFD866"/>
            </a:solidFill>
            <a:prstDash val="solid"/>
          </a:ln>
          <a:effectLst>
            <a:outerShdw sx="100000" sy="100000" kx="0" ky="0" algn="bl" rotWithShape="0" blurRad="76200" dist="19050" dir="5400000">
              <a:srgbClr val="000000">
                <a:alpha val="10000"/>
              </a:srgbClr>
            </a:outerShdw>
          </a:effectLst>
        </p:spPr>
      </p:sp>
      <p:sp>
        <p:nvSpPr>
          <p:cNvPr id="83" name="Text 73"/>
          <p:cNvSpPr txBox="1"/>
          <p:nvPr/>
        </p:nvSpPr>
        <p:spPr>
          <a:xfrm>
            <a:off x="4965192" y="4112057"/>
            <a:ext cx="713232" cy="691286"/>
          </a:xfrm>
          <a:prstGeom prst="rect">
            <a:avLst/>
          </a:prstGeom>
          <a:noFill/>
          <a:ln/>
        </p:spPr>
        <p:txBody>
          <a:bodyPr wrap="square" lIns="0" tIns="0" rIns="0" bIns="0" rtlCol="0" anchor="ctr"/>
          <a:lstStyle/>
          <a:p>
            <a:pPr algn="ctr" indent="0" marL="0">
              <a:buNone/>
            </a:pPr>
            <a:r>
              <a:rPr lang="en-US" sz="1000" b="1" dirty="0">
                <a:solidFill>
                  <a:srgbClr val="33383D"/>
                </a:solidFill>
              </a:rPr>
              <a:t>Any business dependency?</a:t>
            </a:r>
            <a:endParaRPr lang="en-US" sz="1000" dirty="0"/>
          </a:p>
          <a:p>
            <a:pPr algn="ctr" indent="0" marL="0">
              <a:buNone/>
            </a:pPr>
            <a:r>
              <a:rPr lang="en-US" sz="850" dirty="0">
                <a:solidFill>
                  <a:srgbClr val="5F666D"/>
                </a:solidFill>
              </a:rPr>
              <a:t>(e.g., active project, reference link)</a:t>
            </a:r>
            <a:endParaRPr lang="en-US" sz="1000" dirty="0"/>
          </a:p>
        </p:txBody>
      </p:sp>
      <p:sp>
        <p:nvSpPr>
          <p:cNvPr id="84" name="Shape 74"/>
          <p:cNvSpPr/>
          <p:nvPr/>
        </p:nvSpPr>
        <p:spPr>
          <a:xfrm>
            <a:off x="5321808" y="3383280"/>
            <a:ext cx="9144" cy="457200"/>
          </a:xfrm>
          <a:custGeom>
            <a:avLst/>
            <a:gdLst/>
            <a:ahLst/>
            <a:cxnLst/>
            <a:rect l="l" t="t" r="r" b="b"/>
            <a:pathLst>
              <a:path w="9144" h="457200">
                <a:moveTo>
                  <a:pt x="0" y="0"/>
                </a:moveTo>
                <a:lnTo>
                  <a:pt x="0" y="457200"/>
                </a:lnTo>
              </a:path>
            </a:pathLst>
          </a:custGeom>
          <a:noFill/>
          <a:ln w="19050">
            <a:solidFill>
              <a:srgbClr val="4A5056"/>
            </a:solidFill>
            <a:prstDash val="solid"/>
            <a:tailEnd type="triangle"/>
          </a:ln>
        </p:spPr>
      </p:sp>
      <p:sp>
        <p:nvSpPr>
          <p:cNvPr id="85" name="Text 75"/>
          <p:cNvSpPr txBox="1"/>
          <p:nvPr/>
        </p:nvSpPr>
        <p:spPr>
          <a:xfrm>
            <a:off x="5367528" y="3456432"/>
            <a:ext cx="365760" cy="201168"/>
          </a:xfrm>
          <a:prstGeom prst="rect">
            <a:avLst/>
          </a:prstGeom>
          <a:noFill/>
          <a:ln/>
        </p:spPr>
        <p:txBody>
          <a:bodyPr wrap="square" lIns="0" tIns="0" rIns="0" bIns="0" rtlCol="0" anchor="ctr"/>
          <a:lstStyle/>
          <a:p>
            <a:pPr algn="ctr" indent="0" marL="0">
              <a:buNone/>
            </a:pPr>
            <a:r>
              <a:rPr lang="en-US" sz="1000" b="1" dirty="0">
                <a:solidFill>
                  <a:srgbClr val="A87A00"/>
                </a:solidFill>
              </a:rPr>
              <a:t>No</a:t>
            </a:r>
            <a:endParaRPr lang="en-US" sz="1000" dirty="0"/>
          </a:p>
        </p:txBody>
      </p:sp>
      <p:sp>
        <p:nvSpPr>
          <p:cNvPr id="86" name="Shape 76"/>
          <p:cNvSpPr/>
          <p:nvPr/>
        </p:nvSpPr>
        <p:spPr>
          <a:xfrm>
            <a:off x="6144768" y="3840480"/>
            <a:ext cx="1115568" cy="1645920"/>
          </a:xfrm>
          <a:prstGeom prst="roundRect">
            <a:avLst>
              <a:gd name="adj" fmla="val 5738"/>
            </a:avLst>
          </a:prstGeom>
          <a:solidFill>
            <a:srgbClr val="FFEFC0"/>
          </a:solidFill>
          <a:ln w="12700">
            <a:solidFill>
              <a:srgbClr val="E9B21C"/>
            </a:solidFill>
            <a:prstDash val="solid"/>
          </a:ln>
          <a:effectLst>
            <a:outerShdw sx="100000" sy="100000" kx="0" ky="0" algn="bl" rotWithShape="0" blurRad="76200" dist="19050" dir="5400000">
              <a:srgbClr val="000000">
                <a:alpha val="10000"/>
              </a:srgbClr>
            </a:outerShdw>
          </a:effectLst>
        </p:spPr>
      </p:sp>
      <p:pic>
        <p:nvPicPr>
          <p:cNvPr id="87" name="Image 8" descr="preencoded.png">    </p:cNvPr>
          <p:cNvPicPr>
            <a:picLocks noChangeAspect="1"/>
          </p:cNvPicPr>
          <p:nvPr/>
        </p:nvPicPr>
        <p:blipFill>
          <a:blip r:embed="rId9"/>
          <a:stretch>
            <a:fillRect/>
          </a:stretch>
        </p:blipFill>
        <p:spPr>
          <a:xfrm>
            <a:off x="6236208" y="3950208"/>
            <a:ext cx="274320" cy="274320"/>
          </a:xfrm>
          <a:prstGeom prst="rect">
            <a:avLst/>
          </a:prstGeom>
        </p:spPr>
      </p:pic>
      <p:sp>
        <p:nvSpPr>
          <p:cNvPr id="88" name="Text 77"/>
          <p:cNvSpPr txBox="1"/>
          <p:nvPr/>
        </p:nvSpPr>
        <p:spPr>
          <a:xfrm>
            <a:off x="6601968" y="3904488"/>
            <a:ext cx="585216" cy="749808"/>
          </a:xfrm>
          <a:prstGeom prst="rect">
            <a:avLst/>
          </a:prstGeom>
          <a:noFill/>
          <a:ln/>
        </p:spPr>
        <p:txBody>
          <a:bodyPr wrap="square" lIns="0" tIns="0" rIns="0" bIns="0" rtlCol="0" anchor="ctr"/>
          <a:lstStyle/>
          <a:p>
            <a:pPr indent="0" marL="0">
              <a:buNone/>
            </a:pPr>
            <a:r>
              <a:rPr lang="en-US" sz="1100" b="1" dirty="0">
                <a:solidFill>
                  <a:srgbClr val="33383D"/>
                </a:solidFill>
              </a:rPr>
              <a:t>Route for business review</a:t>
            </a:r>
            <a:endParaRPr lang="en-US" sz="1100" dirty="0"/>
          </a:p>
        </p:txBody>
      </p:sp>
      <p:sp>
        <p:nvSpPr>
          <p:cNvPr id="89" name="Text 78"/>
          <p:cNvSpPr txBox="1"/>
          <p:nvPr/>
        </p:nvSpPr>
        <p:spPr>
          <a:xfrm>
            <a:off x="6236208" y="4709160"/>
            <a:ext cx="950976" cy="731520"/>
          </a:xfrm>
          <a:prstGeom prst="rect">
            <a:avLst/>
          </a:prstGeom>
          <a:noFill/>
          <a:ln/>
        </p:spPr>
        <p:txBody>
          <a:bodyPr wrap="square" lIns="0" tIns="0" rIns="0" bIns="0" rtlCol="0" anchor="t"/>
          <a:lstStyle/>
          <a:p>
            <a:pPr indent="0" marL="0">
              <a:buNone/>
            </a:pPr>
            <a:r>
              <a:rPr lang="en-US" sz="1000" dirty="0">
                <a:solidFill>
                  <a:srgbClr val="5F666D"/>
                </a:solidFill>
              </a:rPr>
              <a:t>Notify data owner / steward to decide: Retain, Archive or Purge</a:t>
            </a:r>
            <a:endParaRPr lang="en-US" sz="1000" dirty="0"/>
          </a:p>
        </p:txBody>
      </p:sp>
      <p:sp>
        <p:nvSpPr>
          <p:cNvPr id="90" name="Shape 79"/>
          <p:cNvSpPr/>
          <p:nvPr/>
        </p:nvSpPr>
        <p:spPr>
          <a:xfrm>
            <a:off x="5916168" y="4457700"/>
            <a:ext cx="228600" cy="9144"/>
          </a:xfrm>
          <a:custGeom>
            <a:avLst/>
            <a:gdLst/>
            <a:ahLst/>
            <a:cxnLst/>
            <a:rect l="l" t="t" r="r" b="b"/>
            <a:pathLst>
              <a:path w="228600" h="9144">
                <a:moveTo>
                  <a:pt x="0" y="0"/>
                </a:moveTo>
                <a:lnTo>
                  <a:pt x="228600" y="0"/>
                </a:lnTo>
              </a:path>
            </a:pathLst>
          </a:custGeom>
          <a:noFill/>
          <a:ln w="19050">
            <a:solidFill>
              <a:srgbClr val="4A5056"/>
            </a:solidFill>
            <a:prstDash val="solid"/>
            <a:tailEnd type="triangle"/>
          </a:ln>
        </p:spPr>
      </p:sp>
      <p:sp>
        <p:nvSpPr>
          <p:cNvPr id="91" name="Text 80"/>
          <p:cNvSpPr txBox="1"/>
          <p:nvPr/>
        </p:nvSpPr>
        <p:spPr>
          <a:xfrm>
            <a:off x="5943600" y="4229100"/>
            <a:ext cx="365760" cy="201168"/>
          </a:xfrm>
          <a:prstGeom prst="rect">
            <a:avLst/>
          </a:prstGeom>
          <a:noFill/>
          <a:ln/>
        </p:spPr>
        <p:txBody>
          <a:bodyPr wrap="square" lIns="0" tIns="0" rIns="0" bIns="0" rtlCol="0" anchor="ctr"/>
          <a:lstStyle/>
          <a:p>
            <a:pPr algn="ctr" indent="0" marL="0">
              <a:buNone/>
            </a:pPr>
            <a:r>
              <a:rPr lang="en-US" sz="1000" b="1" dirty="0">
                <a:solidFill>
                  <a:srgbClr val="3F7F2E"/>
                </a:solidFill>
              </a:rPr>
              <a:t>Yes</a:t>
            </a:r>
            <a:endParaRPr lang="en-US" sz="1000" dirty="0"/>
          </a:p>
        </p:txBody>
      </p:sp>
      <p:sp>
        <p:nvSpPr>
          <p:cNvPr id="92" name="Shape 81"/>
          <p:cNvSpPr/>
          <p:nvPr/>
        </p:nvSpPr>
        <p:spPr>
          <a:xfrm>
            <a:off x="4745736" y="5897880"/>
            <a:ext cx="2514600" cy="960120"/>
          </a:xfrm>
          <a:prstGeom prst="roundRect">
            <a:avLst>
              <a:gd name="adj" fmla="val 6667"/>
            </a:avLst>
          </a:prstGeom>
          <a:solidFill>
            <a:srgbClr val="E2F2DA"/>
          </a:solidFill>
          <a:ln w="12700">
            <a:solidFill>
              <a:srgbClr val="86BF72"/>
            </a:solidFill>
            <a:prstDash val="solid"/>
          </a:ln>
          <a:effectLst>
            <a:outerShdw sx="100000" sy="100000" kx="0" ky="0" algn="bl" rotWithShape="0" blurRad="76200" dist="19050" dir="5400000">
              <a:srgbClr val="000000">
                <a:alpha val="10000"/>
              </a:srgbClr>
            </a:outerShdw>
          </a:effectLst>
        </p:spPr>
      </p:sp>
      <p:pic>
        <p:nvPicPr>
          <p:cNvPr id="93" name="Image 9" descr="preencoded.png">    </p:cNvPr>
          <p:cNvPicPr>
            <a:picLocks noChangeAspect="1"/>
          </p:cNvPicPr>
          <p:nvPr/>
        </p:nvPicPr>
        <p:blipFill>
          <a:blip r:embed="rId10"/>
          <a:stretch>
            <a:fillRect/>
          </a:stretch>
        </p:blipFill>
        <p:spPr>
          <a:xfrm>
            <a:off x="4837176" y="6007608"/>
            <a:ext cx="274320" cy="274320"/>
          </a:xfrm>
          <a:prstGeom prst="rect">
            <a:avLst/>
          </a:prstGeom>
        </p:spPr>
      </p:pic>
      <p:sp>
        <p:nvSpPr>
          <p:cNvPr id="94" name="Text 82"/>
          <p:cNvSpPr txBox="1"/>
          <p:nvPr/>
        </p:nvSpPr>
        <p:spPr>
          <a:xfrm>
            <a:off x="5202936" y="5961888"/>
            <a:ext cx="1984248" cy="384048"/>
          </a:xfrm>
          <a:prstGeom prst="rect">
            <a:avLst/>
          </a:prstGeom>
          <a:noFill/>
          <a:ln/>
        </p:spPr>
        <p:txBody>
          <a:bodyPr wrap="square" lIns="0" tIns="0" rIns="0" bIns="0" rtlCol="0" anchor="ctr"/>
          <a:lstStyle/>
          <a:p>
            <a:pPr indent="0" marL="0">
              <a:buNone/>
            </a:pPr>
            <a:r>
              <a:rPr lang="en-US" sz="1100" b="1" dirty="0">
                <a:solidFill>
                  <a:srgbClr val="33383D"/>
                </a:solidFill>
              </a:rPr>
              <a:t>Approved for disposal</a:t>
            </a:r>
            <a:endParaRPr lang="en-US" sz="1100" dirty="0"/>
          </a:p>
        </p:txBody>
      </p:sp>
      <p:sp>
        <p:nvSpPr>
          <p:cNvPr id="95" name="Text 83"/>
          <p:cNvSpPr txBox="1"/>
          <p:nvPr/>
        </p:nvSpPr>
        <p:spPr>
          <a:xfrm>
            <a:off x="4837176" y="6400800"/>
            <a:ext cx="2350008" cy="411480"/>
          </a:xfrm>
          <a:prstGeom prst="rect">
            <a:avLst/>
          </a:prstGeom>
          <a:noFill/>
          <a:ln/>
        </p:spPr>
        <p:txBody>
          <a:bodyPr wrap="square" lIns="0" tIns="0" rIns="0" bIns="0" rtlCol="0" anchor="t"/>
          <a:lstStyle/>
          <a:p>
            <a:pPr indent="0" marL="0">
              <a:buNone/>
            </a:pPr>
            <a:r>
              <a:rPr lang="en-US" sz="1000" dirty="0">
                <a:solidFill>
                  <a:srgbClr val="5F666D"/>
                </a:solidFill>
              </a:rPr>
              <a:t>Meets policy, no holds, no dependencies</a:t>
            </a:r>
            <a:endParaRPr lang="en-US" sz="1000" dirty="0"/>
          </a:p>
        </p:txBody>
      </p:sp>
      <p:sp>
        <p:nvSpPr>
          <p:cNvPr id="96" name="Shape 84"/>
          <p:cNvSpPr/>
          <p:nvPr/>
        </p:nvSpPr>
        <p:spPr>
          <a:xfrm>
            <a:off x="5321808" y="5074920"/>
            <a:ext cx="9144" cy="822960"/>
          </a:xfrm>
          <a:custGeom>
            <a:avLst/>
            <a:gdLst/>
            <a:ahLst/>
            <a:cxnLst/>
            <a:rect l="l" t="t" r="r" b="b"/>
            <a:pathLst>
              <a:path w="9144" h="822960">
                <a:moveTo>
                  <a:pt x="0" y="0"/>
                </a:moveTo>
                <a:lnTo>
                  <a:pt x="0" y="822960"/>
                </a:lnTo>
              </a:path>
            </a:pathLst>
          </a:custGeom>
          <a:noFill/>
          <a:ln w="19050">
            <a:solidFill>
              <a:srgbClr val="4A5056"/>
            </a:solidFill>
            <a:prstDash val="solid"/>
            <a:tailEnd type="triangle"/>
          </a:ln>
        </p:spPr>
      </p:sp>
      <p:sp>
        <p:nvSpPr>
          <p:cNvPr id="97" name="Text 85"/>
          <p:cNvSpPr txBox="1"/>
          <p:nvPr/>
        </p:nvSpPr>
        <p:spPr>
          <a:xfrm>
            <a:off x="5367528" y="5257800"/>
            <a:ext cx="365760" cy="201168"/>
          </a:xfrm>
          <a:prstGeom prst="rect">
            <a:avLst/>
          </a:prstGeom>
          <a:noFill/>
          <a:ln/>
        </p:spPr>
        <p:txBody>
          <a:bodyPr wrap="square" lIns="0" tIns="0" rIns="0" bIns="0" rtlCol="0" anchor="ctr"/>
          <a:lstStyle/>
          <a:p>
            <a:pPr algn="ctr" indent="0" marL="0">
              <a:buNone/>
            </a:pPr>
            <a:r>
              <a:rPr lang="en-US" sz="1000" b="1" dirty="0">
                <a:solidFill>
                  <a:srgbClr val="A87A00"/>
                </a:solidFill>
              </a:rPr>
              <a:t>No</a:t>
            </a:r>
            <a:endParaRPr lang="en-US" sz="1000" dirty="0"/>
          </a:p>
        </p:txBody>
      </p:sp>
      <p:sp>
        <p:nvSpPr>
          <p:cNvPr id="98" name="Shape 86"/>
          <p:cNvSpPr/>
          <p:nvPr/>
        </p:nvSpPr>
        <p:spPr>
          <a:xfrm>
            <a:off x="4361688" y="2788920"/>
            <a:ext cx="365760" cy="3886200"/>
          </a:xfrm>
          <a:custGeom>
            <a:avLst/>
            <a:gdLst/>
            <a:ahLst/>
            <a:cxnLst/>
            <a:rect l="l" t="t" r="r" b="b"/>
            <a:pathLst>
              <a:path w="365760" h="3886200">
                <a:moveTo>
                  <a:pt x="0" y="3886200"/>
                </a:moveTo>
                <a:lnTo>
                  <a:pt x="192024" y="3886200"/>
                </a:lnTo>
                <a:lnTo>
                  <a:pt x="192024" y="0"/>
                </a:lnTo>
                <a:lnTo>
                  <a:pt x="365760" y="0"/>
                </a:lnTo>
              </a:path>
            </a:pathLst>
          </a:custGeom>
          <a:noFill/>
          <a:ln w="19050">
            <a:solidFill>
              <a:srgbClr val="4A5056"/>
            </a:solidFill>
            <a:prstDash val="solid"/>
            <a:tailEnd type="triangle"/>
          </a:ln>
        </p:spPr>
      </p:sp>
      <p:sp>
        <p:nvSpPr>
          <p:cNvPr id="99" name="Shape 87"/>
          <p:cNvSpPr/>
          <p:nvPr/>
        </p:nvSpPr>
        <p:spPr>
          <a:xfrm>
            <a:off x="7644384" y="2148840"/>
            <a:ext cx="2103120" cy="1371600"/>
          </a:xfrm>
          <a:prstGeom prst="roundRect">
            <a:avLst>
              <a:gd name="adj" fmla="val 4667"/>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100" name="Image 10" descr="preencoded.png">    </p:cNvPr>
          <p:cNvPicPr>
            <a:picLocks noChangeAspect="1"/>
          </p:cNvPicPr>
          <p:nvPr/>
        </p:nvPicPr>
        <p:blipFill>
          <a:blip r:embed="rId11"/>
          <a:stretch>
            <a:fillRect/>
          </a:stretch>
        </p:blipFill>
        <p:spPr>
          <a:xfrm>
            <a:off x="7735824" y="2258568"/>
            <a:ext cx="274320" cy="274320"/>
          </a:xfrm>
          <a:prstGeom prst="rect">
            <a:avLst/>
          </a:prstGeom>
        </p:spPr>
      </p:pic>
      <p:sp>
        <p:nvSpPr>
          <p:cNvPr id="101" name="Text 88"/>
          <p:cNvSpPr txBox="1"/>
          <p:nvPr/>
        </p:nvSpPr>
        <p:spPr>
          <a:xfrm>
            <a:off x="8101584" y="2212848"/>
            <a:ext cx="1572768" cy="402336"/>
          </a:xfrm>
          <a:prstGeom prst="rect">
            <a:avLst/>
          </a:prstGeom>
          <a:noFill/>
          <a:ln/>
        </p:spPr>
        <p:txBody>
          <a:bodyPr wrap="square" lIns="0" tIns="0" rIns="0" bIns="0" rtlCol="0" anchor="ctr"/>
          <a:lstStyle/>
          <a:p>
            <a:pPr indent="0" marL="0">
              <a:buNone/>
            </a:pPr>
            <a:r>
              <a:rPr lang="en-US" sz="1100" b="1" dirty="0">
                <a:solidFill>
                  <a:srgbClr val="33383D"/>
                </a:solidFill>
              </a:rPr>
              <a:t>Owner / Data Steward review</a:t>
            </a:r>
            <a:endParaRPr lang="en-US" sz="1100" dirty="0"/>
          </a:p>
        </p:txBody>
      </p:sp>
      <p:sp>
        <p:nvSpPr>
          <p:cNvPr id="102" name="Text 89"/>
          <p:cNvSpPr txBox="1"/>
          <p:nvPr/>
        </p:nvSpPr>
        <p:spPr>
          <a:xfrm>
            <a:off x="7735824" y="2670048"/>
            <a:ext cx="1938528" cy="80467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5F666D"/>
                </a:solidFill>
              </a:rPr>
              <a:t>Review file sample / metadata</a:t>
            </a:r>
            <a:endParaRPr lang="en-US" sz="1000" dirty="0"/>
          </a:p>
          <a:p>
            <a:pPr marL="127000" indent="-127000">
              <a:spcAft>
                <a:spcPts val="100"/>
              </a:spcAft>
              <a:buSzPct val="100000"/>
              <a:buChar char="•"/>
            </a:pPr>
            <a:r>
              <a:rPr lang="en-US" sz="1000" dirty="0">
                <a:solidFill>
                  <a:srgbClr val="5F666D"/>
                </a:solidFill>
              </a:rPr>
              <a:t>Confirm business value</a:t>
            </a:r>
            <a:endParaRPr lang="en-US" sz="1000" dirty="0"/>
          </a:p>
          <a:p>
            <a:pPr marL="127000" indent="-127000">
              <a:spcAft>
                <a:spcPts val="100"/>
              </a:spcAft>
              <a:buSzPct val="100000"/>
              <a:buChar char="•"/>
            </a:pPr>
            <a:r>
              <a:rPr lang="en-US" sz="1000" dirty="0">
                <a:solidFill>
                  <a:srgbClr val="5F666D"/>
                </a:solidFill>
              </a:rPr>
              <a:t>Select action: Purge or Archive</a:t>
            </a:r>
            <a:endParaRPr lang="en-US" sz="1000" dirty="0"/>
          </a:p>
        </p:txBody>
      </p:sp>
      <p:sp>
        <p:nvSpPr>
          <p:cNvPr id="103" name="Shape 90"/>
          <p:cNvSpPr/>
          <p:nvPr/>
        </p:nvSpPr>
        <p:spPr>
          <a:xfrm>
            <a:off x="7626096" y="3794760"/>
            <a:ext cx="1188720" cy="1097280"/>
          </a:xfrm>
          <a:prstGeom prst="diamond">
            <a:avLst/>
          </a:prstGeom>
          <a:solidFill>
            <a:srgbClr val="FFFFFF"/>
          </a:solidFill>
          <a:ln w="19050">
            <a:solidFill>
              <a:srgbClr val="86BF72"/>
            </a:solidFill>
            <a:prstDash val="solid"/>
          </a:ln>
          <a:effectLst>
            <a:outerShdw sx="100000" sy="100000" kx="0" ky="0" algn="bl" rotWithShape="0" blurRad="76200" dist="19050" dir="5400000">
              <a:srgbClr val="000000">
                <a:alpha val="10000"/>
              </a:srgbClr>
            </a:outerShdw>
          </a:effectLst>
        </p:spPr>
      </p:sp>
      <p:sp>
        <p:nvSpPr>
          <p:cNvPr id="104" name="Text 91"/>
          <p:cNvSpPr txBox="1"/>
          <p:nvPr/>
        </p:nvSpPr>
        <p:spPr>
          <a:xfrm>
            <a:off x="7863840" y="4036162"/>
            <a:ext cx="713232" cy="614477"/>
          </a:xfrm>
          <a:prstGeom prst="rect">
            <a:avLst/>
          </a:prstGeom>
          <a:noFill/>
          <a:ln/>
        </p:spPr>
        <p:txBody>
          <a:bodyPr wrap="square" lIns="0" tIns="0" rIns="0" bIns="0" rtlCol="0" anchor="ctr"/>
          <a:lstStyle/>
          <a:p>
            <a:pPr algn="ctr" indent="0" marL="0">
              <a:buNone/>
            </a:pPr>
            <a:r>
              <a:rPr lang="en-US" sz="1000" b="1" dirty="0">
                <a:solidFill>
                  <a:srgbClr val="33383D"/>
                </a:solidFill>
              </a:rPr>
              <a:t>Approved to purge?</a:t>
            </a:r>
            <a:endParaRPr lang="en-US" sz="1000" dirty="0"/>
          </a:p>
        </p:txBody>
      </p:sp>
      <p:sp>
        <p:nvSpPr>
          <p:cNvPr id="105" name="Shape 92"/>
          <p:cNvSpPr/>
          <p:nvPr/>
        </p:nvSpPr>
        <p:spPr>
          <a:xfrm>
            <a:off x="8220456" y="3520440"/>
            <a:ext cx="9144" cy="274320"/>
          </a:xfrm>
          <a:custGeom>
            <a:avLst/>
            <a:gdLst/>
            <a:ahLst/>
            <a:cxnLst/>
            <a:rect l="l" t="t" r="r" b="b"/>
            <a:pathLst>
              <a:path w="9144" h="274320">
                <a:moveTo>
                  <a:pt x="0" y="0"/>
                </a:moveTo>
                <a:lnTo>
                  <a:pt x="0" y="274320"/>
                </a:lnTo>
              </a:path>
            </a:pathLst>
          </a:custGeom>
          <a:noFill/>
          <a:ln w="19050">
            <a:solidFill>
              <a:srgbClr val="4A5056"/>
            </a:solidFill>
            <a:prstDash val="solid"/>
            <a:tailEnd type="triangle"/>
          </a:ln>
        </p:spPr>
      </p:sp>
      <p:sp>
        <p:nvSpPr>
          <p:cNvPr id="106" name="Shape 93"/>
          <p:cNvSpPr/>
          <p:nvPr/>
        </p:nvSpPr>
        <p:spPr>
          <a:xfrm>
            <a:off x="8622792" y="4663440"/>
            <a:ext cx="1124712" cy="1325880"/>
          </a:xfrm>
          <a:prstGeom prst="roundRect">
            <a:avLst>
              <a:gd name="adj" fmla="val 5691"/>
            </a:avLst>
          </a:prstGeom>
          <a:solidFill>
            <a:srgbClr val="FFEFC0"/>
          </a:solidFill>
          <a:ln w="12700">
            <a:solidFill>
              <a:srgbClr val="E9B21C"/>
            </a:solidFill>
            <a:prstDash val="solid"/>
          </a:ln>
          <a:effectLst>
            <a:outerShdw sx="100000" sy="100000" kx="0" ky="0" algn="bl" rotWithShape="0" blurRad="76200" dist="19050" dir="5400000">
              <a:srgbClr val="000000">
                <a:alpha val="10000"/>
              </a:srgbClr>
            </a:outerShdw>
          </a:effectLst>
        </p:spPr>
      </p:sp>
      <p:pic>
        <p:nvPicPr>
          <p:cNvPr id="107" name="Image 11" descr="preencoded.png">    </p:cNvPr>
          <p:cNvPicPr>
            <a:picLocks noChangeAspect="1"/>
          </p:cNvPicPr>
          <p:nvPr/>
        </p:nvPicPr>
        <p:blipFill>
          <a:blip r:embed="rId12"/>
          <a:stretch>
            <a:fillRect/>
          </a:stretch>
        </p:blipFill>
        <p:spPr>
          <a:xfrm>
            <a:off x="8714232" y="4773168"/>
            <a:ext cx="274320" cy="274320"/>
          </a:xfrm>
          <a:prstGeom prst="rect">
            <a:avLst/>
          </a:prstGeom>
        </p:spPr>
      </p:pic>
      <p:sp>
        <p:nvSpPr>
          <p:cNvPr id="108" name="Text 94"/>
          <p:cNvSpPr txBox="1"/>
          <p:nvPr/>
        </p:nvSpPr>
        <p:spPr>
          <a:xfrm>
            <a:off x="9079992" y="4727448"/>
            <a:ext cx="594360" cy="576072"/>
          </a:xfrm>
          <a:prstGeom prst="rect">
            <a:avLst/>
          </a:prstGeom>
          <a:noFill/>
          <a:ln/>
        </p:spPr>
        <p:txBody>
          <a:bodyPr wrap="square" lIns="0" tIns="0" rIns="0" bIns="0" rtlCol="0" anchor="ctr"/>
          <a:lstStyle/>
          <a:p>
            <a:pPr indent="0" marL="0">
              <a:buNone/>
            </a:pPr>
            <a:r>
              <a:rPr lang="en-US" sz="1100" b="1" dirty="0">
                <a:solidFill>
                  <a:srgbClr val="33383D"/>
                </a:solidFill>
              </a:rPr>
              <a:t>Archive or retain</a:t>
            </a:r>
            <a:endParaRPr lang="en-US" sz="1100" dirty="0"/>
          </a:p>
        </p:txBody>
      </p:sp>
      <p:sp>
        <p:nvSpPr>
          <p:cNvPr id="109" name="Text 95"/>
          <p:cNvSpPr txBox="1"/>
          <p:nvPr/>
        </p:nvSpPr>
        <p:spPr>
          <a:xfrm>
            <a:off x="8714232" y="5358384"/>
            <a:ext cx="960120" cy="585216"/>
          </a:xfrm>
          <a:prstGeom prst="rect">
            <a:avLst/>
          </a:prstGeom>
          <a:noFill/>
          <a:ln/>
        </p:spPr>
        <p:txBody>
          <a:bodyPr wrap="square" lIns="0" tIns="0" rIns="0" bIns="0" rtlCol="0" anchor="t"/>
          <a:lstStyle/>
          <a:p>
            <a:pPr indent="0" marL="0">
              <a:buNone/>
            </a:pPr>
            <a:r>
              <a:rPr lang="en-US" sz="1000" dirty="0">
                <a:solidFill>
                  <a:srgbClr val="5F666D"/>
                </a:solidFill>
              </a:rPr>
              <a:t>Move to archive or keep in place; update status and close</a:t>
            </a:r>
            <a:endParaRPr lang="en-US" sz="1000" dirty="0"/>
          </a:p>
        </p:txBody>
      </p:sp>
      <p:sp>
        <p:nvSpPr>
          <p:cNvPr id="110" name="Shape 96"/>
          <p:cNvSpPr/>
          <p:nvPr/>
        </p:nvSpPr>
        <p:spPr>
          <a:xfrm>
            <a:off x="8814816" y="4343400"/>
            <a:ext cx="370332" cy="320040"/>
          </a:xfrm>
          <a:custGeom>
            <a:avLst/>
            <a:gdLst/>
            <a:ahLst/>
            <a:cxnLst/>
            <a:rect l="l" t="t" r="r" b="b"/>
            <a:pathLst>
              <a:path w="370332" h="320040">
                <a:moveTo>
                  <a:pt x="0" y="0"/>
                </a:moveTo>
                <a:lnTo>
                  <a:pt x="370332" y="0"/>
                </a:lnTo>
                <a:lnTo>
                  <a:pt x="370332" y="320040"/>
                </a:lnTo>
              </a:path>
            </a:pathLst>
          </a:custGeom>
          <a:noFill/>
          <a:ln w="19050">
            <a:solidFill>
              <a:srgbClr val="4A5056"/>
            </a:solidFill>
            <a:prstDash val="solid"/>
            <a:tailEnd type="triangle"/>
          </a:ln>
        </p:spPr>
      </p:sp>
      <p:sp>
        <p:nvSpPr>
          <p:cNvPr id="111" name="Text 97"/>
          <p:cNvSpPr txBox="1"/>
          <p:nvPr/>
        </p:nvSpPr>
        <p:spPr>
          <a:xfrm>
            <a:off x="8833104" y="4114800"/>
            <a:ext cx="365760" cy="201168"/>
          </a:xfrm>
          <a:prstGeom prst="rect">
            <a:avLst/>
          </a:prstGeom>
          <a:noFill/>
          <a:ln/>
        </p:spPr>
        <p:txBody>
          <a:bodyPr wrap="square" lIns="0" tIns="0" rIns="0" bIns="0" rtlCol="0" anchor="ctr"/>
          <a:lstStyle/>
          <a:p>
            <a:pPr algn="ctr" indent="0" marL="0">
              <a:buNone/>
            </a:pPr>
            <a:r>
              <a:rPr lang="en-US" sz="1000" b="1" dirty="0">
                <a:solidFill>
                  <a:srgbClr val="A87A00"/>
                </a:solidFill>
              </a:rPr>
              <a:t>No</a:t>
            </a:r>
            <a:endParaRPr lang="en-US" sz="1000" dirty="0"/>
          </a:p>
        </p:txBody>
      </p:sp>
      <p:sp>
        <p:nvSpPr>
          <p:cNvPr id="112" name="Shape 98"/>
          <p:cNvSpPr/>
          <p:nvPr/>
        </p:nvSpPr>
        <p:spPr>
          <a:xfrm>
            <a:off x="7644384" y="6172200"/>
            <a:ext cx="2103120" cy="960120"/>
          </a:xfrm>
          <a:prstGeom prst="roundRect">
            <a:avLst>
              <a:gd name="adj" fmla="val 6667"/>
            </a:avLst>
          </a:prstGeom>
          <a:solidFill>
            <a:srgbClr val="E2F2DA"/>
          </a:solidFill>
          <a:ln w="12700">
            <a:solidFill>
              <a:srgbClr val="86BF72"/>
            </a:solidFill>
            <a:prstDash val="solid"/>
          </a:ln>
          <a:effectLst>
            <a:outerShdw sx="100000" sy="100000" kx="0" ky="0" algn="bl" rotWithShape="0" blurRad="76200" dist="19050" dir="5400000">
              <a:srgbClr val="000000">
                <a:alpha val="10000"/>
              </a:srgbClr>
            </a:outerShdw>
          </a:effectLst>
        </p:spPr>
      </p:sp>
      <p:pic>
        <p:nvPicPr>
          <p:cNvPr id="113" name="Image 12" descr="preencoded.png">    </p:cNvPr>
          <p:cNvPicPr>
            <a:picLocks noChangeAspect="1"/>
          </p:cNvPicPr>
          <p:nvPr/>
        </p:nvPicPr>
        <p:blipFill>
          <a:blip r:embed="rId13"/>
          <a:stretch>
            <a:fillRect/>
          </a:stretch>
        </p:blipFill>
        <p:spPr>
          <a:xfrm>
            <a:off x="7735824" y="6281928"/>
            <a:ext cx="274320" cy="274320"/>
          </a:xfrm>
          <a:prstGeom prst="rect">
            <a:avLst/>
          </a:prstGeom>
        </p:spPr>
      </p:pic>
      <p:sp>
        <p:nvSpPr>
          <p:cNvPr id="114" name="Text 99"/>
          <p:cNvSpPr txBox="1"/>
          <p:nvPr/>
        </p:nvSpPr>
        <p:spPr>
          <a:xfrm>
            <a:off x="8101584" y="6236208"/>
            <a:ext cx="1572768" cy="384048"/>
          </a:xfrm>
          <a:prstGeom prst="rect">
            <a:avLst/>
          </a:prstGeom>
          <a:noFill/>
          <a:ln/>
        </p:spPr>
        <p:txBody>
          <a:bodyPr wrap="square" lIns="0" tIns="0" rIns="0" bIns="0" rtlCol="0" anchor="ctr"/>
          <a:lstStyle/>
          <a:p>
            <a:pPr indent="0" marL="0">
              <a:buNone/>
            </a:pPr>
            <a:r>
              <a:rPr lang="en-US" sz="1100" b="1" dirty="0">
                <a:solidFill>
                  <a:srgbClr val="33383D"/>
                </a:solidFill>
              </a:rPr>
              <a:t>Final approval</a:t>
            </a:r>
            <a:endParaRPr lang="en-US" sz="1100" dirty="0"/>
          </a:p>
        </p:txBody>
      </p:sp>
      <p:sp>
        <p:nvSpPr>
          <p:cNvPr id="115" name="Text 100"/>
          <p:cNvSpPr txBox="1"/>
          <p:nvPr/>
        </p:nvSpPr>
        <p:spPr>
          <a:xfrm>
            <a:off x="7735824" y="6675120"/>
            <a:ext cx="1938528" cy="411480"/>
          </a:xfrm>
          <a:prstGeom prst="rect">
            <a:avLst/>
          </a:prstGeom>
          <a:noFill/>
          <a:ln/>
        </p:spPr>
        <p:txBody>
          <a:bodyPr wrap="square" lIns="0" tIns="0" rIns="0" bIns="0" rtlCol="0" anchor="t"/>
          <a:lstStyle/>
          <a:p>
            <a:pPr indent="0" marL="0">
              <a:buNone/>
            </a:pPr>
            <a:r>
              <a:rPr lang="en-US" sz="1000" dirty="0">
                <a:solidFill>
                  <a:srgbClr val="5F666D"/>
                </a:solidFill>
              </a:rPr>
              <a:t>Record approver, date and comments; create audit entry</a:t>
            </a:r>
            <a:endParaRPr lang="en-US" sz="1000" dirty="0"/>
          </a:p>
        </p:txBody>
      </p:sp>
      <p:sp>
        <p:nvSpPr>
          <p:cNvPr id="116" name="Shape 101"/>
          <p:cNvSpPr/>
          <p:nvPr/>
        </p:nvSpPr>
        <p:spPr>
          <a:xfrm>
            <a:off x="8220456" y="4892040"/>
            <a:ext cx="9144" cy="1280160"/>
          </a:xfrm>
          <a:custGeom>
            <a:avLst/>
            <a:gdLst/>
            <a:ahLst/>
            <a:cxnLst/>
            <a:rect l="l" t="t" r="r" b="b"/>
            <a:pathLst>
              <a:path w="9144" h="1280160">
                <a:moveTo>
                  <a:pt x="0" y="0"/>
                </a:moveTo>
                <a:lnTo>
                  <a:pt x="0" y="1280160"/>
                </a:lnTo>
              </a:path>
            </a:pathLst>
          </a:custGeom>
          <a:noFill/>
          <a:ln w="19050">
            <a:solidFill>
              <a:srgbClr val="4A5056"/>
            </a:solidFill>
            <a:prstDash val="solid"/>
            <a:tailEnd type="triangle"/>
          </a:ln>
        </p:spPr>
      </p:sp>
      <p:sp>
        <p:nvSpPr>
          <p:cNvPr id="117" name="Text 102"/>
          <p:cNvSpPr txBox="1"/>
          <p:nvPr/>
        </p:nvSpPr>
        <p:spPr>
          <a:xfrm>
            <a:off x="7808976" y="5257800"/>
            <a:ext cx="365760" cy="201168"/>
          </a:xfrm>
          <a:prstGeom prst="rect">
            <a:avLst/>
          </a:prstGeom>
          <a:noFill/>
          <a:ln/>
        </p:spPr>
        <p:txBody>
          <a:bodyPr wrap="square" lIns="0" tIns="0" rIns="0" bIns="0" rtlCol="0" anchor="ctr"/>
          <a:lstStyle/>
          <a:p>
            <a:pPr algn="ctr" indent="0" marL="0">
              <a:buNone/>
            </a:pPr>
            <a:r>
              <a:rPr lang="en-US" sz="1000" b="1" dirty="0">
                <a:solidFill>
                  <a:srgbClr val="3F7F2E"/>
                </a:solidFill>
              </a:rPr>
              <a:t>Yes</a:t>
            </a:r>
            <a:endParaRPr lang="en-US" sz="1000" dirty="0"/>
          </a:p>
        </p:txBody>
      </p:sp>
      <p:sp>
        <p:nvSpPr>
          <p:cNvPr id="118" name="Shape 103"/>
          <p:cNvSpPr/>
          <p:nvPr/>
        </p:nvSpPr>
        <p:spPr>
          <a:xfrm>
            <a:off x="7260336" y="2834640"/>
            <a:ext cx="384048" cy="3538728"/>
          </a:xfrm>
          <a:custGeom>
            <a:avLst/>
            <a:gdLst/>
            <a:ahLst/>
            <a:cxnLst/>
            <a:rect l="l" t="t" r="r" b="b"/>
            <a:pathLst>
              <a:path w="384048" h="3538728">
                <a:moveTo>
                  <a:pt x="0" y="3538728"/>
                </a:moveTo>
                <a:lnTo>
                  <a:pt x="192024" y="3538728"/>
                </a:lnTo>
                <a:lnTo>
                  <a:pt x="192024" y="0"/>
                </a:lnTo>
                <a:lnTo>
                  <a:pt x="384048" y="0"/>
                </a:lnTo>
              </a:path>
            </a:pathLst>
          </a:custGeom>
          <a:noFill/>
          <a:ln w="19050">
            <a:solidFill>
              <a:srgbClr val="4A5056"/>
            </a:solidFill>
            <a:prstDash val="solid"/>
            <a:tailEnd type="triangle"/>
          </a:ln>
        </p:spPr>
      </p:sp>
      <p:sp>
        <p:nvSpPr>
          <p:cNvPr id="119" name="Shape 104"/>
          <p:cNvSpPr/>
          <p:nvPr/>
        </p:nvSpPr>
        <p:spPr>
          <a:xfrm>
            <a:off x="10131552" y="2148840"/>
            <a:ext cx="1417320" cy="1600200"/>
          </a:xfrm>
          <a:prstGeom prst="roundRect">
            <a:avLst>
              <a:gd name="adj" fmla="val 4516"/>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120" name="Image 13" descr="preencoded.png">    </p:cNvPr>
          <p:cNvPicPr>
            <a:picLocks noChangeAspect="1"/>
          </p:cNvPicPr>
          <p:nvPr/>
        </p:nvPicPr>
        <p:blipFill>
          <a:blip r:embed="rId14"/>
          <a:stretch>
            <a:fillRect/>
          </a:stretch>
        </p:blipFill>
        <p:spPr>
          <a:xfrm>
            <a:off x="10222992" y="2258568"/>
            <a:ext cx="274320" cy="274320"/>
          </a:xfrm>
          <a:prstGeom prst="rect">
            <a:avLst/>
          </a:prstGeom>
        </p:spPr>
      </p:pic>
      <p:sp>
        <p:nvSpPr>
          <p:cNvPr id="121" name="Text 105"/>
          <p:cNvSpPr txBox="1"/>
          <p:nvPr/>
        </p:nvSpPr>
        <p:spPr>
          <a:xfrm>
            <a:off x="10588752" y="2212848"/>
            <a:ext cx="886968" cy="402336"/>
          </a:xfrm>
          <a:prstGeom prst="rect">
            <a:avLst/>
          </a:prstGeom>
          <a:noFill/>
          <a:ln/>
        </p:spPr>
        <p:txBody>
          <a:bodyPr wrap="square" lIns="0" tIns="0" rIns="0" bIns="0" rtlCol="0" anchor="ctr"/>
          <a:lstStyle/>
          <a:p>
            <a:pPr indent="0" marL="0">
              <a:buNone/>
            </a:pPr>
            <a:r>
              <a:rPr lang="en-US" sz="1100" b="1" dirty="0">
                <a:solidFill>
                  <a:srgbClr val="33383D"/>
                </a:solidFill>
              </a:rPr>
              <a:t>Execute deletion</a:t>
            </a:r>
            <a:endParaRPr lang="en-US" sz="1100" dirty="0"/>
          </a:p>
        </p:txBody>
      </p:sp>
      <p:sp>
        <p:nvSpPr>
          <p:cNvPr id="122" name="Text 106"/>
          <p:cNvSpPr txBox="1"/>
          <p:nvPr/>
        </p:nvSpPr>
        <p:spPr>
          <a:xfrm>
            <a:off x="10222992" y="2670048"/>
            <a:ext cx="1252728" cy="1033272"/>
          </a:xfrm>
          <a:prstGeom prst="rect">
            <a:avLst/>
          </a:prstGeom>
          <a:noFill/>
          <a:ln/>
        </p:spPr>
        <p:txBody>
          <a:bodyPr wrap="square" lIns="0" tIns="0" rIns="0" bIns="0" rtlCol="0" anchor="t"/>
          <a:lstStyle/>
          <a:p>
            <a:pPr indent="0" marL="0">
              <a:buNone/>
            </a:pPr>
            <a:r>
              <a:rPr lang="en-US" sz="1000" dirty="0">
                <a:solidFill>
                  <a:srgbClr val="5F666D"/>
                </a:solidFill>
              </a:rPr>
              <a:t>BigID triggers secure deletion of approved files via connector (e.g., Windows file share, NAS)</a:t>
            </a:r>
            <a:endParaRPr lang="en-US" sz="1000" dirty="0"/>
          </a:p>
        </p:txBody>
      </p:sp>
      <p:sp>
        <p:nvSpPr>
          <p:cNvPr id="123" name="Shape 107"/>
          <p:cNvSpPr/>
          <p:nvPr/>
        </p:nvSpPr>
        <p:spPr>
          <a:xfrm>
            <a:off x="10131552" y="3977640"/>
            <a:ext cx="1417320" cy="1508760"/>
          </a:xfrm>
          <a:prstGeom prst="roundRect">
            <a:avLst>
              <a:gd name="adj" fmla="val 4516"/>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124" name="Image 14" descr="preencoded.png">    </p:cNvPr>
          <p:cNvPicPr>
            <a:picLocks noChangeAspect="1"/>
          </p:cNvPicPr>
          <p:nvPr/>
        </p:nvPicPr>
        <p:blipFill>
          <a:blip r:embed="rId15"/>
          <a:stretch>
            <a:fillRect/>
          </a:stretch>
        </p:blipFill>
        <p:spPr>
          <a:xfrm>
            <a:off x="10222992" y="4087368"/>
            <a:ext cx="274320" cy="274320"/>
          </a:xfrm>
          <a:prstGeom prst="rect">
            <a:avLst/>
          </a:prstGeom>
        </p:spPr>
      </p:pic>
      <p:sp>
        <p:nvSpPr>
          <p:cNvPr id="125" name="Text 108"/>
          <p:cNvSpPr txBox="1"/>
          <p:nvPr/>
        </p:nvSpPr>
        <p:spPr>
          <a:xfrm>
            <a:off x="10588752" y="4041648"/>
            <a:ext cx="886968" cy="402336"/>
          </a:xfrm>
          <a:prstGeom prst="rect">
            <a:avLst/>
          </a:prstGeom>
          <a:noFill/>
          <a:ln/>
        </p:spPr>
        <p:txBody>
          <a:bodyPr wrap="square" lIns="0" tIns="0" rIns="0" bIns="0" rtlCol="0" anchor="ctr"/>
          <a:lstStyle/>
          <a:p>
            <a:pPr indent="0" marL="0">
              <a:buNone/>
            </a:pPr>
            <a:r>
              <a:rPr lang="en-US" sz="1100" b="1" dirty="0">
                <a:solidFill>
                  <a:srgbClr val="33383D"/>
                </a:solidFill>
              </a:rPr>
              <a:t>Create tombstone</a:t>
            </a:r>
            <a:endParaRPr lang="en-US" sz="1100" dirty="0"/>
          </a:p>
        </p:txBody>
      </p:sp>
      <p:sp>
        <p:nvSpPr>
          <p:cNvPr id="126" name="Text 109"/>
          <p:cNvSpPr txBox="1"/>
          <p:nvPr/>
        </p:nvSpPr>
        <p:spPr>
          <a:xfrm>
            <a:off x="10222992" y="4498848"/>
            <a:ext cx="1252728" cy="941832"/>
          </a:xfrm>
          <a:prstGeom prst="rect">
            <a:avLst/>
          </a:prstGeom>
          <a:noFill/>
          <a:ln/>
        </p:spPr>
        <p:txBody>
          <a:bodyPr wrap="square" lIns="0" tIns="0" rIns="0" bIns="0" rtlCol="0" anchor="t"/>
          <a:lstStyle/>
          <a:p>
            <a:pPr indent="0" marL="0">
              <a:buNone/>
            </a:pPr>
            <a:r>
              <a:rPr lang="en-US" sz="1000" dirty="0">
                <a:solidFill>
                  <a:srgbClr val="5F666D"/>
                </a:solidFill>
              </a:rPr>
              <a:t>Leave a metadata record (path, hash, date, approver) for audit</a:t>
            </a:r>
            <a:endParaRPr lang="en-US" sz="1000" dirty="0"/>
          </a:p>
        </p:txBody>
      </p:sp>
      <p:sp>
        <p:nvSpPr>
          <p:cNvPr id="127" name="Shape 110"/>
          <p:cNvSpPr/>
          <p:nvPr/>
        </p:nvSpPr>
        <p:spPr>
          <a:xfrm>
            <a:off x="10131552" y="5715000"/>
            <a:ext cx="1417320" cy="1417320"/>
          </a:xfrm>
          <a:prstGeom prst="roundRect">
            <a:avLst>
              <a:gd name="adj" fmla="val 4516"/>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128" name="Image 15" descr="preencoded.png">    </p:cNvPr>
          <p:cNvPicPr>
            <a:picLocks noChangeAspect="1"/>
          </p:cNvPicPr>
          <p:nvPr/>
        </p:nvPicPr>
        <p:blipFill>
          <a:blip r:embed="rId16"/>
          <a:stretch>
            <a:fillRect/>
          </a:stretch>
        </p:blipFill>
        <p:spPr>
          <a:xfrm>
            <a:off x="10222992" y="5824728"/>
            <a:ext cx="274320" cy="274320"/>
          </a:xfrm>
          <a:prstGeom prst="rect">
            <a:avLst/>
          </a:prstGeom>
        </p:spPr>
      </p:pic>
      <p:sp>
        <p:nvSpPr>
          <p:cNvPr id="129" name="Text 111"/>
          <p:cNvSpPr txBox="1"/>
          <p:nvPr/>
        </p:nvSpPr>
        <p:spPr>
          <a:xfrm>
            <a:off x="10588752" y="5779008"/>
            <a:ext cx="886968" cy="402336"/>
          </a:xfrm>
          <a:prstGeom prst="rect">
            <a:avLst/>
          </a:prstGeom>
          <a:noFill/>
          <a:ln/>
        </p:spPr>
        <p:txBody>
          <a:bodyPr wrap="square" lIns="0" tIns="0" rIns="0" bIns="0" rtlCol="0" anchor="ctr"/>
          <a:lstStyle/>
          <a:p>
            <a:pPr indent="0" marL="0">
              <a:buNone/>
            </a:pPr>
            <a:r>
              <a:rPr lang="en-US" sz="1100" b="1" dirty="0">
                <a:solidFill>
                  <a:srgbClr val="33383D"/>
                </a:solidFill>
              </a:rPr>
              <a:t>Update systems</a:t>
            </a:r>
            <a:endParaRPr lang="en-US" sz="1100" dirty="0"/>
          </a:p>
        </p:txBody>
      </p:sp>
      <p:sp>
        <p:nvSpPr>
          <p:cNvPr id="130" name="Text 112"/>
          <p:cNvSpPr txBox="1"/>
          <p:nvPr/>
        </p:nvSpPr>
        <p:spPr>
          <a:xfrm>
            <a:off x="10222992" y="6236208"/>
            <a:ext cx="1252728" cy="850392"/>
          </a:xfrm>
          <a:prstGeom prst="rect">
            <a:avLst/>
          </a:prstGeom>
          <a:noFill/>
          <a:ln/>
        </p:spPr>
        <p:txBody>
          <a:bodyPr wrap="square" lIns="0" tIns="0" rIns="0" bIns="0" rtlCol="0" anchor="t"/>
          <a:lstStyle/>
          <a:p>
            <a:pPr indent="0" marL="0">
              <a:buNone/>
            </a:pPr>
            <a:r>
              <a:rPr lang="en-US" sz="1000" dirty="0">
                <a:solidFill>
                  <a:srgbClr val="5F666D"/>
                </a:solidFill>
              </a:rPr>
              <a:t>Update BigID inventory and integrated systems (SIEM, ITSM). Mark files as Purged.</a:t>
            </a:r>
            <a:endParaRPr lang="en-US" sz="1000" dirty="0"/>
          </a:p>
        </p:txBody>
      </p:sp>
      <p:sp>
        <p:nvSpPr>
          <p:cNvPr id="131" name="Shape 113"/>
          <p:cNvSpPr/>
          <p:nvPr/>
        </p:nvSpPr>
        <p:spPr>
          <a:xfrm>
            <a:off x="10840212" y="3749040"/>
            <a:ext cx="9144" cy="228600"/>
          </a:xfrm>
          <a:custGeom>
            <a:avLst/>
            <a:gdLst/>
            <a:ahLst/>
            <a:cxnLst/>
            <a:rect l="l" t="t" r="r" b="b"/>
            <a:pathLst>
              <a:path w="9144" h="228600">
                <a:moveTo>
                  <a:pt x="0" y="0"/>
                </a:moveTo>
                <a:lnTo>
                  <a:pt x="0" y="228600"/>
                </a:lnTo>
              </a:path>
            </a:pathLst>
          </a:custGeom>
          <a:noFill/>
          <a:ln w="19050">
            <a:solidFill>
              <a:srgbClr val="4A5056"/>
            </a:solidFill>
            <a:prstDash val="solid"/>
            <a:tailEnd type="triangle"/>
          </a:ln>
        </p:spPr>
      </p:sp>
      <p:sp>
        <p:nvSpPr>
          <p:cNvPr id="132" name="Shape 114"/>
          <p:cNvSpPr/>
          <p:nvPr/>
        </p:nvSpPr>
        <p:spPr>
          <a:xfrm>
            <a:off x="10840212" y="5486400"/>
            <a:ext cx="9144" cy="228600"/>
          </a:xfrm>
          <a:custGeom>
            <a:avLst/>
            <a:gdLst/>
            <a:ahLst/>
            <a:cxnLst/>
            <a:rect l="l" t="t" r="r" b="b"/>
            <a:pathLst>
              <a:path w="9144" h="228600">
                <a:moveTo>
                  <a:pt x="0" y="0"/>
                </a:moveTo>
                <a:lnTo>
                  <a:pt x="0" y="228600"/>
                </a:lnTo>
              </a:path>
            </a:pathLst>
          </a:custGeom>
          <a:noFill/>
          <a:ln w="19050">
            <a:solidFill>
              <a:srgbClr val="4A5056"/>
            </a:solidFill>
            <a:prstDash val="solid"/>
            <a:tailEnd type="triangle"/>
          </a:ln>
        </p:spPr>
      </p:sp>
      <p:sp>
        <p:nvSpPr>
          <p:cNvPr id="133" name="Shape 115"/>
          <p:cNvSpPr/>
          <p:nvPr/>
        </p:nvSpPr>
        <p:spPr>
          <a:xfrm>
            <a:off x="9747504" y="2944368"/>
            <a:ext cx="384048" cy="3703320"/>
          </a:xfrm>
          <a:custGeom>
            <a:avLst/>
            <a:gdLst/>
            <a:ahLst/>
            <a:cxnLst/>
            <a:rect l="l" t="t" r="r" b="b"/>
            <a:pathLst>
              <a:path w="384048" h="3703320">
                <a:moveTo>
                  <a:pt x="0" y="3703320"/>
                </a:moveTo>
                <a:lnTo>
                  <a:pt x="192024" y="3703320"/>
                </a:lnTo>
                <a:lnTo>
                  <a:pt x="192024" y="0"/>
                </a:lnTo>
                <a:lnTo>
                  <a:pt x="384048" y="0"/>
                </a:lnTo>
              </a:path>
            </a:pathLst>
          </a:custGeom>
          <a:noFill/>
          <a:ln w="19050">
            <a:solidFill>
              <a:srgbClr val="4A5056"/>
            </a:solidFill>
            <a:prstDash val="solid"/>
            <a:tailEnd type="triangle"/>
          </a:ln>
        </p:spPr>
      </p:sp>
      <p:sp>
        <p:nvSpPr>
          <p:cNvPr id="134" name="Shape 116"/>
          <p:cNvSpPr/>
          <p:nvPr/>
        </p:nvSpPr>
        <p:spPr>
          <a:xfrm>
            <a:off x="11932920" y="2148840"/>
            <a:ext cx="1417320" cy="1417320"/>
          </a:xfrm>
          <a:prstGeom prst="roundRect">
            <a:avLst>
              <a:gd name="adj" fmla="val 4516"/>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135" name="Image 16" descr="preencoded.png">    </p:cNvPr>
          <p:cNvPicPr>
            <a:picLocks noChangeAspect="1"/>
          </p:cNvPicPr>
          <p:nvPr/>
        </p:nvPicPr>
        <p:blipFill>
          <a:blip r:embed="rId17"/>
          <a:stretch>
            <a:fillRect/>
          </a:stretch>
        </p:blipFill>
        <p:spPr>
          <a:xfrm>
            <a:off x="12024360" y="2258568"/>
            <a:ext cx="274320" cy="274320"/>
          </a:xfrm>
          <a:prstGeom prst="rect">
            <a:avLst/>
          </a:prstGeom>
        </p:spPr>
      </p:pic>
      <p:sp>
        <p:nvSpPr>
          <p:cNvPr id="136" name="Text 117"/>
          <p:cNvSpPr txBox="1"/>
          <p:nvPr/>
        </p:nvSpPr>
        <p:spPr>
          <a:xfrm>
            <a:off x="12390120" y="2212848"/>
            <a:ext cx="886968" cy="402336"/>
          </a:xfrm>
          <a:prstGeom prst="rect">
            <a:avLst/>
          </a:prstGeom>
          <a:noFill/>
          <a:ln/>
        </p:spPr>
        <p:txBody>
          <a:bodyPr wrap="square" lIns="0" tIns="0" rIns="0" bIns="0" rtlCol="0" anchor="ctr"/>
          <a:lstStyle/>
          <a:p>
            <a:pPr indent="0" marL="0">
              <a:buNone/>
            </a:pPr>
            <a:r>
              <a:rPr lang="en-US" sz="1100" b="1" dirty="0">
                <a:solidFill>
                  <a:srgbClr val="33383D"/>
                </a:solidFill>
              </a:rPr>
              <a:t>Verify results</a:t>
            </a:r>
            <a:endParaRPr lang="en-US" sz="1100" dirty="0"/>
          </a:p>
        </p:txBody>
      </p:sp>
      <p:sp>
        <p:nvSpPr>
          <p:cNvPr id="137" name="Text 118"/>
          <p:cNvSpPr txBox="1"/>
          <p:nvPr/>
        </p:nvSpPr>
        <p:spPr>
          <a:xfrm>
            <a:off x="12024360" y="2670048"/>
            <a:ext cx="1252728" cy="85039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5F666D"/>
                </a:solidFill>
              </a:rPr>
              <a:t>Confirm files deleted</a:t>
            </a:r>
            <a:endParaRPr lang="en-US" sz="1000" dirty="0"/>
          </a:p>
          <a:p>
            <a:pPr marL="127000" indent="-127000">
              <a:spcAft>
                <a:spcPts val="100"/>
              </a:spcAft>
              <a:buSzPct val="100000"/>
              <a:buChar char="•"/>
            </a:pPr>
            <a:r>
              <a:rPr lang="en-US" sz="1000" dirty="0">
                <a:solidFill>
                  <a:srgbClr val="5F666D"/>
                </a:solidFill>
              </a:rPr>
              <a:t>Validate tombstones</a:t>
            </a:r>
            <a:endParaRPr lang="en-US" sz="1000" dirty="0"/>
          </a:p>
          <a:p>
            <a:pPr marL="127000" indent="-127000">
              <a:spcAft>
                <a:spcPts val="100"/>
              </a:spcAft>
              <a:buSzPct val="100000"/>
              <a:buChar char="•"/>
            </a:pPr>
            <a:r>
              <a:rPr lang="en-US" sz="1000" dirty="0">
                <a:solidFill>
                  <a:srgbClr val="5F666D"/>
                </a:solidFill>
              </a:rPr>
              <a:t>Reconcile counts</a:t>
            </a:r>
            <a:endParaRPr lang="en-US" sz="1000" dirty="0"/>
          </a:p>
          <a:p>
            <a:pPr marL="127000" indent="-127000">
              <a:spcAft>
                <a:spcPts val="100"/>
              </a:spcAft>
              <a:buSzPct val="100000"/>
              <a:buChar char="•"/>
            </a:pPr>
            <a:r>
              <a:rPr lang="en-US" sz="1000" dirty="0">
                <a:solidFill>
                  <a:srgbClr val="5F666D"/>
                </a:solidFill>
              </a:rPr>
              <a:t>Check for errors</a:t>
            </a:r>
            <a:endParaRPr lang="en-US" sz="1000" dirty="0"/>
          </a:p>
        </p:txBody>
      </p:sp>
      <p:sp>
        <p:nvSpPr>
          <p:cNvPr id="138" name="Shape 119"/>
          <p:cNvSpPr/>
          <p:nvPr/>
        </p:nvSpPr>
        <p:spPr>
          <a:xfrm>
            <a:off x="11932920" y="3794760"/>
            <a:ext cx="1417320" cy="1691640"/>
          </a:xfrm>
          <a:prstGeom prst="roundRect">
            <a:avLst>
              <a:gd name="adj" fmla="val 4516"/>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pic>
        <p:nvPicPr>
          <p:cNvPr id="139" name="Image 17" descr="preencoded.png">    </p:cNvPr>
          <p:cNvPicPr>
            <a:picLocks noChangeAspect="1"/>
          </p:cNvPicPr>
          <p:nvPr/>
        </p:nvPicPr>
        <p:blipFill>
          <a:blip r:embed="rId18"/>
          <a:stretch>
            <a:fillRect/>
          </a:stretch>
        </p:blipFill>
        <p:spPr>
          <a:xfrm>
            <a:off x="12024360" y="3904488"/>
            <a:ext cx="274320" cy="274320"/>
          </a:xfrm>
          <a:prstGeom prst="rect">
            <a:avLst/>
          </a:prstGeom>
        </p:spPr>
      </p:pic>
      <p:sp>
        <p:nvSpPr>
          <p:cNvPr id="140" name="Text 120"/>
          <p:cNvSpPr txBox="1"/>
          <p:nvPr/>
        </p:nvSpPr>
        <p:spPr>
          <a:xfrm>
            <a:off x="12390120" y="3858768"/>
            <a:ext cx="886968" cy="402336"/>
          </a:xfrm>
          <a:prstGeom prst="rect">
            <a:avLst/>
          </a:prstGeom>
          <a:noFill/>
          <a:ln/>
        </p:spPr>
        <p:txBody>
          <a:bodyPr wrap="square" lIns="0" tIns="0" rIns="0" bIns="0" rtlCol="0" anchor="ctr"/>
          <a:lstStyle/>
          <a:p>
            <a:pPr indent="0" marL="0">
              <a:buNone/>
            </a:pPr>
            <a:r>
              <a:rPr lang="en-US" sz="1100" b="1" dirty="0">
                <a:solidFill>
                  <a:srgbClr val="33383D"/>
                </a:solidFill>
              </a:rPr>
              <a:t>Update reports</a:t>
            </a:r>
            <a:endParaRPr lang="en-US" sz="1100" dirty="0"/>
          </a:p>
        </p:txBody>
      </p:sp>
      <p:sp>
        <p:nvSpPr>
          <p:cNvPr id="141" name="Text 121"/>
          <p:cNvSpPr txBox="1"/>
          <p:nvPr/>
        </p:nvSpPr>
        <p:spPr>
          <a:xfrm>
            <a:off x="12024360" y="4315968"/>
            <a:ext cx="1252728" cy="1124712"/>
          </a:xfrm>
          <a:prstGeom prst="rect">
            <a:avLst/>
          </a:prstGeom>
          <a:noFill/>
          <a:ln/>
        </p:spPr>
        <p:txBody>
          <a:bodyPr wrap="square" lIns="0" tIns="0" rIns="0" bIns="0" rtlCol="0" anchor="t"/>
          <a:lstStyle/>
          <a:p>
            <a:pPr indent="0" marL="0">
              <a:spcAft>
                <a:spcPts val="100"/>
              </a:spcAft>
              <a:buNone/>
            </a:pPr>
            <a:r>
              <a:rPr lang="en-US" sz="1000" dirty="0">
                <a:solidFill>
                  <a:srgbClr val="5F666D"/>
                </a:solidFill>
              </a:rPr>
              <a:t>Track metrics:</a:t>
            </a:r>
            <a:endParaRPr lang="en-US" sz="1000" dirty="0"/>
          </a:p>
          <a:p>
            <a:pPr marL="127000" indent="-127000">
              <a:spcAft>
                <a:spcPts val="100"/>
              </a:spcAft>
              <a:buSzPct val="100000"/>
              <a:buChar char="•"/>
            </a:pPr>
            <a:r>
              <a:rPr lang="en-US" sz="1000" dirty="0">
                <a:solidFill>
                  <a:srgbClr val="5F666D"/>
                </a:solidFill>
              </a:rPr>
              <a:t>Files purged</a:t>
            </a:r>
            <a:endParaRPr lang="en-US" sz="1000" dirty="0"/>
          </a:p>
          <a:p>
            <a:pPr marL="127000" indent="-127000">
              <a:spcAft>
                <a:spcPts val="100"/>
              </a:spcAft>
              <a:buSzPct val="100000"/>
              <a:buChar char="•"/>
            </a:pPr>
            <a:r>
              <a:rPr lang="en-US" sz="1000" dirty="0">
                <a:solidFill>
                  <a:srgbClr val="5F666D"/>
                </a:solidFill>
              </a:rPr>
              <a:t>Storage reclaimed</a:t>
            </a:r>
            <a:endParaRPr lang="en-US" sz="1000" dirty="0"/>
          </a:p>
          <a:p>
            <a:pPr marL="127000" indent="-127000">
              <a:spcAft>
                <a:spcPts val="100"/>
              </a:spcAft>
              <a:buSzPct val="100000"/>
              <a:buChar char="•"/>
            </a:pPr>
            <a:r>
              <a:rPr lang="en-US" sz="1000" dirty="0">
                <a:solidFill>
                  <a:srgbClr val="5F666D"/>
                </a:solidFill>
              </a:rPr>
              <a:t>Risk reduction</a:t>
            </a:r>
            <a:endParaRPr lang="en-US" sz="1000" dirty="0"/>
          </a:p>
          <a:p>
            <a:pPr marL="127000" indent="-127000">
              <a:spcAft>
                <a:spcPts val="100"/>
              </a:spcAft>
              <a:buSzPct val="100000"/>
              <a:buChar char="•"/>
            </a:pPr>
            <a:r>
              <a:rPr lang="en-US" sz="1000" dirty="0">
                <a:solidFill>
                  <a:srgbClr val="5F666D"/>
                </a:solidFill>
              </a:rPr>
              <a:t>Audit evidence</a:t>
            </a:r>
            <a:endParaRPr lang="en-US" sz="1000" dirty="0"/>
          </a:p>
        </p:txBody>
      </p:sp>
      <p:sp>
        <p:nvSpPr>
          <p:cNvPr id="142" name="Shape 122"/>
          <p:cNvSpPr/>
          <p:nvPr/>
        </p:nvSpPr>
        <p:spPr>
          <a:xfrm>
            <a:off x="11932920" y="5715000"/>
            <a:ext cx="1417320" cy="1417320"/>
          </a:xfrm>
          <a:prstGeom prst="roundRect">
            <a:avLst>
              <a:gd name="adj" fmla="val 4516"/>
            </a:avLst>
          </a:prstGeom>
          <a:solidFill>
            <a:srgbClr val="E2F2DA"/>
          </a:solidFill>
          <a:ln w="12700">
            <a:solidFill>
              <a:srgbClr val="86BF72"/>
            </a:solidFill>
            <a:prstDash val="solid"/>
          </a:ln>
          <a:effectLst>
            <a:outerShdw sx="100000" sy="100000" kx="0" ky="0" algn="bl" rotWithShape="0" blurRad="76200" dist="19050" dir="5400000">
              <a:srgbClr val="000000">
                <a:alpha val="10000"/>
              </a:srgbClr>
            </a:outerShdw>
          </a:effectLst>
        </p:spPr>
      </p:sp>
      <p:pic>
        <p:nvPicPr>
          <p:cNvPr id="143" name="Image 18" descr="preencoded.png">    </p:cNvPr>
          <p:cNvPicPr>
            <a:picLocks noChangeAspect="1"/>
          </p:cNvPicPr>
          <p:nvPr/>
        </p:nvPicPr>
        <p:blipFill>
          <a:blip r:embed="rId19"/>
          <a:stretch>
            <a:fillRect/>
          </a:stretch>
        </p:blipFill>
        <p:spPr>
          <a:xfrm>
            <a:off x="12024360" y="5824728"/>
            <a:ext cx="274320" cy="274320"/>
          </a:xfrm>
          <a:prstGeom prst="rect">
            <a:avLst/>
          </a:prstGeom>
        </p:spPr>
      </p:pic>
      <p:sp>
        <p:nvSpPr>
          <p:cNvPr id="144" name="Text 123"/>
          <p:cNvSpPr txBox="1"/>
          <p:nvPr/>
        </p:nvSpPr>
        <p:spPr>
          <a:xfrm>
            <a:off x="12390120" y="5779008"/>
            <a:ext cx="886968" cy="402336"/>
          </a:xfrm>
          <a:prstGeom prst="rect">
            <a:avLst/>
          </a:prstGeom>
          <a:noFill/>
          <a:ln/>
        </p:spPr>
        <p:txBody>
          <a:bodyPr wrap="square" lIns="0" tIns="0" rIns="0" bIns="0" rtlCol="0" anchor="ctr"/>
          <a:lstStyle/>
          <a:p>
            <a:pPr indent="0" marL="0">
              <a:buNone/>
            </a:pPr>
            <a:r>
              <a:rPr lang="en-US" sz="1100" b="1" dirty="0">
                <a:solidFill>
                  <a:srgbClr val="33383D"/>
                </a:solidFill>
              </a:rPr>
              <a:t>Close workflow</a:t>
            </a:r>
            <a:endParaRPr lang="en-US" sz="1100" dirty="0"/>
          </a:p>
        </p:txBody>
      </p:sp>
      <p:sp>
        <p:nvSpPr>
          <p:cNvPr id="145" name="Text 124"/>
          <p:cNvSpPr txBox="1"/>
          <p:nvPr/>
        </p:nvSpPr>
        <p:spPr>
          <a:xfrm>
            <a:off x="12024360" y="6236208"/>
            <a:ext cx="1252728" cy="850392"/>
          </a:xfrm>
          <a:prstGeom prst="rect">
            <a:avLst/>
          </a:prstGeom>
          <a:noFill/>
          <a:ln/>
        </p:spPr>
        <p:txBody>
          <a:bodyPr wrap="square" lIns="0" tIns="0" rIns="0" bIns="0" rtlCol="0" anchor="t"/>
          <a:lstStyle/>
          <a:p>
            <a:pPr indent="0" marL="0">
              <a:buNone/>
            </a:pPr>
            <a:r>
              <a:rPr lang="en-US" sz="1000" dirty="0">
                <a:solidFill>
                  <a:srgbClr val="5F666D"/>
                </a:solidFill>
              </a:rPr>
              <a:t>Mark validation complete. Retain audit logs for compliance (e.g., FINRA, SOX).</a:t>
            </a:r>
            <a:endParaRPr lang="en-US" sz="1000" dirty="0"/>
          </a:p>
        </p:txBody>
      </p:sp>
      <p:sp>
        <p:nvSpPr>
          <p:cNvPr id="146" name="Shape 125"/>
          <p:cNvSpPr/>
          <p:nvPr/>
        </p:nvSpPr>
        <p:spPr>
          <a:xfrm>
            <a:off x="12641580" y="3566160"/>
            <a:ext cx="9144" cy="228600"/>
          </a:xfrm>
          <a:custGeom>
            <a:avLst/>
            <a:gdLst/>
            <a:ahLst/>
            <a:cxnLst/>
            <a:rect l="l" t="t" r="r" b="b"/>
            <a:pathLst>
              <a:path w="9144" h="228600">
                <a:moveTo>
                  <a:pt x="0" y="0"/>
                </a:moveTo>
                <a:lnTo>
                  <a:pt x="0" y="228600"/>
                </a:lnTo>
              </a:path>
            </a:pathLst>
          </a:custGeom>
          <a:noFill/>
          <a:ln w="19050">
            <a:solidFill>
              <a:srgbClr val="4A5056"/>
            </a:solidFill>
            <a:prstDash val="solid"/>
            <a:tailEnd type="triangle"/>
          </a:ln>
        </p:spPr>
      </p:sp>
      <p:sp>
        <p:nvSpPr>
          <p:cNvPr id="147" name="Shape 126"/>
          <p:cNvSpPr/>
          <p:nvPr/>
        </p:nvSpPr>
        <p:spPr>
          <a:xfrm>
            <a:off x="12641580" y="5486400"/>
            <a:ext cx="9144" cy="228600"/>
          </a:xfrm>
          <a:custGeom>
            <a:avLst/>
            <a:gdLst/>
            <a:ahLst/>
            <a:cxnLst/>
            <a:rect l="l" t="t" r="r" b="b"/>
            <a:pathLst>
              <a:path w="9144" h="228600">
                <a:moveTo>
                  <a:pt x="0" y="0"/>
                </a:moveTo>
                <a:lnTo>
                  <a:pt x="0" y="228600"/>
                </a:lnTo>
              </a:path>
            </a:pathLst>
          </a:custGeom>
          <a:noFill/>
          <a:ln w="19050">
            <a:solidFill>
              <a:srgbClr val="4A5056"/>
            </a:solidFill>
            <a:prstDash val="solid"/>
            <a:tailEnd type="triangle"/>
          </a:ln>
        </p:spPr>
      </p:sp>
      <p:sp>
        <p:nvSpPr>
          <p:cNvPr id="148" name="Shape 127"/>
          <p:cNvSpPr/>
          <p:nvPr/>
        </p:nvSpPr>
        <p:spPr>
          <a:xfrm>
            <a:off x="11548872" y="2862072"/>
            <a:ext cx="384048" cy="3557016"/>
          </a:xfrm>
          <a:custGeom>
            <a:avLst/>
            <a:gdLst/>
            <a:ahLst/>
            <a:cxnLst/>
            <a:rect l="l" t="t" r="r" b="b"/>
            <a:pathLst>
              <a:path w="384048" h="3557016">
                <a:moveTo>
                  <a:pt x="0" y="3557016"/>
                </a:moveTo>
                <a:lnTo>
                  <a:pt x="192024" y="3557016"/>
                </a:lnTo>
                <a:lnTo>
                  <a:pt x="192024" y="0"/>
                </a:lnTo>
                <a:lnTo>
                  <a:pt x="384048" y="0"/>
                </a:lnTo>
              </a:path>
            </a:pathLst>
          </a:custGeom>
          <a:noFill/>
          <a:ln w="19050">
            <a:solidFill>
              <a:srgbClr val="4A5056"/>
            </a:solidFill>
            <a:prstDash val="solid"/>
            <a:tailEnd type="triangle"/>
          </a:ln>
        </p:spPr>
      </p:sp>
      <p:sp>
        <p:nvSpPr>
          <p:cNvPr id="149" name="Shape 128"/>
          <p:cNvSpPr/>
          <p:nvPr/>
        </p:nvSpPr>
        <p:spPr>
          <a:xfrm>
            <a:off x="1188720" y="7178040"/>
            <a:ext cx="11452860" cy="301752"/>
          </a:xfrm>
          <a:custGeom>
            <a:avLst/>
            <a:gdLst/>
            <a:ahLst/>
            <a:cxnLst/>
            <a:rect l="l" t="t" r="r" b="b"/>
            <a:pathLst>
              <a:path w="11452860" h="301752">
                <a:moveTo>
                  <a:pt x="11452860" y="0"/>
                </a:moveTo>
                <a:lnTo>
                  <a:pt x="11452860" y="301752"/>
                </a:lnTo>
                <a:lnTo>
                  <a:pt x="0" y="301752"/>
                </a:lnTo>
                <a:lnTo>
                  <a:pt x="0" y="0"/>
                </a:lnTo>
              </a:path>
            </a:pathLst>
          </a:custGeom>
          <a:noFill/>
          <a:ln w="19050">
            <a:solidFill>
              <a:srgbClr val="3F7F2E"/>
            </a:solidFill>
            <a:prstDash val="solid"/>
            <a:tailEnd type="triangle"/>
          </a:ln>
        </p:spPr>
      </p:sp>
      <p:sp>
        <p:nvSpPr>
          <p:cNvPr id="150" name="Shape 129"/>
          <p:cNvSpPr/>
          <p:nvPr/>
        </p:nvSpPr>
        <p:spPr>
          <a:xfrm>
            <a:off x="5669280" y="7306056"/>
            <a:ext cx="2377440" cy="347472"/>
          </a:xfrm>
          <a:prstGeom prst="roundRect">
            <a:avLst>
              <a:gd name="adj" fmla="val 50000"/>
            </a:avLst>
          </a:prstGeom>
          <a:solidFill>
            <a:srgbClr val="C3E6B4"/>
          </a:solidFill>
          <a:ln w="12700">
            <a:solidFill>
              <a:srgbClr val="3F7F2E"/>
            </a:solidFill>
            <a:prstDash val="solid"/>
          </a:ln>
        </p:spPr>
      </p:sp>
      <p:pic>
        <p:nvPicPr>
          <p:cNvPr id="151" name="Image 19" descr="preencoded.png">    </p:cNvPr>
          <p:cNvPicPr>
            <a:picLocks noChangeAspect="1"/>
          </p:cNvPicPr>
          <p:nvPr/>
        </p:nvPicPr>
        <p:blipFill>
          <a:blip r:embed="rId20"/>
          <a:stretch>
            <a:fillRect/>
          </a:stretch>
        </p:blipFill>
        <p:spPr>
          <a:xfrm>
            <a:off x="5806440" y="7388352"/>
            <a:ext cx="182880" cy="182880"/>
          </a:xfrm>
          <a:prstGeom prst="rect">
            <a:avLst/>
          </a:prstGeom>
        </p:spPr>
      </p:pic>
      <p:sp>
        <p:nvSpPr>
          <p:cNvPr id="152" name="Text 130"/>
          <p:cNvSpPr txBox="1"/>
          <p:nvPr/>
        </p:nvSpPr>
        <p:spPr>
          <a:xfrm>
            <a:off x="6035040" y="7306056"/>
            <a:ext cx="1920240" cy="347472"/>
          </a:xfrm>
          <a:prstGeom prst="rect">
            <a:avLst/>
          </a:prstGeom>
          <a:noFill/>
          <a:ln/>
        </p:spPr>
        <p:txBody>
          <a:bodyPr wrap="square" lIns="0" tIns="0" rIns="0" bIns="0" rtlCol="0" anchor="ctr"/>
          <a:lstStyle/>
          <a:p>
            <a:pPr indent="0" marL="0">
              <a:buNone/>
            </a:pPr>
            <a:r>
              <a:rPr lang="en-US" sz="1200" b="1" dirty="0">
                <a:solidFill>
                  <a:srgbClr val="33383D"/>
                </a:solidFill>
              </a:rPr>
              <a:t>Continuous Improvement</a:t>
            </a:r>
            <a:endParaRPr lang="en-US" sz="1200" dirty="0"/>
          </a:p>
        </p:txBody>
      </p:sp>
      <p:sp>
        <p:nvSpPr>
          <p:cNvPr id="153" name="Text 131"/>
          <p:cNvSpPr txBox="1"/>
          <p:nvPr/>
        </p:nvSpPr>
        <p:spPr>
          <a:xfrm>
            <a:off x="2286000" y="7699248"/>
            <a:ext cx="9144000" cy="228600"/>
          </a:xfrm>
          <a:prstGeom prst="rect">
            <a:avLst/>
          </a:prstGeom>
          <a:noFill/>
          <a:ln/>
        </p:spPr>
        <p:txBody>
          <a:bodyPr wrap="square" lIns="0" tIns="0" rIns="0" bIns="0" rtlCol="0" anchor="ctr"/>
          <a:lstStyle/>
          <a:p>
            <a:pPr algn="ctr" indent="0" marL="0">
              <a:buNone/>
            </a:pPr>
            <a:r>
              <a:rPr lang="en-US" sz="1000" i="1" dirty="0">
                <a:solidFill>
                  <a:srgbClr val="5F666D"/>
                </a:solidFill>
              </a:rPr>
              <a:t>Feed learnings back into classification and retention policies to improve accuracy over time</a:t>
            </a:r>
            <a:endParaRPr lang="en-US" sz="1000" dirty="0"/>
          </a:p>
        </p:txBody>
      </p:sp>
      <p:sp>
        <p:nvSpPr>
          <p:cNvPr id="154" name="Shape 132"/>
          <p:cNvSpPr/>
          <p:nvPr/>
        </p:nvSpPr>
        <p:spPr>
          <a:xfrm>
            <a:off x="274320" y="8028432"/>
            <a:ext cx="13167360" cy="457200"/>
          </a:xfrm>
          <a:prstGeom prst="roundRect">
            <a:avLst>
              <a:gd name="adj" fmla="val 16000"/>
            </a:avLst>
          </a:prstGeom>
          <a:solidFill>
            <a:srgbClr val="FFFFFF"/>
          </a:solidFill>
          <a:ln w="9525">
            <a:solidFill>
              <a:srgbClr val="D3D6D9"/>
            </a:solidFill>
            <a:prstDash val="solid"/>
          </a:ln>
        </p:spPr>
      </p:sp>
      <p:sp>
        <p:nvSpPr>
          <p:cNvPr id="155" name="Text 133"/>
          <p:cNvSpPr txBox="1"/>
          <p:nvPr/>
        </p:nvSpPr>
        <p:spPr>
          <a:xfrm>
            <a:off x="411480" y="8028432"/>
            <a:ext cx="1371600" cy="457200"/>
          </a:xfrm>
          <a:prstGeom prst="rect">
            <a:avLst/>
          </a:prstGeom>
          <a:noFill/>
          <a:ln/>
        </p:spPr>
        <p:txBody>
          <a:bodyPr wrap="square" lIns="0" tIns="0" rIns="0" bIns="0" rtlCol="0" anchor="ctr"/>
          <a:lstStyle/>
          <a:p>
            <a:pPr indent="0" marL="0">
              <a:buNone/>
            </a:pPr>
            <a:r>
              <a:rPr lang="en-US" sz="1050" b="1" dirty="0">
                <a:solidFill>
                  <a:srgbClr val="33383D"/>
                </a:solidFill>
              </a:rPr>
              <a:t>Legend (status tags)</a:t>
            </a:r>
            <a:endParaRPr lang="en-US" sz="1050" dirty="0"/>
          </a:p>
        </p:txBody>
      </p:sp>
      <p:sp>
        <p:nvSpPr>
          <p:cNvPr id="156" name="Shape 134"/>
          <p:cNvSpPr/>
          <p:nvPr/>
        </p:nvSpPr>
        <p:spPr>
          <a:xfrm>
            <a:off x="1828800" y="8138160"/>
            <a:ext cx="237744" cy="237744"/>
          </a:xfrm>
          <a:prstGeom prst="roundRect">
            <a:avLst>
              <a:gd name="adj" fmla="val 15385"/>
            </a:avLst>
          </a:prstGeom>
          <a:solidFill>
            <a:srgbClr val="FFFFFF"/>
          </a:solidFill>
          <a:ln w="9525">
            <a:solidFill>
              <a:srgbClr val="9AA0A6"/>
            </a:solidFill>
            <a:prstDash val="solid"/>
          </a:ln>
        </p:spPr>
      </p:sp>
      <p:sp>
        <p:nvSpPr>
          <p:cNvPr id="157" name="Text 135"/>
          <p:cNvSpPr txBox="1"/>
          <p:nvPr/>
        </p:nvSpPr>
        <p:spPr>
          <a:xfrm>
            <a:off x="2121408"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Scan candidate</a:t>
            </a:r>
            <a:endParaRPr lang="en-US" sz="1000" dirty="0"/>
          </a:p>
          <a:p>
            <a:pPr indent="0" marL="0">
              <a:buNone/>
            </a:pPr>
            <a:r>
              <a:rPr lang="en-US" sz="850" dirty="0">
                <a:solidFill>
                  <a:srgbClr val="5F666D"/>
                </a:solidFill>
              </a:rPr>
              <a:t>Identified by BigID</a:t>
            </a:r>
            <a:endParaRPr lang="en-US" sz="1000" dirty="0"/>
          </a:p>
        </p:txBody>
      </p:sp>
      <p:sp>
        <p:nvSpPr>
          <p:cNvPr id="158" name="Shape 136"/>
          <p:cNvSpPr/>
          <p:nvPr/>
        </p:nvSpPr>
        <p:spPr>
          <a:xfrm>
            <a:off x="3278124" y="8138160"/>
            <a:ext cx="237744" cy="237744"/>
          </a:xfrm>
          <a:prstGeom prst="roundRect">
            <a:avLst>
              <a:gd name="adj" fmla="val 15385"/>
            </a:avLst>
          </a:prstGeom>
          <a:solidFill>
            <a:srgbClr val="E2F2DA"/>
          </a:solidFill>
          <a:ln w="9525">
            <a:solidFill>
              <a:srgbClr val="9AA0A6"/>
            </a:solidFill>
            <a:prstDash val="solid"/>
          </a:ln>
        </p:spPr>
      </p:sp>
      <p:sp>
        <p:nvSpPr>
          <p:cNvPr id="159" name="Text 137"/>
          <p:cNvSpPr txBox="1"/>
          <p:nvPr/>
        </p:nvSpPr>
        <p:spPr>
          <a:xfrm>
            <a:off x="3570732"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Validated</a:t>
            </a:r>
            <a:endParaRPr lang="en-US" sz="1000" dirty="0"/>
          </a:p>
          <a:p>
            <a:pPr indent="0" marL="0">
              <a:buNone/>
            </a:pPr>
            <a:r>
              <a:rPr lang="en-US" sz="850" dirty="0">
                <a:solidFill>
                  <a:srgbClr val="5F666D"/>
                </a:solidFill>
              </a:rPr>
              <a:t>Metadata confirmed</a:t>
            </a:r>
            <a:endParaRPr lang="en-US" sz="1000" dirty="0"/>
          </a:p>
        </p:txBody>
      </p:sp>
      <p:sp>
        <p:nvSpPr>
          <p:cNvPr id="160" name="Shape 138"/>
          <p:cNvSpPr/>
          <p:nvPr/>
        </p:nvSpPr>
        <p:spPr>
          <a:xfrm>
            <a:off x="4727448" y="8138160"/>
            <a:ext cx="237744" cy="237744"/>
          </a:xfrm>
          <a:prstGeom prst="roundRect">
            <a:avLst>
              <a:gd name="adj" fmla="val 15385"/>
            </a:avLst>
          </a:prstGeom>
          <a:solidFill>
            <a:srgbClr val="FFEFC0"/>
          </a:solidFill>
          <a:ln w="9525">
            <a:solidFill>
              <a:srgbClr val="9AA0A6"/>
            </a:solidFill>
            <a:prstDash val="solid"/>
          </a:ln>
        </p:spPr>
      </p:sp>
      <p:sp>
        <p:nvSpPr>
          <p:cNvPr id="161" name="Text 139"/>
          <p:cNvSpPr txBox="1"/>
          <p:nvPr/>
        </p:nvSpPr>
        <p:spPr>
          <a:xfrm>
            <a:off x="5020056"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Business review</a:t>
            </a:r>
            <a:endParaRPr lang="en-US" sz="1000" dirty="0"/>
          </a:p>
          <a:p>
            <a:pPr indent="0" marL="0">
              <a:buNone/>
            </a:pPr>
            <a:r>
              <a:rPr lang="en-US" sz="850" dirty="0">
                <a:solidFill>
                  <a:srgbClr val="5F666D"/>
                </a:solidFill>
              </a:rPr>
              <a:t>Needs owner input</a:t>
            </a:r>
            <a:endParaRPr lang="en-US" sz="1000" dirty="0"/>
          </a:p>
        </p:txBody>
      </p:sp>
      <p:sp>
        <p:nvSpPr>
          <p:cNvPr id="162" name="Shape 140"/>
          <p:cNvSpPr/>
          <p:nvPr/>
        </p:nvSpPr>
        <p:spPr>
          <a:xfrm>
            <a:off x="6176772" y="8138160"/>
            <a:ext cx="237744" cy="237744"/>
          </a:xfrm>
          <a:prstGeom prst="roundRect">
            <a:avLst>
              <a:gd name="adj" fmla="val 15385"/>
            </a:avLst>
          </a:prstGeom>
          <a:solidFill>
            <a:srgbClr val="FFC72C"/>
          </a:solidFill>
          <a:ln w="9525">
            <a:solidFill>
              <a:srgbClr val="9AA0A6"/>
            </a:solidFill>
            <a:prstDash val="solid"/>
          </a:ln>
        </p:spPr>
      </p:sp>
      <p:sp>
        <p:nvSpPr>
          <p:cNvPr id="163" name="Text 141"/>
          <p:cNvSpPr txBox="1"/>
          <p:nvPr/>
        </p:nvSpPr>
        <p:spPr>
          <a:xfrm>
            <a:off x="6469380"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Legal hold</a:t>
            </a:r>
            <a:endParaRPr lang="en-US" sz="1000" dirty="0"/>
          </a:p>
          <a:p>
            <a:pPr indent="0" marL="0">
              <a:buNone/>
            </a:pPr>
            <a:r>
              <a:rPr lang="en-US" sz="850" dirty="0">
                <a:solidFill>
                  <a:srgbClr val="5F666D"/>
                </a:solidFill>
              </a:rPr>
              <a:t>Excluded from purge</a:t>
            </a:r>
            <a:endParaRPr lang="en-US" sz="1000" dirty="0"/>
          </a:p>
        </p:txBody>
      </p:sp>
      <p:sp>
        <p:nvSpPr>
          <p:cNvPr id="164" name="Shape 142"/>
          <p:cNvSpPr/>
          <p:nvPr/>
        </p:nvSpPr>
        <p:spPr>
          <a:xfrm>
            <a:off x="7626096" y="8138160"/>
            <a:ext cx="237744" cy="237744"/>
          </a:xfrm>
          <a:prstGeom prst="roundRect">
            <a:avLst>
              <a:gd name="adj" fmla="val 15385"/>
            </a:avLst>
          </a:prstGeom>
          <a:solidFill>
            <a:srgbClr val="C3E6B4"/>
          </a:solidFill>
          <a:ln w="9525">
            <a:solidFill>
              <a:srgbClr val="9AA0A6"/>
            </a:solidFill>
            <a:prstDash val="solid"/>
          </a:ln>
        </p:spPr>
      </p:sp>
      <p:sp>
        <p:nvSpPr>
          <p:cNvPr id="165" name="Text 143"/>
          <p:cNvSpPr txBox="1"/>
          <p:nvPr/>
        </p:nvSpPr>
        <p:spPr>
          <a:xfrm>
            <a:off x="7918704"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Approved</a:t>
            </a:r>
            <a:endParaRPr lang="en-US" sz="1000" dirty="0"/>
          </a:p>
          <a:p>
            <a:pPr indent="0" marL="0">
              <a:buNone/>
            </a:pPr>
            <a:r>
              <a:rPr lang="en-US" sz="850" dirty="0">
                <a:solidFill>
                  <a:srgbClr val="5F666D"/>
                </a:solidFill>
              </a:rPr>
              <a:t>Ready for deletion</a:t>
            </a:r>
            <a:endParaRPr lang="en-US" sz="1000" dirty="0"/>
          </a:p>
        </p:txBody>
      </p:sp>
      <p:sp>
        <p:nvSpPr>
          <p:cNvPr id="166" name="Shape 144"/>
          <p:cNvSpPr/>
          <p:nvPr/>
        </p:nvSpPr>
        <p:spPr>
          <a:xfrm>
            <a:off x="9075420" y="8138160"/>
            <a:ext cx="237744" cy="237744"/>
          </a:xfrm>
          <a:prstGeom prst="roundRect">
            <a:avLst>
              <a:gd name="adj" fmla="val 15385"/>
            </a:avLst>
          </a:prstGeom>
          <a:solidFill>
            <a:srgbClr val="86BF72"/>
          </a:solidFill>
          <a:ln w="9525">
            <a:solidFill>
              <a:srgbClr val="9AA0A6"/>
            </a:solidFill>
            <a:prstDash val="solid"/>
          </a:ln>
        </p:spPr>
      </p:sp>
      <p:sp>
        <p:nvSpPr>
          <p:cNvPr id="167" name="Text 145"/>
          <p:cNvSpPr txBox="1"/>
          <p:nvPr/>
        </p:nvSpPr>
        <p:spPr>
          <a:xfrm>
            <a:off x="9368028"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Purged</a:t>
            </a:r>
            <a:endParaRPr lang="en-US" sz="1000" dirty="0"/>
          </a:p>
          <a:p>
            <a:pPr indent="0" marL="0">
              <a:buNone/>
            </a:pPr>
            <a:r>
              <a:rPr lang="en-US" sz="850" dirty="0">
                <a:solidFill>
                  <a:srgbClr val="5F666D"/>
                </a:solidFill>
              </a:rPr>
              <a:t>Deleted, tombstoned</a:t>
            </a:r>
            <a:endParaRPr lang="en-US" sz="1000" dirty="0"/>
          </a:p>
        </p:txBody>
      </p:sp>
      <p:sp>
        <p:nvSpPr>
          <p:cNvPr id="168" name="Shape 146"/>
          <p:cNvSpPr/>
          <p:nvPr/>
        </p:nvSpPr>
        <p:spPr>
          <a:xfrm>
            <a:off x="10524744" y="8138160"/>
            <a:ext cx="237744" cy="237744"/>
          </a:xfrm>
          <a:prstGeom prst="roundRect">
            <a:avLst>
              <a:gd name="adj" fmla="val 15385"/>
            </a:avLst>
          </a:prstGeom>
          <a:solidFill>
            <a:srgbClr val="B7BCC1"/>
          </a:solidFill>
          <a:ln w="9525">
            <a:solidFill>
              <a:srgbClr val="9AA0A6"/>
            </a:solidFill>
            <a:prstDash val="solid"/>
          </a:ln>
        </p:spPr>
      </p:sp>
      <p:sp>
        <p:nvSpPr>
          <p:cNvPr id="169" name="Text 147"/>
          <p:cNvSpPr txBox="1"/>
          <p:nvPr/>
        </p:nvSpPr>
        <p:spPr>
          <a:xfrm>
            <a:off x="10817352"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Archived</a:t>
            </a:r>
            <a:endParaRPr lang="en-US" sz="1000" dirty="0"/>
          </a:p>
          <a:p>
            <a:pPr indent="0" marL="0">
              <a:buNone/>
            </a:pPr>
            <a:r>
              <a:rPr lang="en-US" sz="850" dirty="0">
                <a:solidFill>
                  <a:srgbClr val="5F666D"/>
                </a:solidFill>
              </a:rPr>
              <a:t>Moved to archive</a:t>
            </a:r>
            <a:endParaRPr lang="en-US" sz="1000" dirty="0"/>
          </a:p>
        </p:txBody>
      </p:sp>
      <p:sp>
        <p:nvSpPr>
          <p:cNvPr id="170" name="Shape 148"/>
          <p:cNvSpPr/>
          <p:nvPr/>
        </p:nvSpPr>
        <p:spPr>
          <a:xfrm>
            <a:off x="11974068" y="8138160"/>
            <a:ext cx="237744" cy="237744"/>
          </a:xfrm>
          <a:prstGeom prst="roundRect">
            <a:avLst>
              <a:gd name="adj" fmla="val 15385"/>
            </a:avLst>
          </a:prstGeom>
          <a:solidFill>
            <a:srgbClr val="E3E5E8"/>
          </a:solidFill>
          <a:ln w="9525">
            <a:solidFill>
              <a:srgbClr val="9AA0A6"/>
            </a:solidFill>
            <a:prstDash val="solid"/>
          </a:ln>
        </p:spPr>
      </p:sp>
      <p:sp>
        <p:nvSpPr>
          <p:cNvPr id="171" name="Text 149"/>
          <p:cNvSpPr txBox="1"/>
          <p:nvPr/>
        </p:nvSpPr>
        <p:spPr>
          <a:xfrm>
            <a:off x="12266676" y="8046720"/>
            <a:ext cx="1143000" cy="420624"/>
          </a:xfrm>
          <a:prstGeom prst="rect">
            <a:avLst/>
          </a:prstGeom>
          <a:noFill/>
          <a:ln/>
        </p:spPr>
        <p:txBody>
          <a:bodyPr wrap="square" lIns="0" tIns="0" rIns="0" bIns="0" rtlCol="0" anchor="ctr"/>
          <a:lstStyle/>
          <a:p>
            <a:pPr indent="0" marL="0">
              <a:buNone/>
            </a:pPr>
            <a:r>
              <a:rPr lang="en-US" sz="950" b="1" dirty="0">
                <a:solidFill>
                  <a:srgbClr val="33383D"/>
                </a:solidFill>
              </a:rPr>
              <a:t>Retained</a:t>
            </a:r>
            <a:endParaRPr lang="en-US" sz="1000" dirty="0"/>
          </a:p>
          <a:p>
            <a:pPr indent="0" marL="0">
              <a:buNone/>
            </a:pPr>
            <a:r>
              <a:rPr lang="en-US" sz="850" dirty="0">
                <a:solidFill>
                  <a:srgbClr val="5F666D"/>
                </a:solidFill>
              </a:rPr>
              <a:t>Kept in place</a:t>
            </a:r>
            <a:endParaRPr lang="en-US" sz="1000" dirty="0"/>
          </a:p>
        </p:txBody>
      </p:sp>
      <p:sp>
        <p:nvSpPr>
          <p:cNvPr id="172" name="Shape 150"/>
          <p:cNvSpPr/>
          <p:nvPr/>
        </p:nvSpPr>
        <p:spPr>
          <a:xfrm>
            <a:off x="274320" y="8558784"/>
            <a:ext cx="13167360" cy="457200"/>
          </a:xfrm>
          <a:prstGeom prst="roundRect">
            <a:avLst>
              <a:gd name="adj" fmla="val 16000"/>
            </a:avLst>
          </a:prstGeom>
          <a:solidFill>
            <a:srgbClr val="FFF7DE"/>
          </a:solidFill>
          <a:ln w="12700">
            <a:solidFill>
              <a:srgbClr val="FFF7DE"/>
            </a:solidFill>
            <a:prstDash val="solid"/>
          </a:ln>
        </p:spPr>
      </p:sp>
      <p:sp>
        <p:nvSpPr>
          <p:cNvPr id="173" name="Text 151"/>
          <p:cNvSpPr txBox="1"/>
          <p:nvPr/>
        </p:nvSpPr>
        <p:spPr>
          <a:xfrm>
            <a:off x="411480" y="8558784"/>
            <a:ext cx="1371600" cy="457200"/>
          </a:xfrm>
          <a:prstGeom prst="rect">
            <a:avLst/>
          </a:prstGeom>
          <a:noFill/>
          <a:ln/>
        </p:spPr>
        <p:txBody>
          <a:bodyPr wrap="square" lIns="0" tIns="0" rIns="0" bIns="0" rtlCol="0" anchor="ctr"/>
          <a:lstStyle/>
          <a:p>
            <a:pPr indent="0" marL="0">
              <a:buNone/>
            </a:pPr>
            <a:r>
              <a:rPr lang="en-US" sz="1050" b="1" dirty="0">
                <a:solidFill>
                  <a:srgbClr val="33383D"/>
                </a:solidFill>
              </a:rPr>
              <a:t>Key outcomes</a:t>
            </a:r>
            <a:endParaRPr lang="en-US" sz="1050" dirty="0"/>
          </a:p>
        </p:txBody>
      </p:sp>
      <p:pic>
        <p:nvPicPr>
          <p:cNvPr id="174" name="Image 20" descr="preencoded.png">    </p:cNvPr>
          <p:cNvPicPr>
            <a:picLocks noChangeAspect="1"/>
          </p:cNvPicPr>
          <p:nvPr/>
        </p:nvPicPr>
        <p:blipFill>
          <a:blip r:embed="rId21"/>
          <a:stretch>
            <a:fillRect/>
          </a:stretch>
        </p:blipFill>
        <p:spPr>
          <a:xfrm>
            <a:off x="1828800" y="8659368"/>
            <a:ext cx="256032" cy="256032"/>
          </a:xfrm>
          <a:prstGeom prst="rect">
            <a:avLst/>
          </a:prstGeom>
        </p:spPr>
      </p:pic>
      <p:sp>
        <p:nvSpPr>
          <p:cNvPr id="175" name="Text 152"/>
          <p:cNvSpPr txBox="1"/>
          <p:nvPr/>
        </p:nvSpPr>
        <p:spPr>
          <a:xfrm>
            <a:off x="2157984" y="8558784"/>
            <a:ext cx="1554480" cy="457200"/>
          </a:xfrm>
          <a:prstGeom prst="rect">
            <a:avLst/>
          </a:prstGeom>
          <a:noFill/>
          <a:ln/>
        </p:spPr>
        <p:txBody>
          <a:bodyPr wrap="square" lIns="0" tIns="0" rIns="0" bIns="0" rtlCol="0" anchor="ctr"/>
          <a:lstStyle/>
          <a:p>
            <a:pPr indent="0" marL="0">
              <a:buNone/>
            </a:pPr>
            <a:r>
              <a:rPr lang="en-US" sz="1000" dirty="0">
                <a:solidFill>
                  <a:srgbClr val="33383D"/>
                </a:solidFill>
              </a:rPr>
              <a:t>Compliant, defensible deletion</a:t>
            </a:r>
            <a:endParaRPr lang="en-US" sz="1000" dirty="0"/>
          </a:p>
        </p:txBody>
      </p:sp>
      <p:pic>
        <p:nvPicPr>
          <p:cNvPr id="176" name="Image 21" descr="preencoded.png">    </p:cNvPr>
          <p:cNvPicPr>
            <a:picLocks noChangeAspect="1"/>
          </p:cNvPicPr>
          <p:nvPr/>
        </p:nvPicPr>
        <p:blipFill>
          <a:blip r:embed="rId22"/>
          <a:stretch>
            <a:fillRect/>
          </a:stretch>
        </p:blipFill>
        <p:spPr>
          <a:xfrm>
            <a:off x="3767328" y="8659368"/>
            <a:ext cx="256032" cy="256032"/>
          </a:xfrm>
          <a:prstGeom prst="rect">
            <a:avLst/>
          </a:prstGeom>
        </p:spPr>
      </p:pic>
      <p:sp>
        <p:nvSpPr>
          <p:cNvPr id="177" name="Text 153"/>
          <p:cNvSpPr txBox="1"/>
          <p:nvPr/>
        </p:nvSpPr>
        <p:spPr>
          <a:xfrm>
            <a:off x="4096512" y="8558784"/>
            <a:ext cx="1554480" cy="457200"/>
          </a:xfrm>
          <a:prstGeom prst="rect">
            <a:avLst/>
          </a:prstGeom>
          <a:noFill/>
          <a:ln/>
        </p:spPr>
        <p:txBody>
          <a:bodyPr wrap="square" lIns="0" tIns="0" rIns="0" bIns="0" rtlCol="0" anchor="ctr"/>
          <a:lstStyle/>
          <a:p>
            <a:pPr indent="0" marL="0">
              <a:buNone/>
            </a:pPr>
            <a:r>
              <a:rPr lang="en-US" sz="1000" dirty="0">
                <a:solidFill>
                  <a:srgbClr val="33383D"/>
                </a:solidFill>
              </a:rPr>
              <a:t>Reduced storage costs</a:t>
            </a:r>
            <a:endParaRPr lang="en-US" sz="1000" dirty="0"/>
          </a:p>
        </p:txBody>
      </p:sp>
      <p:sp>
        <p:nvSpPr>
          <p:cNvPr id="178" name="Shape 154"/>
          <p:cNvSpPr/>
          <p:nvPr/>
        </p:nvSpPr>
        <p:spPr>
          <a:xfrm>
            <a:off x="3657600" y="8650224"/>
            <a:ext cx="0" cy="274320"/>
          </a:xfrm>
          <a:prstGeom prst="line">
            <a:avLst/>
          </a:prstGeom>
          <a:noFill/>
          <a:ln w="9525">
            <a:solidFill>
              <a:srgbClr val="D9C48A"/>
            </a:solidFill>
            <a:prstDash val="solid"/>
          </a:ln>
        </p:spPr>
      </p:sp>
      <p:pic>
        <p:nvPicPr>
          <p:cNvPr id="179" name="Image 22" descr="preencoded.png">    </p:cNvPr>
          <p:cNvPicPr>
            <a:picLocks noChangeAspect="1"/>
          </p:cNvPicPr>
          <p:nvPr/>
        </p:nvPicPr>
        <p:blipFill>
          <a:blip r:embed="rId23"/>
          <a:stretch>
            <a:fillRect/>
          </a:stretch>
        </p:blipFill>
        <p:spPr>
          <a:xfrm>
            <a:off x="5705856" y="8659368"/>
            <a:ext cx="256032" cy="256032"/>
          </a:xfrm>
          <a:prstGeom prst="rect">
            <a:avLst/>
          </a:prstGeom>
        </p:spPr>
      </p:pic>
      <p:sp>
        <p:nvSpPr>
          <p:cNvPr id="180" name="Text 155"/>
          <p:cNvSpPr txBox="1"/>
          <p:nvPr/>
        </p:nvSpPr>
        <p:spPr>
          <a:xfrm>
            <a:off x="6035040" y="8558784"/>
            <a:ext cx="1554480" cy="457200"/>
          </a:xfrm>
          <a:prstGeom prst="rect">
            <a:avLst/>
          </a:prstGeom>
          <a:noFill/>
          <a:ln/>
        </p:spPr>
        <p:txBody>
          <a:bodyPr wrap="square" lIns="0" tIns="0" rIns="0" bIns="0" rtlCol="0" anchor="ctr"/>
          <a:lstStyle/>
          <a:p>
            <a:pPr indent="0" marL="0">
              <a:buNone/>
            </a:pPr>
            <a:r>
              <a:rPr lang="en-US" sz="1000" dirty="0">
                <a:solidFill>
                  <a:srgbClr val="33383D"/>
                </a:solidFill>
              </a:rPr>
              <a:t>Lower risk exposure</a:t>
            </a:r>
            <a:endParaRPr lang="en-US" sz="1000" dirty="0"/>
          </a:p>
        </p:txBody>
      </p:sp>
      <p:sp>
        <p:nvSpPr>
          <p:cNvPr id="181" name="Shape 156"/>
          <p:cNvSpPr/>
          <p:nvPr/>
        </p:nvSpPr>
        <p:spPr>
          <a:xfrm>
            <a:off x="5596128" y="8650224"/>
            <a:ext cx="0" cy="274320"/>
          </a:xfrm>
          <a:prstGeom prst="line">
            <a:avLst/>
          </a:prstGeom>
          <a:noFill/>
          <a:ln w="9525">
            <a:solidFill>
              <a:srgbClr val="D9C48A"/>
            </a:solidFill>
            <a:prstDash val="solid"/>
          </a:ln>
        </p:spPr>
      </p:sp>
      <p:pic>
        <p:nvPicPr>
          <p:cNvPr id="182" name="Image 23" descr="preencoded.png">    </p:cNvPr>
          <p:cNvPicPr>
            <a:picLocks noChangeAspect="1"/>
          </p:cNvPicPr>
          <p:nvPr/>
        </p:nvPicPr>
        <p:blipFill>
          <a:blip r:embed="rId24"/>
          <a:stretch>
            <a:fillRect/>
          </a:stretch>
        </p:blipFill>
        <p:spPr>
          <a:xfrm>
            <a:off x="7644384" y="8659368"/>
            <a:ext cx="256032" cy="256032"/>
          </a:xfrm>
          <a:prstGeom prst="rect">
            <a:avLst/>
          </a:prstGeom>
        </p:spPr>
      </p:pic>
      <p:sp>
        <p:nvSpPr>
          <p:cNvPr id="183" name="Text 157"/>
          <p:cNvSpPr txBox="1"/>
          <p:nvPr/>
        </p:nvSpPr>
        <p:spPr>
          <a:xfrm>
            <a:off x="7973568" y="8558784"/>
            <a:ext cx="1554480" cy="457200"/>
          </a:xfrm>
          <a:prstGeom prst="rect">
            <a:avLst/>
          </a:prstGeom>
          <a:noFill/>
          <a:ln/>
        </p:spPr>
        <p:txBody>
          <a:bodyPr wrap="square" lIns="0" tIns="0" rIns="0" bIns="0" rtlCol="0" anchor="ctr"/>
          <a:lstStyle/>
          <a:p>
            <a:pPr indent="0" marL="0">
              <a:buNone/>
            </a:pPr>
            <a:r>
              <a:rPr lang="en-US" sz="1000" dirty="0">
                <a:solidFill>
                  <a:srgbClr val="33383D"/>
                </a:solidFill>
              </a:rPr>
              <a:t>Full audit trail</a:t>
            </a:r>
            <a:endParaRPr lang="en-US" sz="1000" dirty="0"/>
          </a:p>
        </p:txBody>
      </p:sp>
      <p:sp>
        <p:nvSpPr>
          <p:cNvPr id="184" name="Shape 158"/>
          <p:cNvSpPr/>
          <p:nvPr/>
        </p:nvSpPr>
        <p:spPr>
          <a:xfrm>
            <a:off x="7534656" y="8650224"/>
            <a:ext cx="0" cy="274320"/>
          </a:xfrm>
          <a:prstGeom prst="line">
            <a:avLst/>
          </a:prstGeom>
          <a:noFill/>
          <a:ln w="9525">
            <a:solidFill>
              <a:srgbClr val="D9C48A"/>
            </a:solidFill>
            <a:prstDash val="solid"/>
          </a:ln>
        </p:spPr>
      </p:sp>
      <p:pic>
        <p:nvPicPr>
          <p:cNvPr id="185" name="Image 24" descr="preencoded.png">    </p:cNvPr>
          <p:cNvPicPr>
            <a:picLocks noChangeAspect="1"/>
          </p:cNvPicPr>
          <p:nvPr/>
        </p:nvPicPr>
        <p:blipFill>
          <a:blip r:embed="rId25"/>
          <a:stretch>
            <a:fillRect/>
          </a:stretch>
        </p:blipFill>
        <p:spPr>
          <a:xfrm>
            <a:off x="9582912" y="8659368"/>
            <a:ext cx="256032" cy="256032"/>
          </a:xfrm>
          <a:prstGeom prst="rect">
            <a:avLst/>
          </a:prstGeom>
        </p:spPr>
      </p:pic>
      <p:sp>
        <p:nvSpPr>
          <p:cNvPr id="186" name="Text 159"/>
          <p:cNvSpPr txBox="1"/>
          <p:nvPr/>
        </p:nvSpPr>
        <p:spPr>
          <a:xfrm>
            <a:off x="9912096" y="8558784"/>
            <a:ext cx="1554480" cy="457200"/>
          </a:xfrm>
          <a:prstGeom prst="rect">
            <a:avLst/>
          </a:prstGeom>
          <a:noFill/>
          <a:ln/>
        </p:spPr>
        <p:txBody>
          <a:bodyPr wrap="square" lIns="0" tIns="0" rIns="0" bIns="0" rtlCol="0" anchor="ctr"/>
          <a:lstStyle/>
          <a:p>
            <a:pPr indent="0" marL="0">
              <a:buNone/>
            </a:pPr>
            <a:r>
              <a:rPr lang="en-US" sz="1000" dirty="0">
                <a:solidFill>
                  <a:srgbClr val="33383D"/>
                </a:solidFill>
              </a:rPr>
              <a:t>Supports data minimization</a:t>
            </a:r>
            <a:endParaRPr lang="en-US" sz="1000" dirty="0"/>
          </a:p>
        </p:txBody>
      </p:sp>
      <p:sp>
        <p:nvSpPr>
          <p:cNvPr id="187" name="Shape 160"/>
          <p:cNvSpPr/>
          <p:nvPr/>
        </p:nvSpPr>
        <p:spPr>
          <a:xfrm>
            <a:off x="9473184" y="8650224"/>
            <a:ext cx="0" cy="274320"/>
          </a:xfrm>
          <a:prstGeom prst="line">
            <a:avLst/>
          </a:prstGeom>
          <a:noFill/>
          <a:ln w="9525">
            <a:solidFill>
              <a:srgbClr val="D9C48A"/>
            </a:solidFill>
            <a:prstDash val="solid"/>
          </a:ln>
        </p:spPr>
      </p:sp>
      <p:pic>
        <p:nvPicPr>
          <p:cNvPr id="188" name="Image 25" descr="preencoded.png">    </p:cNvPr>
          <p:cNvPicPr>
            <a:picLocks noChangeAspect="1"/>
          </p:cNvPicPr>
          <p:nvPr/>
        </p:nvPicPr>
        <p:blipFill>
          <a:blip r:embed="rId26"/>
          <a:stretch>
            <a:fillRect/>
          </a:stretch>
        </p:blipFill>
        <p:spPr>
          <a:xfrm>
            <a:off x="11521440" y="8659368"/>
            <a:ext cx="256032" cy="256032"/>
          </a:xfrm>
          <a:prstGeom prst="rect">
            <a:avLst/>
          </a:prstGeom>
        </p:spPr>
      </p:pic>
      <p:sp>
        <p:nvSpPr>
          <p:cNvPr id="189" name="Text 161"/>
          <p:cNvSpPr txBox="1"/>
          <p:nvPr/>
        </p:nvSpPr>
        <p:spPr>
          <a:xfrm>
            <a:off x="11850624" y="8558784"/>
            <a:ext cx="1554480" cy="457200"/>
          </a:xfrm>
          <a:prstGeom prst="rect">
            <a:avLst/>
          </a:prstGeom>
          <a:noFill/>
          <a:ln/>
        </p:spPr>
        <p:txBody>
          <a:bodyPr wrap="square" lIns="0" tIns="0" rIns="0" bIns="0" rtlCol="0" anchor="ctr"/>
          <a:lstStyle/>
          <a:p>
            <a:pPr indent="0" marL="0">
              <a:buNone/>
            </a:pPr>
            <a:r>
              <a:rPr lang="en-US" sz="1000" dirty="0">
                <a:solidFill>
                  <a:srgbClr val="33383D"/>
                </a:solidFill>
              </a:rPr>
              <a:t>Cleaner, higher-quality data for AI</a:t>
            </a:r>
            <a:endParaRPr lang="en-US" sz="1000" dirty="0"/>
          </a:p>
        </p:txBody>
      </p:sp>
      <p:sp>
        <p:nvSpPr>
          <p:cNvPr id="190" name="Shape 162"/>
          <p:cNvSpPr/>
          <p:nvPr/>
        </p:nvSpPr>
        <p:spPr>
          <a:xfrm>
            <a:off x="11411712" y="8650224"/>
            <a:ext cx="0" cy="274320"/>
          </a:xfrm>
          <a:prstGeom prst="line">
            <a:avLst/>
          </a:prstGeom>
          <a:noFill/>
          <a:ln w="9525">
            <a:solidFill>
              <a:srgbClr val="D9C48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2286000" y="201168"/>
            <a:ext cx="9144000" cy="548640"/>
          </a:xfrm>
          <a:prstGeom prst="rect">
            <a:avLst/>
          </a:prstGeom>
          <a:noFill/>
          <a:ln/>
        </p:spPr>
        <p:txBody>
          <a:bodyPr wrap="square" lIns="0" tIns="0" rIns="0" bIns="0" rtlCol="0" anchor="ctr"/>
          <a:lstStyle/>
          <a:p>
            <a:pPr algn="ctr" indent="0" marL="0">
              <a:buNone/>
            </a:pPr>
            <a:r>
              <a:rPr lang="en-US" sz="2800" b="1" dirty="0">
                <a:solidFill>
                  <a:srgbClr val="33383D"/>
                </a:solidFill>
              </a:rPr>
              <a:t>File Share Remediation Strategy</a:t>
            </a:r>
            <a:endParaRPr lang="en-US" sz="2800" dirty="0"/>
          </a:p>
        </p:txBody>
      </p:sp>
      <p:sp>
        <p:nvSpPr>
          <p:cNvPr id="3" name="Shape 1"/>
          <p:cNvSpPr/>
          <p:nvPr/>
        </p:nvSpPr>
        <p:spPr>
          <a:xfrm>
            <a:off x="274320" y="274320"/>
            <a:ext cx="1691640" cy="457200"/>
          </a:xfrm>
          <a:prstGeom prst="roundRect">
            <a:avLst>
              <a:gd name="adj" fmla="val 50000"/>
            </a:avLst>
          </a:prstGeom>
          <a:solidFill>
            <a:srgbClr val="FFC72C"/>
          </a:solidFill>
          <a:ln w="12700">
            <a:solidFill>
              <a:srgbClr val="FFC72C"/>
            </a:solidFill>
            <a:prstDash val="solid"/>
          </a:ln>
        </p:spPr>
      </p:sp>
      <p:pic>
        <p:nvPicPr>
          <p:cNvPr id="4" name="Image 0" descr="preencoded.png">    </p:cNvPr>
          <p:cNvPicPr>
            <a:picLocks noChangeAspect="1"/>
          </p:cNvPicPr>
          <p:nvPr/>
        </p:nvPicPr>
        <p:blipFill>
          <a:blip r:embed="rId1"/>
          <a:stretch>
            <a:fillRect/>
          </a:stretch>
        </p:blipFill>
        <p:spPr>
          <a:xfrm>
            <a:off x="411480" y="365760"/>
            <a:ext cx="274320" cy="274320"/>
          </a:xfrm>
          <a:prstGeom prst="rect">
            <a:avLst/>
          </a:prstGeom>
        </p:spPr>
      </p:pic>
      <p:sp>
        <p:nvSpPr>
          <p:cNvPr id="5" name="Text 2"/>
          <p:cNvSpPr txBox="1"/>
          <p:nvPr/>
        </p:nvSpPr>
        <p:spPr>
          <a:xfrm>
            <a:off x="749808" y="274320"/>
            <a:ext cx="1188720" cy="457200"/>
          </a:xfrm>
          <a:prstGeom prst="rect">
            <a:avLst/>
          </a:prstGeom>
          <a:noFill/>
          <a:ln/>
        </p:spPr>
        <p:txBody>
          <a:bodyPr wrap="square" lIns="0" tIns="0" rIns="0" bIns="0" rtlCol="0" anchor="ctr"/>
          <a:lstStyle/>
          <a:p>
            <a:pPr indent="0" marL="0">
              <a:buNone/>
            </a:pPr>
            <a:r>
              <a:rPr lang="en-US" sz="1100" b="1" spc="100" kern="0" dirty="0">
                <a:solidFill>
                  <a:srgbClr val="33383D"/>
                </a:solidFill>
              </a:rPr>
              <a:t>DRD PROGRAM</a:t>
            </a:r>
            <a:endParaRPr lang="en-US" sz="1100" dirty="0"/>
          </a:p>
        </p:txBody>
      </p:sp>
      <p:sp>
        <p:nvSpPr>
          <p:cNvPr id="6" name="Text 3"/>
          <p:cNvSpPr txBox="1"/>
          <p:nvPr/>
        </p:nvSpPr>
        <p:spPr>
          <a:xfrm>
            <a:off x="11612880" y="274320"/>
            <a:ext cx="1828800" cy="457200"/>
          </a:xfrm>
          <a:prstGeom prst="rect">
            <a:avLst/>
          </a:prstGeom>
          <a:noFill/>
          <a:ln/>
        </p:spPr>
        <p:txBody>
          <a:bodyPr wrap="square" lIns="0" tIns="0" rIns="0" bIns="0" rtlCol="0" anchor="ctr"/>
          <a:lstStyle/>
          <a:p>
            <a:pPr algn="r" indent="0" marL="0">
              <a:buNone/>
            </a:pPr>
            <a:r>
              <a:rPr lang="en-US" sz="1200" dirty="0">
                <a:solidFill>
                  <a:srgbClr val="5F666D"/>
                </a:solidFill>
              </a:rPr>
              <a:t>Platform: </a:t>
            </a:r>
            <a:pPr algn="r" indent="0" marL="0">
              <a:buNone/>
            </a:pPr>
            <a:r>
              <a:rPr lang="en-US" sz="1200" b="1" dirty="0">
                <a:solidFill>
                  <a:srgbClr val="33383D"/>
                </a:solidFill>
              </a:rPr>
              <a:t>BigID</a:t>
            </a:r>
            <a:endParaRPr lang="en-US" sz="1200" dirty="0"/>
          </a:p>
        </p:txBody>
      </p:sp>
      <p:sp>
        <p:nvSpPr>
          <p:cNvPr id="7" name="Text 4"/>
          <p:cNvSpPr txBox="1"/>
          <p:nvPr/>
        </p:nvSpPr>
        <p:spPr>
          <a:xfrm>
            <a:off x="1828800" y="804672"/>
            <a:ext cx="10058400" cy="320040"/>
          </a:xfrm>
          <a:prstGeom prst="rect">
            <a:avLst/>
          </a:prstGeom>
          <a:noFill/>
          <a:ln/>
        </p:spPr>
        <p:txBody>
          <a:bodyPr wrap="square" lIns="0" tIns="0" rIns="0" bIns="0" rtlCol="0" anchor="ctr"/>
          <a:lstStyle/>
          <a:p>
            <a:pPr algn="ctr" indent="0" marL="0">
              <a:buNone/>
            </a:pPr>
            <a:r>
              <a:rPr lang="en-US" sz="1400" i="1" dirty="0">
                <a:solidFill>
                  <a:srgbClr val="5F666D"/>
                </a:solidFill>
              </a:rPr>
              <a:t>How we will clean up file shares safely: the approach, who is involved, and what everyone needs to know</a:t>
            </a:r>
            <a:endParaRPr lang="en-US" sz="1400" dirty="0"/>
          </a:p>
        </p:txBody>
      </p:sp>
      <p:sp>
        <p:nvSpPr>
          <p:cNvPr id="8" name="Shape 5"/>
          <p:cNvSpPr/>
          <p:nvPr/>
        </p:nvSpPr>
        <p:spPr>
          <a:xfrm>
            <a:off x="274320" y="1371600"/>
            <a:ext cx="3931920" cy="6355080"/>
          </a:xfrm>
          <a:prstGeom prst="roundRect">
            <a:avLst>
              <a:gd name="adj" fmla="val 2326"/>
            </a:avLst>
          </a:prstGeom>
          <a:solidFill>
            <a:srgbClr val="FFF7DE"/>
          </a:solidFill>
          <a:ln w="12700">
            <a:solidFill>
              <a:srgbClr val="FFF7DE"/>
            </a:solidFill>
            <a:prstDash val="solid"/>
          </a:ln>
        </p:spPr>
      </p:sp>
      <p:sp>
        <p:nvSpPr>
          <p:cNvPr id="9" name="Shape 6"/>
          <p:cNvSpPr/>
          <p:nvPr/>
        </p:nvSpPr>
        <p:spPr>
          <a:xfrm>
            <a:off x="274320" y="1371600"/>
            <a:ext cx="3931920" cy="548640"/>
          </a:xfrm>
          <a:prstGeom prst="roundRect">
            <a:avLst>
              <a:gd name="adj" fmla="val 16667"/>
            </a:avLst>
          </a:prstGeom>
          <a:solidFill>
            <a:srgbClr val="FFD866"/>
          </a:solidFill>
          <a:ln w="12700">
            <a:solidFill>
              <a:srgbClr val="FFD866"/>
            </a:solidFill>
            <a:prstDash val="solid"/>
          </a:ln>
        </p:spPr>
      </p:sp>
      <p:pic>
        <p:nvPicPr>
          <p:cNvPr id="10" name="Image 1" descr="preencoded.png">    </p:cNvPr>
          <p:cNvPicPr>
            <a:picLocks noChangeAspect="1"/>
          </p:cNvPicPr>
          <p:nvPr/>
        </p:nvPicPr>
        <p:blipFill>
          <a:blip r:embed="rId2"/>
          <a:stretch>
            <a:fillRect/>
          </a:stretch>
        </p:blipFill>
        <p:spPr>
          <a:xfrm>
            <a:off x="438912" y="1508760"/>
            <a:ext cx="274320" cy="274320"/>
          </a:xfrm>
          <a:prstGeom prst="rect">
            <a:avLst/>
          </a:prstGeom>
        </p:spPr>
      </p:pic>
      <p:sp>
        <p:nvSpPr>
          <p:cNvPr id="11" name="Text 7"/>
          <p:cNvSpPr txBox="1"/>
          <p:nvPr/>
        </p:nvSpPr>
        <p:spPr>
          <a:xfrm>
            <a:off x="804672" y="1371600"/>
            <a:ext cx="3291840" cy="548640"/>
          </a:xfrm>
          <a:prstGeom prst="rect">
            <a:avLst/>
          </a:prstGeom>
          <a:noFill/>
          <a:ln/>
        </p:spPr>
        <p:txBody>
          <a:bodyPr wrap="square" lIns="0" tIns="0" rIns="0" bIns="0" rtlCol="0" anchor="ctr"/>
          <a:lstStyle/>
          <a:p>
            <a:pPr indent="0" marL="0">
              <a:buNone/>
            </a:pPr>
            <a:r>
              <a:rPr lang="en-US" sz="1500" b="1" dirty="0">
                <a:solidFill>
                  <a:srgbClr val="33383D"/>
                </a:solidFill>
              </a:rPr>
              <a:t>Our remediation approach</a:t>
            </a:r>
            <a:endParaRPr lang="en-US" sz="1500" dirty="0"/>
          </a:p>
        </p:txBody>
      </p:sp>
      <p:sp>
        <p:nvSpPr>
          <p:cNvPr id="12" name="Shape 8"/>
          <p:cNvSpPr/>
          <p:nvPr/>
        </p:nvSpPr>
        <p:spPr>
          <a:xfrm>
            <a:off x="685800" y="2331720"/>
            <a:ext cx="9144" cy="4160520"/>
          </a:xfrm>
          <a:custGeom>
            <a:avLst/>
            <a:gdLst/>
            <a:ahLst/>
            <a:cxnLst/>
            <a:rect l="l" t="t" r="r" b="b"/>
            <a:pathLst>
              <a:path w="9144" h="4160520">
                <a:moveTo>
                  <a:pt x="0" y="0"/>
                </a:moveTo>
                <a:lnTo>
                  <a:pt x="0" y="4160520"/>
                </a:lnTo>
              </a:path>
            </a:pathLst>
          </a:custGeom>
          <a:noFill/>
          <a:ln w="25400">
            <a:solidFill>
              <a:srgbClr val="E2C35A"/>
            </a:solidFill>
            <a:prstDash val="solid"/>
          </a:ln>
        </p:spPr>
      </p:sp>
      <p:sp>
        <p:nvSpPr>
          <p:cNvPr id="13" name="Shape 9"/>
          <p:cNvSpPr/>
          <p:nvPr/>
        </p:nvSpPr>
        <p:spPr>
          <a:xfrm>
            <a:off x="457200" y="2103120"/>
            <a:ext cx="457200" cy="457200"/>
          </a:xfrm>
          <a:prstGeom prst="ellipse">
            <a:avLst/>
          </a:prstGeom>
          <a:solidFill>
            <a:srgbClr val="FFC72C"/>
          </a:solidFill>
          <a:ln w="25400">
            <a:solidFill>
              <a:srgbClr val="FFFFFF"/>
            </a:solidFill>
            <a:prstDash val="solid"/>
          </a:ln>
        </p:spPr>
      </p:sp>
      <p:sp>
        <p:nvSpPr>
          <p:cNvPr id="14" name="Text 10"/>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500" b="1" dirty="0">
                <a:solidFill>
                  <a:srgbClr val="33383D"/>
                </a:solidFill>
              </a:rPr>
              <a:t>1</a:t>
            </a:r>
            <a:endParaRPr lang="en-US" sz="1500" dirty="0"/>
          </a:p>
        </p:txBody>
      </p:sp>
      <p:sp>
        <p:nvSpPr>
          <p:cNvPr id="15" name="Text 11"/>
          <p:cNvSpPr txBox="1"/>
          <p:nvPr/>
        </p:nvSpPr>
        <p:spPr>
          <a:xfrm>
            <a:off x="1051560" y="2075688"/>
            <a:ext cx="3017520" cy="1005840"/>
          </a:xfrm>
          <a:prstGeom prst="rect">
            <a:avLst/>
          </a:prstGeom>
          <a:noFill/>
          <a:ln/>
        </p:spPr>
        <p:txBody>
          <a:bodyPr wrap="square" lIns="0" tIns="0" rIns="0" bIns="0" rtlCol="0" anchor="t"/>
          <a:lstStyle/>
          <a:p>
            <a:pPr indent="0" marL="0">
              <a:buNone/>
            </a:pPr>
            <a:r>
              <a:rPr lang="en-US" sz="1300" b="1" dirty="0">
                <a:solidFill>
                  <a:srgbClr val="33383D"/>
                </a:solidFill>
              </a:rPr>
              <a:t>Prioritize</a:t>
            </a:r>
            <a:endParaRPr lang="en-US" sz="1000" dirty="0"/>
          </a:p>
          <a:p>
            <a:pPr indent="0" marL="0">
              <a:buNone/>
            </a:pPr>
            <a:r>
              <a:rPr lang="en-US" sz="1100" dirty="0">
                <a:solidFill>
                  <a:srgbClr val="5F666D"/>
                </a:solidFill>
              </a:rPr>
              <a:t>Start with the highest-risk shares: expired retention, ROT and sensitive data on broadly accessible shares</a:t>
            </a:r>
            <a:endParaRPr lang="en-US" sz="1000" dirty="0"/>
          </a:p>
        </p:txBody>
      </p:sp>
      <p:sp>
        <p:nvSpPr>
          <p:cNvPr id="16" name="Shape 12"/>
          <p:cNvSpPr/>
          <p:nvPr/>
        </p:nvSpPr>
        <p:spPr>
          <a:xfrm>
            <a:off x="457200" y="3200400"/>
            <a:ext cx="457200" cy="457200"/>
          </a:xfrm>
          <a:prstGeom prst="ellipse">
            <a:avLst/>
          </a:prstGeom>
          <a:solidFill>
            <a:srgbClr val="FFC72C"/>
          </a:solidFill>
          <a:ln w="25400">
            <a:solidFill>
              <a:srgbClr val="FFFFFF"/>
            </a:solidFill>
            <a:prstDash val="solid"/>
          </a:ln>
        </p:spPr>
      </p:sp>
      <p:sp>
        <p:nvSpPr>
          <p:cNvPr id="17" name="Text 13"/>
          <p:cNvSpPr txBox="1"/>
          <p:nvPr/>
        </p:nvSpPr>
        <p:spPr>
          <a:xfrm>
            <a:off x="457200" y="3200400"/>
            <a:ext cx="457200" cy="457200"/>
          </a:xfrm>
          <a:prstGeom prst="rect">
            <a:avLst/>
          </a:prstGeom>
          <a:noFill/>
          <a:ln/>
        </p:spPr>
        <p:txBody>
          <a:bodyPr wrap="square" lIns="0" tIns="0" rIns="0" bIns="0" rtlCol="0" anchor="ctr"/>
          <a:lstStyle/>
          <a:p>
            <a:pPr algn="ctr" indent="0" marL="0">
              <a:buNone/>
            </a:pPr>
            <a:r>
              <a:rPr lang="en-US" sz="1500" b="1" dirty="0">
                <a:solidFill>
                  <a:srgbClr val="33383D"/>
                </a:solidFill>
              </a:rPr>
              <a:t>2</a:t>
            </a:r>
            <a:endParaRPr lang="en-US" sz="1500" dirty="0"/>
          </a:p>
        </p:txBody>
      </p:sp>
      <p:sp>
        <p:nvSpPr>
          <p:cNvPr id="18" name="Text 14"/>
          <p:cNvSpPr txBox="1"/>
          <p:nvPr/>
        </p:nvSpPr>
        <p:spPr>
          <a:xfrm>
            <a:off x="1051560" y="3172968"/>
            <a:ext cx="3017520" cy="1005840"/>
          </a:xfrm>
          <a:prstGeom prst="rect">
            <a:avLst/>
          </a:prstGeom>
          <a:noFill/>
          <a:ln/>
        </p:spPr>
        <p:txBody>
          <a:bodyPr wrap="square" lIns="0" tIns="0" rIns="0" bIns="0" rtlCol="0" anchor="t"/>
          <a:lstStyle/>
          <a:p>
            <a:pPr indent="0" marL="0">
              <a:buNone/>
            </a:pPr>
            <a:r>
              <a:rPr lang="en-US" sz="1300" b="1" dirty="0">
                <a:solidFill>
                  <a:srgbClr val="33383D"/>
                </a:solidFill>
              </a:rPr>
              <a:t>Scan &amp; classify</a:t>
            </a:r>
            <a:endParaRPr lang="en-US" sz="1000" dirty="0"/>
          </a:p>
          <a:p>
            <a:pPr indent="0" marL="0">
              <a:buNone/>
            </a:pPr>
            <a:r>
              <a:rPr lang="en-US" sz="1100" dirty="0">
                <a:solidFill>
                  <a:srgbClr val="5F666D"/>
                </a:solidFill>
              </a:rPr>
              <a:t>BigID inventories each share and maps files to retention rules and sensitivity</a:t>
            </a:r>
            <a:endParaRPr lang="en-US" sz="1000" dirty="0"/>
          </a:p>
        </p:txBody>
      </p:sp>
      <p:sp>
        <p:nvSpPr>
          <p:cNvPr id="19" name="Shape 15"/>
          <p:cNvSpPr/>
          <p:nvPr/>
        </p:nvSpPr>
        <p:spPr>
          <a:xfrm>
            <a:off x="457200" y="4297680"/>
            <a:ext cx="457200" cy="457200"/>
          </a:xfrm>
          <a:prstGeom prst="ellipse">
            <a:avLst/>
          </a:prstGeom>
          <a:solidFill>
            <a:srgbClr val="FFC72C"/>
          </a:solidFill>
          <a:ln w="25400">
            <a:solidFill>
              <a:srgbClr val="FFFFFF"/>
            </a:solidFill>
            <a:prstDash val="solid"/>
          </a:ln>
        </p:spPr>
      </p:sp>
      <p:sp>
        <p:nvSpPr>
          <p:cNvPr id="20" name="Text 16"/>
          <p:cNvSpPr txBox="1"/>
          <p:nvPr/>
        </p:nvSpPr>
        <p:spPr>
          <a:xfrm>
            <a:off x="457200" y="4297680"/>
            <a:ext cx="457200" cy="457200"/>
          </a:xfrm>
          <a:prstGeom prst="rect">
            <a:avLst/>
          </a:prstGeom>
          <a:noFill/>
          <a:ln/>
        </p:spPr>
        <p:txBody>
          <a:bodyPr wrap="square" lIns="0" tIns="0" rIns="0" bIns="0" rtlCol="0" anchor="ctr"/>
          <a:lstStyle/>
          <a:p>
            <a:pPr algn="ctr" indent="0" marL="0">
              <a:buNone/>
            </a:pPr>
            <a:r>
              <a:rPr lang="en-US" sz="1500" b="1" dirty="0">
                <a:solidFill>
                  <a:srgbClr val="33383D"/>
                </a:solidFill>
              </a:rPr>
              <a:t>3</a:t>
            </a:r>
            <a:endParaRPr lang="en-US" sz="1500" dirty="0"/>
          </a:p>
        </p:txBody>
      </p:sp>
      <p:sp>
        <p:nvSpPr>
          <p:cNvPr id="21" name="Text 17"/>
          <p:cNvSpPr txBox="1"/>
          <p:nvPr/>
        </p:nvSpPr>
        <p:spPr>
          <a:xfrm>
            <a:off x="1051560" y="4270248"/>
            <a:ext cx="3017520" cy="1005840"/>
          </a:xfrm>
          <a:prstGeom prst="rect">
            <a:avLst/>
          </a:prstGeom>
          <a:noFill/>
          <a:ln/>
        </p:spPr>
        <p:txBody>
          <a:bodyPr wrap="square" lIns="0" tIns="0" rIns="0" bIns="0" rtlCol="0" anchor="t"/>
          <a:lstStyle/>
          <a:p>
            <a:pPr indent="0" marL="0">
              <a:buNone/>
            </a:pPr>
            <a:r>
              <a:rPr lang="en-US" sz="1300" b="1" dirty="0">
                <a:solidFill>
                  <a:srgbClr val="33383D"/>
                </a:solidFill>
              </a:rPr>
              <a:t>Validate &amp; decide</a:t>
            </a:r>
            <a:endParaRPr lang="en-US" sz="1000" dirty="0"/>
          </a:p>
          <a:p>
            <a:pPr indent="0" marL="0">
              <a:buNone/>
            </a:pPr>
            <a:r>
              <a:rPr lang="en-US" sz="1100" dirty="0">
                <a:solidFill>
                  <a:srgbClr val="5F666D"/>
                </a:solidFill>
              </a:rPr>
              <a:t>Stewards confirm metadata; data owners choose purge, archive or retain</a:t>
            </a:r>
            <a:endParaRPr lang="en-US" sz="1000" dirty="0"/>
          </a:p>
        </p:txBody>
      </p:sp>
      <p:sp>
        <p:nvSpPr>
          <p:cNvPr id="22" name="Shape 18"/>
          <p:cNvSpPr/>
          <p:nvPr/>
        </p:nvSpPr>
        <p:spPr>
          <a:xfrm>
            <a:off x="457200" y="5394960"/>
            <a:ext cx="457200" cy="457200"/>
          </a:xfrm>
          <a:prstGeom prst="ellipse">
            <a:avLst/>
          </a:prstGeom>
          <a:solidFill>
            <a:srgbClr val="FFC72C"/>
          </a:solidFill>
          <a:ln w="25400">
            <a:solidFill>
              <a:srgbClr val="FFFFFF"/>
            </a:solidFill>
            <a:prstDash val="solid"/>
          </a:ln>
        </p:spPr>
      </p:sp>
      <p:sp>
        <p:nvSpPr>
          <p:cNvPr id="23" name="Text 19"/>
          <p:cNvSpPr txBox="1"/>
          <p:nvPr/>
        </p:nvSpPr>
        <p:spPr>
          <a:xfrm>
            <a:off x="457200" y="5394960"/>
            <a:ext cx="457200" cy="457200"/>
          </a:xfrm>
          <a:prstGeom prst="rect">
            <a:avLst/>
          </a:prstGeom>
          <a:noFill/>
          <a:ln/>
        </p:spPr>
        <p:txBody>
          <a:bodyPr wrap="square" lIns="0" tIns="0" rIns="0" bIns="0" rtlCol="0" anchor="ctr"/>
          <a:lstStyle/>
          <a:p>
            <a:pPr algn="ctr" indent="0" marL="0">
              <a:buNone/>
            </a:pPr>
            <a:r>
              <a:rPr lang="en-US" sz="1500" b="1" dirty="0">
                <a:solidFill>
                  <a:srgbClr val="33383D"/>
                </a:solidFill>
              </a:rPr>
              <a:t>4</a:t>
            </a:r>
            <a:endParaRPr lang="en-US" sz="1500" dirty="0"/>
          </a:p>
        </p:txBody>
      </p:sp>
      <p:sp>
        <p:nvSpPr>
          <p:cNvPr id="24" name="Text 20"/>
          <p:cNvSpPr txBox="1"/>
          <p:nvPr/>
        </p:nvSpPr>
        <p:spPr>
          <a:xfrm>
            <a:off x="1051560" y="5367528"/>
            <a:ext cx="3017520" cy="1005840"/>
          </a:xfrm>
          <a:prstGeom prst="rect">
            <a:avLst/>
          </a:prstGeom>
          <a:noFill/>
          <a:ln/>
        </p:spPr>
        <p:txBody>
          <a:bodyPr wrap="square" lIns="0" tIns="0" rIns="0" bIns="0" rtlCol="0" anchor="t"/>
          <a:lstStyle/>
          <a:p>
            <a:pPr indent="0" marL="0">
              <a:buNone/>
            </a:pPr>
            <a:r>
              <a:rPr lang="en-US" sz="1300" b="1" dirty="0">
                <a:solidFill>
                  <a:srgbClr val="33383D"/>
                </a:solidFill>
              </a:rPr>
              <a:t>Dispose defensibly</a:t>
            </a:r>
            <a:endParaRPr lang="en-US" sz="1000" dirty="0"/>
          </a:p>
          <a:p>
            <a:pPr indent="0" marL="0">
              <a:buNone/>
            </a:pPr>
            <a:r>
              <a:rPr lang="en-US" sz="1100" dirty="0">
                <a:solidFill>
                  <a:srgbClr val="5F666D"/>
                </a:solidFill>
              </a:rPr>
              <a:t>Purge approved files with a tombstone and audit trail; archive what still has value</a:t>
            </a:r>
            <a:endParaRPr lang="en-US" sz="1000" dirty="0"/>
          </a:p>
        </p:txBody>
      </p:sp>
      <p:sp>
        <p:nvSpPr>
          <p:cNvPr id="25" name="Shape 21"/>
          <p:cNvSpPr/>
          <p:nvPr/>
        </p:nvSpPr>
        <p:spPr>
          <a:xfrm>
            <a:off x="457200" y="6492240"/>
            <a:ext cx="457200" cy="457200"/>
          </a:xfrm>
          <a:prstGeom prst="ellipse">
            <a:avLst/>
          </a:prstGeom>
          <a:solidFill>
            <a:srgbClr val="FFC72C"/>
          </a:solidFill>
          <a:ln w="25400">
            <a:solidFill>
              <a:srgbClr val="FFFFFF"/>
            </a:solidFill>
            <a:prstDash val="solid"/>
          </a:ln>
        </p:spPr>
      </p:sp>
      <p:sp>
        <p:nvSpPr>
          <p:cNvPr id="26" name="Text 22"/>
          <p:cNvSpPr txBox="1"/>
          <p:nvPr/>
        </p:nvSpPr>
        <p:spPr>
          <a:xfrm>
            <a:off x="457200" y="6492240"/>
            <a:ext cx="457200" cy="457200"/>
          </a:xfrm>
          <a:prstGeom prst="rect">
            <a:avLst/>
          </a:prstGeom>
          <a:noFill/>
          <a:ln/>
        </p:spPr>
        <p:txBody>
          <a:bodyPr wrap="square" lIns="0" tIns="0" rIns="0" bIns="0" rtlCol="0" anchor="ctr"/>
          <a:lstStyle/>
          <a:p>
            <a:pPr algn="ctr" indent="0" marL="0">
              <a:buNone/>
            </a:pPr>
            <a:r>
              <a:rPr lang="en-US" sz="1500" b="1" dirty="0">
                <a:solidFill>
                  <a:srgbClr val="33383D"/>
                </a:solidFill>
              </a:rPr>
              <a:t>5</a:t>
            </a:r>
            <a:endParaRPr lang="en-US" sz="1500" dirty="0"/>
          </a:p>
        </p:txBody>
      </p:sp>
      <p:sp>
        <p:nvSpPr>
          <p:cNvPr id="27" name="Text 23"/>
          <p:cNvSpPr txBox="1"/>
          <p:nvPr/>
        </p:nvSpPr>
        <p:spPr>
          <a:xfrm>
            <a:off x="1051560" y="6464808"/>
            <a:ext cx="3017520" cy="1005840"/>
          </a:xfrm>
          <a:prstGeom prst="rect">
            <a:avLst/>
          </a:prstGeom>
          <a:noFill/>
          <a:ln/>
        </p:spPr>
        <p:txBody>
          <a:bodyPr wrap="square" lIns="0" tIns="0" rIns="0" bIns="0" rtlCol="0" anchor="t"/>
          <a:lstStyle/>
          <a:p>
            <a:pPr indent="0" marL="0">
              <a:buNone/>
            </a:pPr>
            <a:r>
              <a:rPr lang="en-US" sz="1300" b="1" dirty="0">
                <a:solidFill>
                  <a:srgbClr val="33383D"/>
                </a:solidFill>
              </a:rPr>
              <a:t>Sustain</a:t>
            </a:r>
            <a:endParaRPr lang="en-US" sz="1000" dirty="0"/>
          </a:p>
          <a:p>
            <a:pPr indent="0" marL="0">
              <a:buNone/>
            </a:pPr>
            <a:r>
              <a:rPr lang="en-US" sz="1100" dirty="0">
                <a:solidFill>
                  <a:srgbClr val="5F666D"/>
                </a:solidFill>
              </a:rPr>
              <a:t>Scheduled rescans and recurring disposition cycles so shares stay clean</a:t>
            </a:r>
            <a:endParaRPr lang="en-US" sz="1000" dirty="0"/>
          </a:p>
        </p:txBody>
      </p:sp>
      <p:sp>
        <p:nvSpPr>
          <p:cNvPr id="28" name="Shape 24"/>
          <p:cNvSpPr/>
          <p:nvPr/>
        </p:nvSpPr>
        <p:spPr>
          <a:xfrm>
            <a:off x="4407408" y="1371600"/>
            <a:ext cx="5212080" cy="6355080"/>
          </a:xfrm>
          <a:prstGeom prst="roundRect">
            <a:avLst>
              <a:gd name="adj" fmla="val 1754"/>
            </a:avLst>
          </a:prstGeom>
          <a:solidFill>
            <a:srgbClr val="F0F8EC"/>
          </a:solidFill>
          <a:ln w="12700">
            <a:solidFill>
              <a:srgbClr val="F0F8EC"/>
            </a:solidFill>
            <a:prstDash val="solid"/>
          </a:ln>
        </p:spPr>
      </p:sp>
      <p:sp>
        <p:nvSpPr>
          <p:cNvPr id="29" name="Shape 25"/>
          <p:cNvSpPr/>
          <p:nvPr/>
        </p:nvSpPr>
        <p:spPr>
          <a:xfrm>
            <a:off x="4407408" y="1371600"/>
            <a:ext cx="5212080" cy="548640"/>
          </a:xfrm>
          <a:prstGeom prst="roundRect">
            <a:avLst>
              <a:gd name="adj" fmla="val 16667"/>
            </a:avLst>
          </a:prstGeom>
          <a:solidFill>
            <a:srgbClr val="C3E6B4"/>
          </a:solidFill>
          <a:ln w="12700">
            <a:solidFill>
              <a:srgbClr val="C3E6B4"/>
            </a:solidFill>
            <a:prstDash val="solid"/>
          </a:ln>
        </p:spPr>
      </p:sp>
      <p:pic>
        <p:nvPicPr>
          <p:cNvPr id="30" name="Image 2" descr="preencoded.png">    </p:cNvPr>
          <p:cNvPicPr>
            <a:picLocks noChangeAspect="1"/>
          </p:cNvPicPr>
          <p:nvPr/>
        </p:nvPicPr>
        <p:blipFill>
          <a:blip r:embed="rId3"/>
          <a:stretch>
            <a:fillRect/>
          </a:stretch>
        </p:blipFill>
        <p:spPr>
          <a:xfrm>
            <a:off x="4572000" y="1508760"/>
            <a:ext cx="274320" cy="274320"/>
          </a:xfrm>
          <a:prstGeom prst="rect">
            <a:avLst/>
          </a:prstGeom>
        </p:spPr>
      </p:pic>
      <p:sp>
        <p:nvSpPr>
          <p:cNvPr id="31" name="Text 26"/>
          <p:cNvSpPr txBox="1"/>
          <p:nvPr/>
        </p:nvSpPr>
        <p:spPr>
          <a:xfrm>
            <a:off x="4937760" y="1371600"/>
            <a:ext cx="4572000" cy="548640"/>
          </a:xfrm>
          <a:prstGeom prst="rect">
            <a:avLst/>
          </a:prstGeom>
          <a:noFill/>
          <a:ln/>
        </p:spPr>
        <p:txBody>
          <a:bodyPr wrap="square" lIns="0" tIns="0" rIns="0" bIns="0" rtlCol="0" anchor="ctr"/>
          <a:lstStyle/>
          <a:p>
            <a:pPr indent="0" marL="0">
              <a:buNone/>
            </a:pPr>
            <a:r>
              <a:rPr lang="en-US" sz="1500" b="1" dirty="0">
                <a:solidFill>
                  <a:srgbClr val="33383D"/>
                </a:solidFill>
              </a:rPr>
              <a:t>Who is involved</a:t>
            </a:r>
            <a:endParaRPr lang="en-US" sz="1500" dirty="0"/>
          </a:p>
        </p:txBody>
      </p:sp>
      <p:sp>
        <p:nvSpPr>
          <p:cNvPr id="32" name="Shape 27"/>
          <p:cNvSpPr/>
          <p:nvPr/>
        </p:nvSpPr>
        <p:spPr>
          <a:xfrm>
            <a:off x="4572000" y="2084832"/>
            <a:ext cx="2377440" cy="1261872"/>
          </a:xfrm>
          <a:prstGeom prst="roundRect">
            <a:avLst>
              <a:gd name="adj" fmla="val 5072"/>
            </a:avLst>
          </a:prstGeom>
          <a:solidFill>
            <a:srgbClr val="E2F2DA"/>
          </a:solidFill>
          <a:ln w="12700">
            <a:solidFill>
              <a:srgbClr val="86BF72"/>
            </a:solidFill>
            <a:prstDash val="solid"/>
          </a:ln>
          <a:effectLst>
            <a:outerShdw sx="100000" sy="100000" kx="0" ky="0" algn="bl" rotWithShape="0" blurRad="76200" dist="19050" dir="5400000">
              <a:srgbClr val="000000">
                <a:alpha val="10000"/>
              </a:srgbClr>
            </a:outerShdw>
          </a:effectLst>
        </p:spPr>
      </p:sp>
      <p:sp>
        <p:nvSpPr>
          <p:cNvPr id="33" name="Shape 28"/>
          <p:cNvSpPr/>
          <p:nvPr/>
        </p:nvSpPr>
        <p:spPr>
          <a:xfrm>
            <a:off x="4681728" y="2203704"/>
            <a:ext cx="384048" cy="384048"/>
          </a:xfrm>
          <a:prstGeom prst="ellipse">
            <a:avLst/>
          </a:prstGeom>
          <a:solidFill>
            <a:srgbClr val="C3E6B4"/>
          </a:solidFill>
          <a:ln w="12700">
            <a:solidFill>
              <a:srgbClr val="C3E6B4"/>
            </a:solidFill>
            <a:prstDash val="solid"/>
          </a:ln>
        </p:spPr>
      </p:sp>
      <p:pic>
        <p:nvPicPr>
          <p:cNvPr id="34" name="Image 3" descr="preencoded.png">    </p:cNvPr>
          <p:cNvPicPr>
            <a:picLocks noChangeAspect="1"/>
          </p:cNvPicPr>
          <p:nvPr/>
        </p:nvPicPr>
        <p:blipFill>
          <a:blip r:embed="rId4"/>
          <a:stretch>
            <a:fillRect/>
          </a:stretch>
        </p:blipFill>
        <p:spPr>
          <a:xfrm>
            <a:off x="4773168" y="2295144"/>
            <a:ext cx="201168" cy="201168"/>
          </a:xfrm>
          <a:prstGeom prst="rect">
            <a:avLst/>
          </a:prstGeom>
        </p:spPr>
      </p:pic>
      <p:sp>
        <p:nvSpPr>
          <p:cNvPr id="35" name="Text 29"/>
          <p:cNvSpPr txBox="1"/>
          <p:nvPr/>
        </p:nvSpPr>
        <p:spPr>
          <a:xfrm>
            <a:off x="5138928" y="2176272"/>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DRD Program (ODG)</a:t>
            </a:r>
            <a:endParaRPr lang="en-US" sz="1200" dirty="0"/>
          </a:p>
        </p:txBody>
      </p:sp>
      <p:sp>
        <p:nvSpPr>
          <p:cNvPr id="36" name="Text 30"/>
          <p:cNvSpPr txBox="1"/>
          <p:nvPr/>
        </p:nvSpPr>
        <p:spPr>
          <a:xfrm>
            <a:off x="4681728" y="2679192"/>
            <a:ext cx="2176272" cy="621792"/>
          </a:xfrm>
          <a:prstGeom prst="rect">
            <a:avLst/>
          </a:prstGeom>
          <a:noFill/>
          <a:ln/>
        </p:spPr>
        <p:txBody>
          <a:bodyPr wrap="square" lIns="0" tIns="0" rIns="0" bIns="0" rtlCol="0" anchor="t"/>
          <a:lstStyle/>
          <a:p>
            <a:pPr indent="0" marL="0">
              <a:buNone/>
            </a:pPr>
            <a:r>
              <a:rPr lang="en-US" sz="1050" dirty="0">
                <a:solidFill>
                  <a:srgbClr val="5F666D"/>
                </a:solidFill>
              </a:rPr>
              <a:t>Leads the program; owns validation, documentation and reporting</a:t>
            </a:r>
            <a:endParaRPr lang="en-US" sz="1050" dirty="0"/>
          </a:p>
        </p:txBody>
      </p:sp>
      <p:sp>
        <p:nvSpPr>
          <p:cNvPr id="37" name="Shape 31"/>
          <p:cNvSpPr/>
          <p:nvPr/>
        </p:nvSpPr>
        <p:spPr>
          <a:xfrm>
            <a:off x="7059168" y="2084832"/>
            <a:ext cx="2377440" cy="1261872"/>
          </a:xfrm>
          <a:prstGeom prst="roundRect">
            <a:avLst>
              <a:gd name="adj" fmla="val 5072"/>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sp>
        <p:nvSpPr>
          <p:cNvPr id="38" name="Shape 32"/>
          <p:cNvSpPr/>
          <p:nvPr/>
        </p:nvSpPr>
        <p:spPr>
          <a:xfrm>
            <a:off x="7168896" y="2203704"/>
            <a:ext cx="384048" cy="384048"/>
          </a:xfrm>
          <a:prstGeom prst="ellipse">
            <a:avLst/>
          </a:prstGeom>
          <a:solidFill>
            <a:srgbClr val="C3E6B4"/>
          </a:solidFill>
          <a:ln w="12700">
            <a:solidFill>
              <a:srgbClr val="C3E6B4"/>
            </a:solidFill>
            <a:prstDash val="solid"/>
          </a:ln>
        </p:spPr>
      </p:sp>
      <p:pic>
        <p:nvPicPr>
          <p:cNvPr id="39" name="Image 4" descr="preencoded.png">    </p:cNvPr>
          <p:cNvPicPr>
            <a:picLocks noChangeAspect="1"/>
          </p:cNvPicPr>
          <p:nvPr/>
        </p:nvPicPr>
        <p:blipFill>
          <a:blip r:embed="rId5"/>
          <a:stretch>
            <a:fillRect/>
          </a:stretch>
        </p:blipFill>
        <p:spPr>
          <a:xfrm>
            <a:off x="7260336" y="2295144"/>
            <a:ext cx="201168" cy="201168"/>
          </a:xfrm>
          <a:prstGeom prst="rect">
            <a:avLst/>
          </a:prstGeom>
        </p:spPr>
      </p:pic>
      <p:sp>
        <p:nvSpPr>
          <p:cNvPr id="40" name="Text 33"/>
          <p:cNvSpPr txBox="1"/>
          <p:nvPr/>
        </p:nvSpPr>
        <p:spPr>
          <a:xfrm>
            <a:off x="7626096" y="2176272"/>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Data Owners</a:t>
            </a:r>
            <a:endParaRPr lang="en-US" sz="1200" dirty="0"/>
          </a:p>
        </p:txBody>
      </p:sp>
      <p:sp>
        <p:nvSpPr>
          <p:cNvPr id="41" name="Text 34"/>
          <p:cNvSpPr txBox="1"/>
          <p:nvPr/>
        </p:nvSpPr>
        <p:spPr>
          <a:xfrm>
            <a:off x="7168896" y="2679192"/>
            <a:ext cx="2176272" cy="621792"/>
          </a:xfrm>
          <a:prstGeom prst="rect">
            <a:avLst/>
          </a:prstGeom>
          <a:noFill/>
          <a:ln/>
        </p:spPr>
        <p:txBody>
          <a:bodyPr wrap="square" lIns="0" tIns="0" rIns="0" bIns="0" rtlCol="0" anchor="t"/>
          <a:lstStyle/>
          <a:p>
            <a:pPr indent="0" marL="0">
              <a:buNone/>
            </a:pPr>
            <a:r>
              <a:rPr lang="en-US" sz="1050" dirty="0">
                <a:solidFill>
                  <a:srgbClr val="5F666D"/>
                </a:solidFill>
              </a:rPr>
              <a:t>Final disposal sign-off; decide purge, archive or retain</a:t>
            </a:r>
            <a:endParaRPr lang="en-US" sz="1050" dirty="0"/>
          </a:p>
        </p:txBody>
      </p:sp>
      <p:sp>
        <p:nvSpPr>
          <p:cNvPr id="42" name="Shape 35"/>
          <p:cNvSpPr/>
          <p:nvPr/>
        </p:nvSpPr>
        <p:spPr>
          <a:xfrm>
            <a:off x="4572000" y="3474720"/>
            <a:ext cx="2377440" cy="1261872"/>
          </a:xfrm>
          <a:prstGeom prst="roundRect">
            <a:avLst>
              <a:gd name="adj" fmla="val 5072"/>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sp>
        <p:nvSpPr>
          <p:cNvPr id="43" name="Shape 36"/>
          <p:cNvSpPr/>
          <p:nvPr/>
        </p:nvSpPr>
        <p:spPr>
          <a:xfrm>
            <a:off x="4681728" y="3593592"/>
            <a:ext cx="384048" cy="384048"/>
          </a:xfrm>
          <a:prstGeom prst="ellipse">
            <a:avLst/>
          </a:prstGeom>
          <a:solidFill>
            <a:srgbClr val="C3E6B4"/>
          </a:solidFill>
          <a:ln w="12700">
            <a:solidFill>
              <a:srgbClr val="C3E6B4"/>
            </a:solidFill>
            <a:prstDash val="solid"/>
          </a:ln>
        </p:spPr>
      </p:sp>
      <p:pic>
        <p:nvPicPr>
          <p:cNvPr id="44" name="Image 5" descr="preencoded.png">    </p:cNvPr>
          <p:cNvPicPr>
            <a:picLocks noChangeAspect="1"/>
          </p:cNvPicPr>
          <p:nvPr/>
        </p:nvPicPr>
        <p:blipFill>
          <a:blip r:embed="rId6"/>
          <a:stretch>
            <a:fillRect/>
          </a:stretch>
        </p:blipFill>
        <p:spPr>
          <a:xfrm>
            <a:off x="4773168" y="3685032"/>
            <a:ext cx="201168" cy="201168"/>
          </a:xfrm>
          <a:prstGeom prst="rect">
            <a:avLst/>
          </a:prstGeom>
        </p:spPr>
      </p:pic>
      <p:sp>
        <p:nvSpPr>
          <p:cNvPr id="45" name="Text 37"/>
          <p:cNvSpPr txBox="1"/>
          <p:nvPr/>
        </p:nvSpPr>
        <p:spPr>
          <a:xfrm>
            <a:off x="5138928" y="3566160"/>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Data Stewards</a:t>
            </a:r>
            <a:endParaRPr lang="en-US" sz="1200" dirty="0"/>
          </a:p>
        </p:txBody>
      </p:sp>
      <p:sp>
        <p:nvSpPr>
          <p:cNvPr id="46" name="Text 38"/>
          <p:cNvSpPr txBox="1"/>
          <p:nvPr/>
        </p:nvSpPr>
        <p:spPr>
          <a:xfrm>
            <a:off x="4681728" y="4069080"/>
            <a:ext cx="2176272" cy="621792"/>
          </a:xfrm>
          <a:prstGeom prst="rect">
            <a:avLst/>
          </a:prstGeom>
          <a:noFill/>
          <a:ln/>
        </p:spPr>
        <p:txBody>
          <a:bodyPr wrap="square" lIns="0" tIns="0" rIns="0" bIns="0" rtlCol="0" anchor="t"/>
          <a:lstStyle/>
          <a:p>
            <a:pPr indent="0" marL="0">
              <a:buNone/>
            </a:pPr>
            <a:r>
              <a:rPr lang="en-US" sz="1050" dirty="0">
                <a:solidFill>
                  <a:srgbClr val="5F666D"/>
                </a:solidFill>
              </a:rPr>
              <a:t>Validate metadata and triage business-review items</a:t>
            </a:r>
            <a:endParaRPr lang="en-US" sz="1050" dirty="0"/>
          </a:p>
        </p:txBody>
      </p:sp>
      <p:sp>
        <p:nvSpPr>
          <p:cNvPr id="47" name="Shape 39"/>
          <p:cNvSpPr/>
          <p:nvPr/>
        </p:nvSpPr>
        <p:spPr>
          <a:xfrm>
            <a:off x="7059168" y="3474720"/>
            <a:ext cx="2377440" cy="1261872"/>
          </a:xfrm>
          <a:prstGeom prst="roundRect">
            <a:avLst>
              <a:gd name="adj" fmla="val 5072"/>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sp>
        <p:nvSpPr>
          <p:cNvPr id="48" name="Shape 40"/>
          <p:cNvSpPr/>
          <p:nvPr/>
        </p:nvSpPr>
        <p:spPr>
          <a:xfrm>
            <a:off x="7168896" y="3593592"/>
            <a:ext cx="384048" cy="384048"/>
          </a:xfrm>
          <a:prstGeom prst="ellipse">
            <a:avLst/>
          </a:prstGeom>
          <a:solidFill>
            <a:srgbClr val="C3E6B4"/>
          </a:solidFill>
          <a:ln w="12700">
            <a:solidFill>
              <a:srgbClr val="C3E6B4"/>
            </a:solidFill>
            <a:prstDash val="solid"/>
          </a:ln>
        </p:spPr>
      </p:sp>
      <p:pic>
        <p:nvPicPr>
          <p:cNvPr id="49" name="Image 6" descr="preencoded.png">    </p:cNvPr>
          <p:cNvPicPr>
            <a:picLocks noChangeAspect="1"/>
          </p:cNvPicPr>
          <p:nvPr/>
        </p:nvPicPr>
        <p:blipFill>
          <a:blip r:embed="rId7"/>
          <a:stretch>
            <a:fillRect/>
          </a:stretch>
        </p:blipFill>
        <p:spPr>
          <a:xfrm>
            <a:off x="7260336" y="3685032"/>
            <a:ext cx="201168" cy="201168"/>
          </a:xfrm>
          <a:prstGeom prst="rect">
            <a:avLst/>
          </a:prstGeom>
        </p:spPr>
      </p:pic>
      <p:sp>
        <p:nvSpPr>
          <p:cNvPr id="50" name="Text 41"/>
          <p:cNvSpPr txBox="1"/>
          <p:nvPr/>
        </p:nvSpPr>
        <p:spPr>
          <a:xfrm>
            <a:off x="7626096" y="3566160"/>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Records &amp; Info Mgmt (RIM)</a:t>
            </a:r>
            <a:endParaRPr lang="en-US" sz="1200" dirty="0"/>
          </a:p>
        </p:txBody>
      </p:sp>
      <p:sp>
        <p:nvSpPr>
          <p:cNvPr id="51" name="Text 42"/>
          <p:cNvSpPr txBox="1"/>
          <p:nvPr/>
        </p:nvSpPr>
        <p:spPr>
          <a:xfrm>
            <a:off x="7168896" y="4069080"/>
            <a:ext cx="2176272" cy="621792"/>
          </a:xfrm>
          <a:prstGeom prst="rect">
            <a:avLst/>
          </a:prstGeom>
          <a:noFill/>
          <a:ln/>
        </p:spPr>
        <p:txBody>
          <a:bodyPr wrap="square" lIns="0" tIns="0" rIns="0" bIns="0" rtlCol="0" anchor="t"/>
          <a:lstStyle/>
          <a:p>
            <a:pPr indent="0" marL="0">
              <a:buNone/>
            </a:pPr>
            <a:r>
              <a:rPr lang="en-US" sz="1050" dirty="0">
                <a:solidFill>
                  <a:srgbClr val="5F666D"/>
                </a:solidFill>
              </a:rPr>
              <a:t>Partner on retention schedules and records policy</a:t>
            </a:r>
            <a:endParaRPr lang="en-US" sz="1050" dirty="0"/>
          </a:p>
        </p:txBody>
      </p:sp>
      <p:sp>
        <p:nvSpPr>
          <p:cNvPr id="52" name="Shape 43"/>
          <p:cNvSpPr/>
          <p:nvPr/>
        </p:nvSpPr>
        <p:spPr>
          <a:xfrm>
            <a:off x="4572000" y="4864608"/>
            <a:ext cx="2377440" cy="1261872"/>
          </a:xfrm>
          <a:prstGeom prst="roundRect">
            <a:avLst>
              <a:gd name="adj" fmla="val 5072"/>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sp>
        <p:nvSpPr>
          <p:cNvPr id="53" name="Shape 44"/>
          <p:cNvSpPr/>
          <p:nvPr/>
        </p:nvSpPr>
        <p:spPr>
          <a:xfrm>
            <a:off x="4681728" y="4983480"/>
            <a:ext cx="384048" cy="384048"/>
          </a:xfrm>
          <a:prstGeom prst="ellipse">
            <a:avLst/>
          </a:prstGeom>
          <a:solidFill>
            <a:srgbClr val="C3E6B4"/>
          </a:solidFill>
          <a:ln w="12700">
            <a:solidFill>
              <a:srgbClr val="C3E6B4"/>
            </a:solidFill>
            <a:prstDash val="solid"/>
          </a:ln>
        </p:spPr>
      </p:sp>
      <p:pic>
        <p:nvPicPr>
          <p:cNvPr id="54" name="Image 7" descr="preencoded.png">    </p:cNvPr>
          <p:cNvPicPr>
            <a:picLocks noChangeAspect="1"/>
          </p:cNvPicPr>
          <p:nvPr/>
        </p:nvPicPr>
        <p:blipFill>
          <a:blip r:embed="rId8"/>
          <a:stretch>
            <a:fillRect/>
          </a:stretch>
        </p:blipFill>
        <p:spPr>
          <a:xfrm>
            <a:off x="4773168" y="5074920"/>
            <a:ext cx="201168" cy="201168"/>
          </a:xfrm>
          <a:prstGeom prst="rect">
            <a:avLst/>
          </a:prstGeom>
        </p:spPr>
      </p:pic>
      <p:sp>
        <p:nvSpPr>
          <p:cNvPr id="55" name="Text 45"/>
          <p:cNvSpPr txBox="1"/>
          <p:nvPr/>
        </p:nvSpPr>
        <p:spPr>
          <a:xfrm>
            <a:off x="5138928" y="4956048"/>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Legal &amp; Compliance</a:t>
            </a:r>
            <a:endParaRPr lang="en-US" sz="1200" dirty="0"/>
          </a:p>
        </p:txBody>
      </p:sp>
      <p:sp>
        <p:nvSpPr>
          <p:cNvPr id="56" name="Text 46"/>
          <p:cNvSpPr txBox="1"/>
          <p:nvPr/>
        </p:nvSpPr>
        <p:spPr>
          <a:xfrm>
            <a:off x="4681728" y="5458968"/>
            <a:ext cx="2176272" cy="621792"/>
          </a:xfrm>
          <a:prstGeom prst="rect">
            <a:avLst/>
          </a:prstGeom>
          <a:noFill/>
          <a:ln/>
        </p:spPr>
        <p:txBody>
          <a:bodyPr wrap="square" lIns="0" tIns="0" rIns="0" bIns="0" rtlCol="0" anchor="t"/>
          <a:lstStyle/>
          <a:p>
            <a:pPr indent="0" marL="0">
              <a:buNone/>
            </a:pPr>
            <a:r>
              <a:rPr lang="en-US" sz="1050" dirty="0">
                <a:solidFill>
                  <a:srgbClr val="5F666D"/>
                </a:solidFill>
              </a:rPr>
              <a:t>Legal holds, exemptions and defensibility of deletion</a:t>
            </a:r>
            <a:endParaRPr lang="en-US" sz="1050" dirty="0"/>
          </a:p>
        </p:txBody>
      </p:sp>
      <p:sp>
        <p:nvSpPr>
          <p:cNvPr id="57" name="Shape 47"/>
          <p:cNvSpPr/>
          <p:nvPr/>
        </p:nvSpPr>
        <p:spPr>
          <a:xfrm>
            <a:off x="7059168" y="4864608"/>
            <a:ext cx="2377440" cy="1261872"/>
          </a:xfrm>
          <a:prstGeom prst="roundRect">
            <a:avLst>
              <a:gd name="adj" fmla="val 5072"/>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sp>
        <p:nvSpPr>
          <p:cNvPr id="58" name="Shape 48"/>
          <p:cNvSpPr/>
          <p:nvPr/>
        </p:nvSpPr>
        <p:spPr>
          <a:xfrm>
            <a:off x="7168896" y="4983480"/>
            <a:ext cx="384048" cy="384048"/>
          </a:xfrm>
          <a:prstGeom prst="ellipse">
            <a:avLst/>
          </a:prstGeom>
          <a:solidFill>
            <a:srgbClr val="C3E6B4"/>
          </a:solidFill>
          <a:ln w="12700">
            <a:solidFill>
              <a:srgbClr val="C3E6B4"/>
            </a:solidFill>
            <a:prstDash val="solid"/>
          </a:ln>
        </p:spPr>
      </p:sp>
      <p:pic>
        <p:nvPicPr>
          <p:cNvPr id="59" name="Image 8" descr="preencoded.png">    </p:cNvPr>
          <p:cNvPicPr>
            <a:picLocks noChangeAspect="1"/>
          </p:cNvPicPr>
          <p:nvPr/>
        </p:nvPicPr>
        <p:blipFill>
          <a:blip r:embed="rId9"/>
          <a:stretch>
            <a:fillRect/>
          </a:stretch>
        </p:blipFill>
        <p:spPr>
          <a:xfrm>
            <a:off x="7260336" y="5074920"/>
            <a:ext cx="201168" cy="201168"/>
          </a:xfrm>
          <a:prstGeom prst="rect">
            <a:avLst/>
          </a:prstGeom>
        </p:spPr>
      </p:pic>
      <p:sp>
        <p:nvSpPr>
          <p:cNvPr id="60" name="Text 49"/>
          <p:cNvSpPr txBox="1"/>
          <p:nvPr/>
        </p:nvSpPr>
        <p:spPr>
          <a:xfrm>
            <a:off x="7626096" y="4956048"/>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DGS / BigID platform</a:t>
            </a:r>
            <a:endParaRPr lang="en-US" sz="1200" dirty="0"/>
          </a:p>
        </p:txBody>
      </p:sp>
      <p:sp>
        <p:nvSpPr>
          <p:cNvPr id="61" name="Text 50"/>
          <p:cNvSpPr txBox="1"/>
          <p:nvPr/>
        </p:nvSpPr>
        <p:spPr>
          <a:xfrm>
            <a:off x="7168896" y="5458968"/>
            <a:ext cx="2176272" cy="621792"/>
          </a:xfrm>
          <a:prstGeom prst="rect">
            <a:avLst/>
          </a:prstGeom>
          <a:noFill/>
          <a:ln/>
        </p:spPr>
        <p:txBody>
          <a:bodyPr wrap="square" lIns="0" tIns="0" rIns="0" bIns="0" rtlCol="0" anchor="t"/>
          <a:lstStyle/>
          <a:p>
            <a:pPr indent="0" marL="0">
              <a:buNone/>
            </a:pPr>
            <a:r>
              <a:rPr lang="en-US" sz="1050" dirty="0">
                <a:solidFill>
                  <a:srgbClr val="5F666D"/>
                </a:solidFill>
              </a:rPr>
              <a:t>Scanning, connectors, rules and deletion execution</a:t>
            </a:r>
            <a:endParaRPr lang="en-US" sz="1050" dirty="0"/>
          </a:p>
        </p:txBody>
      </p:sp>
      <p:sp>
        <p:nvSpPr>
          <p:cNvPr id="62" name="Shape 51"/>
          <p:cNvSpPr/>
          <p:nvPr/>
        </p:nvSpPr>
        <p:spPr>
          <a:xfrm>
            <a:off x="4572000" y="6254496"/>
            <a:ext cx="2377440" cy="1261872"/>
          </a:xfrm>
          <a:prstGeom prst="roundRect">
            <a:avLst>
              <a:gd name="adj" fmla="val 5072"/>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sp>
        <p:nvSpPr>
          <p:cNvPr id="63" name="Shape 52"/>
          <p:cNvSpPr/>
          <p:nvPr/>
        </p:nvSpPr>
        <p:spPr>
          <a:xfrm>
            <a:off x="4681728" y="6373368"/>
            <a:ext cx="384048" cy="384048"/>
          </a:xfrm>
          <a:prstGeom prst="ellipse">
            <a:avLst/>
          </a:prstGeom>
          <a:solidFill>
            <a:srgbClr val="C3E6B4"/>
          </a:solidFill>
          <a:ln w="12700">
            <a:solidFill>
              <a:srgbClr val="C3E6B4"/>
            </a:solidFill>
            <a:prstDash val="solid"/>
          </a:ln>
        </p:spPr>
      </p:sp>
      <p:pic>
        <p:nvPicPr>
          <p:cNvPr id="64" name="Image 9" descr="preencoded.png">    </p:cNvPr>
          <p:cNvPicPr>
            <a:picLocks noChangeAspect="1"/>
          </p:cNvPicPr>
          <p:nvPr/>
        </p:nvPicPr>
        <p:blipFill>
          <a:blip r:embed="rId10"/>
          <a:stretch>
            <a:fillRect/>
          </a:stretch>
        </p:blipFill>
        <p:spPr>
          <a:xfrm>
            <a:off x="4773168" y="6464808"/>
            <a:ext cx="201168" cy="201168"/>
          </a:xfrm>
          <a:prstGeom prst="rect">
            <a:avLst/>
          </a:prstGeom>
        </p:spPr>
      </p:pic>
      <p:sp>
        <p:nvSpPr>
          <p:cNvPr id="65" name="Text 53"/>
          <p:cNvSpPr txBox="1"/>
          <p:nvPr/>
        </p:nvSpPr>
        <p:spPr>
          <a:xfrm>
            <a:off x="5138928" y="6345936"/>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Infrastructure &amp; Storage</a:t>
            </a:r>
            <a:endParaRPr lang="en-US" sz="1200" dirty="0"/>
          </a:p>
        </p:txBody>
      </p:sp>
      <p:sp>
        <p:nvSpPr>
          <p:cNvPr id="66" name="Text 54"/>
          <p:cNvSpPr txBox="1"/>
          <p:nvPr/>
        </p:nvSpPr>
        <p:spPr>
          <a:xfrm>
            <a:off x="4681728" y="6848856"/>
            <a:ext cx="2176272" cy="621792"/>
          </a:xfrm>
          <a:prstGeom prst="rect">
            <a:avLst/>
          </a:prstGeom>
          <a:noFill/>
          <a:ln/>
        </p:spPr>
        <p:txBody>
          <a:bodyPr wrap="square" lIns="0" tIns="0" rIns="0" bIns="0" rtlCol="0" anchor="t"/>
          <a:lstStyle/>
          <a:p>
            <a:pPr indent="0" marL="0">
              <a:buNone/>
            </a:pPr>
            <a:r>
              <a:rPr lang="en-US" sz="1050" dirty="0">
                <a:solidFill>
                  <a:srgbClr val="5F666D"/>
                </a:solidFill>
              </a:rPr>
              <a:t>Share access, backup alignment, storage reclaim</a:t>
            </a:r>
            <a:endParaRPr lang="en-US" sz="1050" dirty="0"/>
          </a:p>
        </p:txBody>
      </p:sp>
      <p:sp>
        <p:nvSpPr>
          <p:cNvPr id="67" name="Shape 55"/>
          <p:cNvSpPr/>
          <p:nvPr/>
        </p:nvSpPr>
        <p:spPr>
          <a:xfrm>
            <a:off x="7059168" y="6254496"/>
            <a:ext cx="2377440" cy="1261872"/>
          </a:xfrm>
          <a:prstGeom prst="roundRect">
            <a:avLst>
              <a:gd name="adj" fmla="val 5072"/>
            </a:avLst>
          </a:prstGeom>
          <a:solidFill>
            <a:srgbClr val="FFFFFF"/>
          </a:solidFill>
          <a:ln w="12700">
            <a:solidFill>
              <a:srgbClr val="D3D6D9"/>
            </a:solidFill>
            <a:prstDash val="solid"/>
          </a:ln>
          <a:effectLst>
            <a:outerShdw sx="100000" sy="100000" kx="0" ky="0" algn="bl" rotWithShape="0" blurRad="76200" dist="19050" dir="5400000">
              <a:srgbClr val="000000">
                <a:alpha val="10000"/>
              </a:srgbClr>
            </a:outerShdw>
          </a:effectLst>
        </p:spPr>
      </p:sp>
      <p:sp>
        <p:nvSpPr>
          <p:cNvPr id="68" name="Shape 56"/>
          <p:cNvSpPr/>
          <p:nvPr/>
        </p:nvSpPr>
        <p:spPr>
          <a:xfrm>
            <a:off x="7168896" y="6373368"/>
            <a:ext cx="384048" cy="384048"/>
          </a:xfrm>
          <a:prstGeom prst="ellipse">
            <a:avLst/>
          </a:prstGeom>
          <a:solidFill>
            <a:srgbClr val="C3E6B4"/>
          </a:solidFill>
          <a:ln w="12700">
            <a:solidFill>
              <a:srgbClr val="C3E6B4"/>
            </a:solidFill>
            <a:prstDash val="solid"/>
          </a:ln>
        </p:spPr>
      </p:sp>
      <p:pic>
        <p:nvPicPr>
          <p:cNvPr id="69" name="Image 10" descr="preencoded.png">    </p:cNvPr>
          <p:cNvPicPr>
            <a:picLocks noChangeAspect="1"/>
          </p:cNvPicPr>
          <p:nvPr/>
        </p:nvPicPr>
        <p:blipFill>
          <a:blip r:embed="rId11"/>
          <a:stretch>
            <a:fillRect/>
          </a:stretch>
        </p:blipFill>
        <p:spPr>
          <a:xfrm>
            <a:off x="7260336" y="6464808"/>
            <a:ext cx="201168" cy="201168"/>
          </a:xfrm>
          <a:prstGeom prst="rect">
            <a:avLst/>
          </a:prstGeom>
        </p:spPr>
      </p:pic>
      <p:sp>
        <p:nvSpPr>
          <p:cNvPr id="70" name="Text 57"/>
          <p:cNvSpPr txBox="1"/>
          <p:nvPr/>
        </p:nvSpPr>
        <p:spPr>
          <a:xfrm>
            <a:off x="7626096" y="6345936"/>
            <a:ext cx="1737360" cy="438912"/>
          </a:xfrm>
          <a:prstGeom prst="rect">
            <a:avLst/>
          </a:prstGeom>
          <a:noFill/>
          <a:ln/>
        </p:spPr>
        <p:txBody>
          <a:bodyPr wrap="square" lIns="0" tIns="0" rIns="0" bIns="0" rtlCol="0" anchor="ctr"/>
          <a:lstStyle/>
          <a:p>
            <a:pPr indent="0" marL="0">
              <a:buNone/>
            </a:pPr>
            <a:r>
              <a:rPr lang="en-US" sz="1200" b="1" dirty="0">
                <a:solidFill>
                  <a:srgbClr val="33383D"/>
                </a:solidFill>
              </a:rPr>
              <a:t>Information Security</a:t>
            </a:r>
            <a:endParaRPr lang="en-US" sz="1200" dirty="0"/>
          </a:p>
        </p:txBody>
      </p:sp>
      <p:sp>
        <p:nvSpPr>
          <p:cNvPr id="71" name="Text 58"/>
          <p:cNvSpPr txBox="1"/>
          <p:nvPr/>
        </p:nvSpPr>
        <p:spPr>
          <a:xfrm>
            <a:off x="7168896" y="6848856"/>
            <a:ext cx="2176272" cy="621792"/>
          </a:xfrm>
          <a:prstGeom prst="rect">
            <a:avLst/>
          </a:prstGeom>
          <a:noFill/>
          <a:ln/>
        </p:spPr>
        <p:txBody>
          <a:bodyPr wrap="square" lIns="0" tIns="0" rIns="0" bIns="0" rtlCol="0" anchor="t"/>
          <a:lstStyle/>
          <a:p>
            <a:pPr indent="0" marL="0">
              <a:buNone/>
            </a:pPr>
            <a:r>
              <a:rPr lang="en-US" sz="1050" dirty="0">
                <a:solidFill>
                  <a:srgbClr val="5F666D"/>
                </a:solidFill>
              </a:rPr>
              <a:t>Access logging, SIEM integration, sensitive-data oversight</a:t>
            </a:r>
            <a:endParaRPr lang="en-US" sz="1050" dirty="0"/>
          </a:p>
        </p:txBody>
      </p:sp>
      <p:sp>
        <p:nvSpPr>
          <p:cNvPr id="72" name="Shape 59"/>
          <p:cNvSpPr/>
          <p:nvPr/>
        </p:nvSpPr>
        <p:spPr>
          <a:xfrm>
            <a:off x="9820656" y="1371600"/>
            <a:ext cx="3621024" cy="6355080"/>
          </a:xfrm>
          <a:prstGeom prst="roundRect">
            <a:avLst>
              <a:gd name="adj" fmla="val 2525"/>
            </a:avLst>
          </a:prstGeom>
          <a:solidFill>
            <a:srgbClr val="FFF7DE"/>
          </a:solidFill>
          <a:ln w="12700">
            <a:solidFill>
              <a:srgbClr val="FFF7DE"/>
            </a:solidFill>
            <a:prstDash val="solid"/>
          </a:ln>
        </p:spPr>
      </p:sp>
      <p:sp>
        <p:nvSpPr>
          <p:cNvPr id="73" name="Shape 60"/>
          <p:cNvSpPr/>
          <p:nvPr/>
        </p:nvSpPr>
        <p:spPr>
          <a:xfrm>
            <a:off x="9820656" y="1371600"/>
            <a:ext cx="3621024" cy="548640"/>
          </a:xfrm>
          <a:prstGeom prst="roundRect">
            <a:avLst>
              <a:gd name="adj" fmla="val 16667"/>
            </a:avLst>
          </a:prstGeom>
          <a:solidFill>
            <a:srgbClr val="FFD866"/>
          </a:solidFill>
          <a:ln w="12700">
            <a:solidFill>
              <a:srgbClr val="FFD866"/>
            </a:solidFill>
            <a:prstDash val="solid"/>
          </a:ln>
        </p:spPr>
      </p:sp>
      <p:pic>
        <p:nvPicPr>
          <p:cNvPr id="74" name="Image 11" descr="preencoded.png">    </p:cNvPr>
          <p:cNvPicPr>
            <a:picLocks noChangeAspect="1"/>
          </p:cNvPicPr>
          <p:nvPr/>
        </p:nvPicPr>
        <p:blipFill>
          <a:blip r:embed="rId12"/>
          <a:stretch>
            <a:fillRect/>
          </a:stretch>
        </p:blipFill>
        <p:spPr>
          <a:xfrm>
            <a:off x="9985248" y="1508760"/>
            <a:ext cx="274320" cy="274320"/>
          </a:xfrm>
          <a:prstGeom prst="rect">
            <a:avLst/>
          </a:prstGeom>
        </p:spPr>
      </p:pic>
      <p:sp>
        <p:nvSpPr>
          <p:cNvPr id="75" name="Text 61"/>
          <p:cNvSpPr txBox="1"/>
          <p:nvPr/>
        </p:nvSpPr>
        <p:spPr>
          <a:xfrm>
            <a:off x="10351008" y="1371600"/>
            <a:ext cx="2980944" cy="548640"/>
          </a:xfrm>
          <a:prstGeom prst="rect">
            <a:avLst/>
          </a:prstGeom>
          <a:noFill/>
          <a:ln/>
        </p:spPr>
        <p:txBody>
          <a:bodyPr wrap="square" lIns="0" tIns="0" rIns="0" bIns="0" rtlCol="0" anchor="ctr"/>
          <a:lstStyle/>
          <a:p>
            <a:pPr indent="0" marL="0">
              <a:buNone/>
            </a:pPr>
            <a:r>
              <a:rPr lang="en-US" sz="1500" b="1" dirty="0">
                <a:solidFill>
                  <a:srgbClr val="33383D"/>
                </a:solidFill>
              </a:rPr>
              <a:t>What everyone needs to know</a:t>
            </a:r>
            <a:endParaRPr lang="en-US" sz="1500" dirty="0"/>
          </a:p>
        </p:txBody>
      </p:sp>
      <p:pic>
        <p:nvPicPr>
          <p:cNvPr id="76" name="Image 12" descr="preencoded.png">    </p:cNvPr>
          <p:cNvPicPr>
            <a:picLocks noChangeAspect="1"/>
          </p:cNvPicPr>
          <p:nvPr/>
        </p:nvPicPr>
        <p:blipFill>
          <a:blip r:embed="rId13"/>
          <a:stretch>
            <a:fillRect/>
          </a:stretch>
        </p:blipFill>
        <p:spPr>
          <a:xfrm>
            <a:off x="9985248" y="2093976"/>
            <a:ext cx="219456" cy="219456"/>
          </a:xfrm>
          <a:prstGeom prst="rect">
            <a:avLst/>
          </a:prstGeom>
        </p:spPr>
      </p:pic>
      <p:sp>
        <p:nvSpPr>
          <p:cNvPr id="77" name="Text 62"/>
          <p:cNvSpPr txBox="1"/>
          <p:nvPr/>
        </p:nvSpPr>
        <p:spPr>
          <a:xfrm>
            <a:off x="10287000" y="2057400"/>
            <a:ext cx="3063240" cy="777240"/>
          </a:xfrm>
          <a:prstGeom prst="rect">
            <a:avLst/>
          </a:prstGeom>
          <a:noFill/>
          <a:ln/>
        </p:spPr>
        <p:txBody>
          <a:bodyPr wrap="square" lIns="0" tIns="0" rIns="0" bIns="0" rtlCol="0" anchor="t"/>
          <a:lstStyle/>
          <a:p>
            <a:pPr indent="0" marL="0">
              <a:buNone/>
            </a:pPr>
            <a:r>
              <a:rPr lang="en-US" sz="1150" b="1" dirty="0">
                <a:solidFill>
                  <a:srgbClr val="33383D"/>
                </a:solidFill>
              </a:rPr>
              <a:t>Nothing is deleted without sign-off</a:t>
            </a:r>
            <a:endParaRPr lang="en-US" sz="1000" dirty="0"/>
          </a:p>
          <a:p>
            <a:pPr indent="0" marL="0">
              <a:buNone/>
            </a:pPr>
            <a:r>
              <a:rPr lang="en-US" sz="1050" dirty="0">
                <a:solidFill>
                  <a:srgbClr val="5F666D"/>
                </a:solidFill>
              </a:rPr>
              <a:t>Every purge needs Data Owner approval, recorded with name and date</a:t>
            </a:r>
            <a:endParaRPr lang="en-US" sz="1000" dirty="0"/>
          </a:p>
        </p:txBody>
      </p:sp>
      <p:pic>
        <p:nvPicPr>
          <p:cNvPr id="78" name="Image 13" descr="preencoded.png">    </p:cNvPr>
          <p:cNvPicPr>
            <a:picLocks noChangeAspect="1"/>
          </p:cNvPicPr>
          <p:nvPr/>
        </p:nvPicPr>
        <p:blipFill>
          <a:blip r:embed="rId14"/>
          <a:stretch>
            <a:fillRect/>
          </a:stretch>
        </p:blipFill>
        <p:spPr>
          <a:xfrm>
            <a:off x="9985248" y="2889504"/>
            <a:ext cx="219456" cy="219456"/>
          </a:xfrm>
          <a:prstGeom prst="rect">
            <a:avLst/>
          </a:prstGeom>
        </p:spPr>
      </p:pic>
      <p:sp>
        <p:nvSpPr>
          <p:cNvPr id="79" name="Text 63"/>
          <p:cNvSpPr txBox="1"/>
          <p:nvPr/>
        </p:nvSpPr>
        <p:spPr>
          <a:xfrm>
            <a:off x="10287000" y="2852928"/>
            <a:ext cx="3063240" cy="777240"/>
          </a:xfrm>
          <a:prstGeom prst="rect">
            <a:avLst/>
          </a:prstGeom>
          <a:noFill/>
          <a:ln/>
        </p:spPr>
        <p:txBody>
          <a:bodyPr wrap="square" lIns="0" tIns="0" rIns="0" bIns="0" rtlCol="0" anchor="t"/>
          <a:lstStyle/>
          <a:p>
            <a:pPr indent="0" marL="0">
              <a:buNone/>
            </a:pPr>
            <a:r>
              <a:rPr lang="en-US" sz="1150" b="1" dirty="0">
                <a:solidFill>
                  <a:srgbClr val="33383D"/>
                </a:solidFill>
              </a:rPr>
              <a:t>Legal holds always win</a:t>
            </a:r>
            <a:endParaRPr lang="en-US" sz="1000" dirty="0"/>
          </a:p>
          <a:p>
            <a:pPr indent="0" marL="0">
              <a:buNone/>
            </a:pPr>
            <a:r>
              <a:rPr lang="en-US" sz="1050" dirty="0">
                <a:solidFill>
                  <a:srgbClr val="5F666D"/>
                </a:solidFill>
              </a:rPr>
              <a:t>Held files are excluded automatically and re-checked every cycle</a:t>
            </a:r>
            <a:endParaRPr lang="en-US" sz="1000" dirty="0"/>
          </a:p>
        </p:txBody>
      </p:sp>
      <p:pic>
        <p:nvPicPr>
          <p:cNvPr id="80" name="Image 14" descr="preencoded.png">    </p:cNvPr>
          <p:cNvPicPr>
            <a:picLocks noChangeAspect="1"/>
          </p:cNvPicPr>
          <p:nvPr/>
        </p:nvPicPr>
        <p:blipFill>
          <a:blip r:embed="rId15"/>
          <a:stretch>
            <a:fillRect/>
          </a:stretch>
        </p:blipFill>
        <p:spPr>
          <a:xfrm>
            <a:off x="9985248" y="3685032"/>
            <a:ext cx="219456" cy="219456"/>
          </a:xfrm>
          <a:prstGeom prst="rect">
            <a:avLst/>
          </a:prstGeom>
        </p:spPr>
      </p:pic>
      <p:sp>
        <p:nvSpPr>
          <p:cNvPr id="81" name="Text 64"/>
          <p:cNvSpPr txBox="1"/>
          <p:nvPr/>
        </p:nvSpPr>
        <p:spPr>
          <a:xfrm>
            <a:off x="10287000" y="3648456"/>
            <a:ext cx="3063240" cy="777240"/>
          </a:xfrm>
          <a:prstGeom prst="rect">
            <a:avLst/>
          </a:prstGeom>
          <a:noFill/>
          <a:ln/>
        </p:spPr>
        <p:txBody>
          <a:bodyPr wrap="square" lIns="0" tIns="0" rIns="0" bIns="0" rtlCol="0" anchor="t"/>
          <a:lstStyle/>
          <a:p>
            <a:pPr indent="0" marL="0">
              <a:buNone/>
            </a:pPr>
            <a:r>
              <a:rPr lang="en-US" sz="1150" b="1" dirty="0">
                <a:solidFill>
                  <a:srgbClr val="33383D"/>
                </a:solidFill>
              </a:rPr>
              <a:t>Every deletion is traceable</a:t>
            </a:r>
            <a:endParaRPr lang="en-US" sz="1000" dirty="0"/>
          </a:p>
          <a:p>
            <a:pPr indent="0" marL="0">
              <a:buNone/>
            </a:pPr>
            <a:r>
              <a:rPr lang="en-US" sz="1050" dirty="0">
                <a:solidFill>
                  <a:srgbClr val="5F666D"/>
                </a:solidFill>
              </a:rPr>
              <a:t>A tombstone records path, hash, date and approver</a:t>
            </a:r>
            <a:endParaRPr lang="en-US" sz="1000" dirty="0"/>
          </a:p>
        </p:txBody>
      </p:sp>
      <p:pic>
        <p:nvPicPr>
          <p:cNvPr id="82" name="Image 15" descr="preencoded.png">    </p:cNvPr>
          <p:cNvPicPr>
            <a:picLocks noChangeAspect="1"/>
          </p:cNvPicPr>
          <p:nvPr/>
        </p:nvPicPr>
        <p:blipFill>
          <a:blip r:embed="rId16"/>
          <a:stretch>
            <a:fillRect/>
          </a:stretch>
        </p:blipFill>
        <p:spPr>
          <a:xfrm>
            <a:off x="9985248" y="4480560"/>
            <a:ext cx="219456" cy="219456"/>
          </a:xfrm>
          <a:prstGeom prst="rect">
            <a:avLst/>
          </a:prstGeom>
        </p:spPr>
      </p:pic>
      <p:sp>
        <p:nvSpPr>
          <p:cNvPr id="83" name="Text 65"/>
          <p:cNvSpPr txBox="1"/>
          <p:nvPr/>
        </p:nvSpPr>
        <p:spPr>
          <a:xfrm>
            <a:off x="10287000" y="4443984"/>
            <a:ext cx="3063240" cy="777240"/>
          </a:xfrm>
          <a:prstGeom prst="rect">
            <a:avLst/>
          </a:prstGeom>
          <a:noFill/>
          <a:ln/>
        </p:spPr>
        <p:txBody>
          <a:bodyPr wrap="square" lIns="0" tIns="0" rIns="0" bIns="0" rtlCol="0" anchor="t"/>
          <a:lstStyle/>
          <a:p>
            <a:pPr indent="0" marL="0">
              <a:buNone/>
            </a:pPr>
            <a:r>
              <a:rPr lang="en-US" sz="1150" b="1" dirty="0">
                <a:solidFill>
                  <a:srgbClr val="33383D"/>
                </a:solidFill>
              </a:rPr>
              <a:t>Archive is an option</a:t>
            </a:r>
            <a:endParaRPr lang="en-US" sz="1000" dirty="0"/>
          </a:p>
          <a:p>
            <a:pPr indent="0" marL="0">
              <a:buNone/>
            </a:pPr>
            <a:r>
              <a:rPr lang="en-US" sz="1050" dirty="0">
                <a:solidFill>
                  <a:srgbClr val="5F666D"/>
                </a:solidFill>
              </a:rPr>
              <a:t>Files with ongoing business value move to archive, not the bin</a:t>
            </a:r>
            <a:endParaRPr lang="en-US" sz="1000" dirty="0"/>
          </a:p>
        </p:txBody>
      </p:sp>
      <p:pic>
        <p:nvPicPr>
          <p:cNvPr id="84" name="Image 16" descr="preencoded.png">    </p:cNvPr>
          <p:cNvPicPr>
            <a:picLocks noChangeAspect="1"/>
          </p:cNvPicPr>
          <p:nvPr/>
        </p:nvPicPr>
        <p:blipFill>
          <a:blip r:embed="rId17"/>
          <a:stretch>
            <a:fillRect/>
          </a:stretch>
        </p:blipFill>
        <p:spPr>
          <a:xfrm>
            <a:off x="9985248" y="5276088"/>
            <a:ext cx="219456" cy="219456"/>
          </a:xfrm>
          <a:prstGeom prst="rect">
            <a:avLst/>
          </a:prstGeom>
        </p:spPr>
      </p:pic>
      <p:sp>
        <p:nvSpPr>
          <p:cNvPr id="85" name="Text 66"/>
          <p:cNvSpPr txBox="1"/>
          <p:nvPr/>
        </p:nvSpPr>
        <p:spPr>
          <a:xfrm>
            <a:off x="10287000" y="5239512"/>
            <a:ext cx="3063240" cy="777240"/>
          </a:xfrm>
          <a:prstGeom prst="rect">
            <a:avLst/>
          </a:prstGeom>
          <a:noFill/>
          <a:ln/>
        </p:spPr>
        <p:txBody>
          <a:bodyPr wrap="square" lIns="0" tIns="0" rIns="0" bIns="0" rtlCol="0" anchor="t"/>
          <a:lstStyle/>
          <a:p>
            <a:pPr indent="0" marL="0">
              <a:buNone/>
            </a:pPr>
            <a:r>
              <a:rPr lang="en-US" sz="1150" b="1" dirty="0">
                <a:solidFill>
                  <a:srgbClr val="33383D"/>
                </a:solidFill>
              </a:rPr>
              <a:t>Expect review requests</a:t>
            </a:r>
            <a:endParaRPr lang="en-US" sz="1000" dirty="0"/>
          </a:p>
          <a:p>
            <a:pPr indent="0" marL="0">
              <a:buNone/>
            </a:pPr>
            <a:r>
              <a:rPr lang="en-US" sz="1050" dirty="0">
                <a:solidFill>
                  <a:srgbClr val="5F666D"/>
                </a:solidFill>
              </a:rPr>
              <a:t>Owners and stewards get queues in BigID or ticketing; response SLA to be agreed</a:t>
            </a:r>
            <a:endParaRPr lang="en-US" sz="1000" dirty="0"/>
          </a:p>
        </p:txBody>
      </p:sp>
      <p:pic>
        <p:nvPicPr>
          <p:cNvPr id="86" name="Image 17" descr="preencoded.png">    </p:cNvPr>
          <p:cNvPicPr>
            <a:picLocks noChangeAspect="1"/>
          </p:cNvPicPr>
          <p:nvPr/>
        </p:nvPicPr>
        <p:blipFill>
          <a:blip r:embed="rId18"/>
          <a:stretch>
            <a:fillRect/>
          </a:stretch>
        </p:blipFill>
        <p:spPr>
          <a:xfrm>
            <a:off x="9985248" y="6071616"/>
            <a:ext cx="219456" cy="219456"/>
          </a:xfrm>
          <a:prstGeom prst="rect">
            <a:avLst/>
          </a:prstGeom>
        </p:spPr>
      </p:pic>
      <p:sp>
        <p:nvSpPr>
          <p:cNvPr id="87" name="Text 67"/>
          <p:cNvSpPr txBox="1"/>
          <p:nvPr/>
        </p:nvSpPr>
        <p:spPr>
          <a:xfrm>
            <a:off x="10287000" y="6035040"/>
            <a:ext cx="3063240" cy="777240"/>
          </a:xfrm>
          <a:prstGeom prst="rect">
            <a:avLst/>
          </a:prstGeom>
          <a:noFill/>
          <a:ln/>
        </p:spPr>
        <p:txBody>
          <a:bodyPr wrap="square" lIns="0" tIns="0" rIns="0" bIns="0" rtlCol="0" anchor="t"/>
          <a:lstStyle/>
          <a:p>
            <a:pPr indent="0" marL="0">
              <a:buNone/>
            </a:pPr>
            <a:r>
              <a:rPr lang="en-US" sz="1150" b="1" dirty="0">
                <a:solidFill>
                  <a:srgbClr val="33383D"/>
                </a:solidFill>
              </a:rPr>
              <a:t>Advance notice before each wave</a:t>
            </a:r>
            <a:endParaRPr lang="en-US" sz="1000" dirty="0"/>
          </a:p>
          <a:p>
            <a:pPr indent="0" marL="0">
              <a:buNone/>
            </a:pPr>
            <a:r>
              <a:rPr lang="en-US" sz="1050" dirty="0">
                <a:solidFill>
                  <a:srgbClr val="5F666D"/>
                </a:solidFill>
              </a:rPr>
              <a:t>Share users are told what is in scope and when</a:t>
            </a:r>
            <a:endParaRPr lang="en-US" sz="1000" dirty="0"/>
          </a:p>
        </p:txBody>
      </p:sp>
      <p:pic>
        <p:nvPicPr>
          <p:cNvPr id="88" name="Image 18" descr="preencoded.png">    </p:cNvPr>
          <p:cNvPicPr>
            <a:picLocks noChangeAspect="1"/>
          </p:cNvPicPr>
          <p:nvPr/>
        </p:nvPicPr>
        <p:blipFill>
          <a:blip r:embed="rId19"/>
          <a:stretch>
            <a:fillRect/>
          </a:stretch>
        </p:blipFill>
        <p:spPr>
          <a:xfrm>
            <a:off x="9985248" y="6867144"/>
            <a:ext cx="219456" cy="219456"/>
          </a:xfrm>
          <a:prstGeom prst="rect">
            <a:avLst/>
          </a:prstGeom>
        </p:spPr>
      </p:pic>
      <p:sp>
        <p:nvSpPr>
          <p:cNvPr id="89" name="Text 68"/>
          <p:cNvSpPr txBox="1"/>
          <p:nvPr/>
        </p:nvSpPr>
        <p:spPr>
          <a:xfrm>
            <a:off x="10287000" y="6830568"/>
            <a:ext cx="3063240" cy="777240"/>
          </a:xfrm>
          <a:prstGeom prst="rect">
            <a:avLst/>
          </a:prstGeom>
          <a:noFill/>
          <a:ln/>
        </p:spPr>
        <p:txBody>
          <a:bodyPr wrap="square" lIns="0" tIns="0" rIns="0" bIns="0" rtlCol="0" anchor="t"/>
          <a:lstStyle/>
          <a:p>
            <a:pPr indent="0" marL="0">
              <a:buNone/>
            </a:pPr>
            <a:r>
              <a:rPr lang="en-US" sz="1150" b="1" dirty="0">
                <a:solidFill>
                  <a:srgbClr val="33383D"/>
                </a:solidFill>
              </a:rPr>
              <a:t>Backups must align</a:t>
            </a:r>
            <a:endParaRPr lang="en-US" sz="1000" dirty="0"/>
          </a:p>
          <a:p>
            <a:pPr indent="0" marL="0">
              <a:buNone/>
            </a:pPr>
            <a:r>
              <a:rPr lang="en-US" sz="1050" dirty="0">
                <a:solidFill>
                  <a:srgbClr val="5F666D"/>
                </a:solidFill>
              </a:rPr>
              <a:t>Purged files should not persist in backups; confirm with Infrastructure</a:t>
            </a:r>
            <a:endParaRPr lang="en-US" sz="1000" dirty="0"/>
          </a:p>
        </p:txBody>
      </p:sp>
      <p:sp>
        <p:nvSpPr>
          <p:cNvPr id="90" name="Shape 69"/>
          <p:cNvSpPr/>
          <p:nvPr/>
        </p:nvSpPr>
        <p:spPr>
          <a:xfrm>
            <a:off x="274320" y="7909560"/>
            <a:ext cx="13167360" cy="1051560"/>
          </a:xfrm>
          <a:prstGeom prst="roundRect">
            <a:avLst>
              <a:gd name="adj" fmla="val 8696"/>
            </a:avLst>
          </a:prstGeom>
          <a:solidFill>
            <a:srgbClr val="C3E6B4"/>
          </a:solidFill>
          <a:ln w="12700">
            <a:solidFill>
              <a:srgbClr val="C3E6B4"/>
            </a:solidFill>
            <a:prstDash val="solid"/>
          </a:ln>
        </p:spPr>
      </p:sp>
      <p:pic>
        <p:nvPicPr>
          <p:cNvPr id="91" name="Image 19" descr="preencoded.png">    </p:cNvPr>
          <p:cNvPicPr>
            <a:picLocks noChangeAspect="1"/>
          </p:cNvPicPr>
          <p:nvPr/>
        </p:nvPicPr>
        <p:blipFill>
          <a:blip r:embed="rId20"/>
          <a:stretch>
            <a:fillRect/>
          </a:stretch>
        </p:blipFill>
        <p:spPr>
          <a:xfrm>
            <a:off x="502920" y="8202168"/>
            <a:ext cx="292608" cy="292608"/>
          </a:xfrm>
          <a:prstGeom prst="rect">
            <a:avLst/>
          </a:prstGeom>
        </p:spPr>
      </p:pic>
      <p:sp>
        <p:nvSpPr>
          <p:cNvPr id="92" name="Text 70"/>
          <p:cNvSpPr txBox="1"/>
          <p:nvPr/>
        </p:nvSpPr>
        <p:spPr>
          <a:xfrm>
            <a:off x="914400" y="7909560"/>
            <a:ext cx="2011680" cy="1051560"/>
          </a:xfrm>
          <a:prstGeom prst="rect">
            <a:avLst/>
          </a:prstGeom>
          <a:noFill/>
          <a:ln/>
        </p:spPr>
        <p:txBody>
          <a:bodyPr wrap="square" lIns="0" tIns="0" rIns="0" bIns="0" rtlCol="0" anchor="ctr"/>
          <a:lstStyle/>
          <a:p>
            <a:pPr indent="0" marL="0">
              <a:buNone/>
            </a:pPr>
            <a:r>
              <a:rPr lang="en-US" sz="1400" b="1" dirty="0">
                <a:solidFill>
                  <a:srgbClr val="33383D"/>
                </a:solidFill>
              </a:rPr>
              <a:t>Executive asks</a:t>
            </a:r>
            <a:endParaRPr lang="en-US" sz="1000" dirty="0"/>
          </a:p>
          <a:p>
            <a:pPr indent="0" marL="0">
              <a:buNone/>
            </a:pPr>
            <a:r>
              <a:rPr lang="en-US" sz="1050" dirty="0">
                <a:solidFill>
                  <a:srgbClr val="33383D"/>
                </a:solidFill>
              </a:rPr>
              <a:t>To start the first wave</a:t>
            </a:r>
            <a:endParaRPr lang="en-US" sz="1000" dirty="0"/>
          </a:p>
        </p:txBody>
      </p:sp>
      <p:sp>
        <p:nvSpPr>
          <p:cNvPr id="93" name="Shape 71"/>
          <p:cNvSpPr/>
          <p:nvPr/>
        </p:nvSpPr>
        <p:spPr>
          <a:xfrm>
            <a:off x="3108960" y="8046720"/>
            <a:ext cx="3291840" cy="777240"/>
          </a:xfrm>
          <a:prstGeom prst="roundRect">
            <a:avLst>
              <a:gd name="adj" fmla="val 8235"/>
            </a:avLst>
          </a:prstGeom>
          <a:solidFill>
            <a:srgbClr val="FFFFFF"/>
          </a:solidFill>
          <a:ln w="12700">
            <a:solidFill>
              <a:srgbClr val="FFFFFF"/>
            </a:solidFill>
            <a:prstDash val="solid"/>
          </a:ln>
        </p:spPr>
      </p:sp>
      <p:sp>
        <p:nvSpPr>
          <p:cNvPr id="94" name="Text 72"/>
          <p:cNvSpPr txBox="1"/>
          <p:nvPr/>
        </p:nvSpPr>
        <p:spPr>
          <a:xfrm>
            <a:off x="3218688" y="8046720"/>
            <a:ext cx="320040" cy="777240"/>
          </a:xfrm>
          <a:prstGeom prst="rect">
            <a:avLst/>
          </a:prstGeom>
          <a:noFill/>
          <a:ln/>
        </p:spPr>
        <p:txBody>
          <a:bodyPr wrap="square" lIns="0" tIns="0" rIns="0" bIns="0" rtlCol="0" anchor="ctr"/>
          <a:lstStyle/>
          <a:p>
            <a:pPr indent="0" marL="0">
              <a:buNone/>
            </a:pPr>
            <a:r>
              <a:rPr lang="en-US" sz="2000" b="1" dirty="0">
                <a:solidFill>
                  <a:srgbClr val="3F7F2E"/>
                </a:solidFill>
              </a:rPr>
              <a:t>1</a:t>
            </a:r>
            <a:endParaRPr lang="en-US" sz="2000" dirty="0"/>
          </a:p>
        </p:txBody>
      </p:sp>
      <p:sp>
        <p:nvSpPr>
          <p:cNvPr id="95" name="Text 73"/>
          <p:cNvSpPr txBox="1"/>
          <p:nvPr/>
        </p:nvSpPr>
        <p:spPr>
          <a:xfrm>
            <a:off x="3566160" y="8046720"/>
            <a:ext cx="2743200" cy="777240"/>
          </a:xfrm>
          <a:prstGeom prst="rect">
            <a:avLst/>
          </a:prstGeom>
          <a:noFill/>
          <a:ln/>
        </p:spPr>
        <p:txBody>
          <a:bodyPr wrap="square" lIns="0" tIns="0" rIns="0" bIns="0" rtlCol="0" anchor="ctr"/>
          <a:lstStyle/>
          <a:p>
            <a:pPr indent="0" marL="0">
              <a:buNone/>
            </a:pPr>
            <a:r>
              <a:rPr lang="en-US" sz="1100" dirty="0">
                <a:solidFill>
                  <a:srgbClr val="33383D"/>
                </a:solidFill>
              </a:rPr>
              <a:t>Endorse Data Owner sign-off as the mandatory gate, with an agreed response SLA</a:t>
            </a:r>
            <a:endParaRPr lang="en-US" sz="1100" dirty="0"/>
          </a:p>
        </p:txBody>
      </p:sp>
      <p:sp>
        <p:nvSpPr>
          <p:cNvPr id="96" name="Shape 74"/>
          <p:cNvSpPr/>
          <p:nvPr/>
        </p:nvSpPr>
        <p:spPr>
          <a:xfrm>
            <a:off x="6583680" y="8046720"/>
            <a:ext cx="3291840" cy="777240"/>
          </a:xfrm>
          <a:prstGeom prst="roundRect">
            <a:avLst>
              <a:gd name="adj" fmla="val 8235"/>
            </a:avLst>
          </a:prstGeom>
          <a:solidFill>
            <a:srgbClr val="FFFFFF"/>
          </a:solidFill>
          <a:ln w="12700">
            <a:solidFill>
              <a:srgbClr val="FFFFFF"/>
            </a:solidFill>
            <a:prstDash val="solid"/>
          </a:ln>
        </p:spPr>
      </p:sp>
      <p:sp>
        <p:nvSpPr>
          <p:cNvPr id="97" name="Text 75"/>
          <p:cNvSpPr txBox="1"/>
          <p:nvPr/>
        </p:nvSpPr>
        <p:spPr>
          <a:xfrm>
            <a:off x="6693408" y="8046720"/>
            <a:ext cx="320040" cy="777240"/>
          </a:xfrm>
          <a:prstGeom prst="rect">
            <a:avLst/>
          </a:prstGeom>
          <a:noFill/>
          <a:ln/>
        </p:spPr>
        <p:txBody>
          <a:bodyPr wrap="square" lIns="0" tIns="0" rIns="0" bIns="0" rtlCol="0" anchor="ctr"/>
          <a:lstStyle/>
          <a:p>
            <a:pPr indent="0" marL="0">
              <a:buNone/>
            </a:pPr>
            <a:r>
              <a:rPr lang="en-US" sz="2000" b="1" dirty="0">
                <a:solidFill>
                  <a:srgbClr val="3F7F2E"/>
                </a:solidFill>
              </a:rPr>
              <a:t>2</a:t>
            </a:r>
            <a:endParaRPr lang="en-US" sz="2000" dirty="0"/>
          </a:p>
        </p:txBody>
      </p:sp>
      <p:sp>
        <p:nvSpPr>
          <p:cNvPr id="98" name="Text 76"/>
          <p:cNvSpPr txBox="1"/>
          <p:nvPr/>
        </p:nvSpPr>
        <p:spPr>
          <a:xfrm>
            <a:off x="7040880" y="8046720"/>
            <a:ext cx="2743200" cy="777240"/>
          </a:xfrm>
          <a:prstGeom prst="rect">
            <a:avLst/>
          </a:prstGeom>
          <a:noFill/>
          <a:ln/>
        </p:spPr>
        <p:txBody>
          <a:bodyPr wrap="square" lIns="0" tIns="0" rIns="0" bIns="0" rtlCol="0" anchor="ctr"/>
          <a:lstStyle/>
          <a:p>
            <a:pPr indent="0" marL="0">
              <a:buNone/>
            </a:pPr>
            <a:r>
              <a:rPr lang="en-US" sz="1100" dirty="0">
                <a:solidFill>
                  <a:srgbClr val="33383D"/>
                </a:solidFill>
              </a:rPr>
              <a:t>Sponsor a direct legal-hold feed into BigID before any purge runs</a:t>
            </a:r>
            <a:endParaRPr lang="en-US" sz="1100" dirty="0"/>
          </a:p>
        </p:txBody>
      </p:sp>
      <p:sp>
        <p:nvSpPr>
          <p:cNvPr id="99" name="Shape 77"/>
          <p:cNvSpPr/>
          <p:nvPr/>
        </p:nvSpPr>
        <p:spPr>
          <a:xfrm>
            <a:off x="10058400" y="8046720"/>
            <a:ext cx="3291840" cy="777240"/>
          </a:xfrm>
          <a:prstGeom prst="roundRect">
            <a:avLst>
              <a:gd name="adj" fmla="val 8235"/>
            </a:avLst>
          </a:prstGeom>
          <a:solidFill>
            <a:srgbClr val="FFFFFF"/>
          </a:solidFill>
          <a:ln w="12700">
            <a:solidFill>
              <a:srgbClr val="FFFFFF"/>
            </a:solidFill>
            <a:prstDash val="solid"/>
          </a:ln>
        </p:spPr>
      </p:sp>
      <p:sp>
        <p:nvSpPr>
          <p:cNvPr id="100" name="Text 78"/>
          <p:cNvSpPr txBox="1"/>
          <p:nvPr/>
        </p:nvSpPr>
        <p:spPr>
          <a:xfrm>
            <a:off x="10168128" y="8046720"/>
            <a:ext cx="320040" cy="777240"/>
          </a:xfrm>
          <a:prstGeom prst="rect">
            <a:avLst/>
          </a:prstGeom>
          <a:noFill/>
          <a:ln/>
        </p:spPr>
        <p:txBody>
          <a:bodyPr wrap="square" lIns="0" tIns="0" rIns="0" bIns="0" rtlCol="0" anchor="ctr"/>
          <a:lstStyle/>
          <a:p>
            <a:pPr indent="0" marL="0">
              <a:buNone/>
            </a:pPr>
            <a:r>
              <a:rPr lang="en-US" sz="2000" b="1" dirty="0">
                <a:solidFill>
                  <a:srgbClr val="3F7F2E"/>
                </a:solidFill>
              </a:rPr>
              <a:t>3</a:t>
            </a:r>
            <a:endParaRPr lang="en-US" sz="2000" dirty="0"/>
          </a:p>
        </p:txBody>
      </p:sp>
      <p:sp>
        <p:nvSpPr>
          <p:cNvPr id="101" name="Text 79"/>
          <p:cNvSpPr txBox="1"/>
          <p:nvPr/>
        </p:nvSpPr>
        <p:spPr>
          <a:xfrm>
            <a:off x="10515600" y="8046720"/>
            <a:ext cx="2743200" cy="777240"/>
          </a:xfrm>
          <a:prstGeom prst="rect">
            <a:avLst/>
          </a:prstGeom>
          <a:noFill/>
          <a:ln/>
        </p:spPr>
        <p:txBody>
          <a:bodyPr wrap="square" lIns="0" tIns="0" rIns="0" bIns="0" rtlCol="0" anchor="ctr"/>
          <a:lstStyle/>
          <a:p>
            <a:pPr indent="0" marL="0">
              <a:buNone/>
            </a:pPr>
            <a:r>
              <a:rPr lang="en-US" sz="1100" dirty="0">
                <a:solidFill>
                  <a:srgbClr val="33383D"/>
                </a:solidFill>
              </a:rPr>
              <a:t>Back firm-wide communication to share owners ahead of each wave</a:t>
            </a:r>
            <a:endParaRPr lang="en-US" sz="1100" dirty="0"/>
          </a:p>
        </p:txBody>
      </p:sp>
    </p:spTree>
  </p:cSld>
  <p:clrMapOvr>
    <a:masterClrMapping/>
  </p:clrMapOvr>
</p:sld>
</file>

<file path=ppt/theme/theme1.xml><?xml version="1.0" encoding="utf-8"?>
<a:theme xmlns:a="http://schemas.openxmlformats.org/drawingml/2006/main" name="DRD Purge">
  <a:themeElements>
    <a:clrScheme name="DRD Purge">
      <a:dk1>
        <a:srgbClr val="33383D"/>
      </a:dk1>
      <a:lt1>
        <a:srgbClr val="FFFFFF"/>
      </a:lt1>
      <a:dk2>
        <a:srgbClr val="4A5056"/>
      </a:dk2>
      <a:lt2>
        <a:srgbClr val="F4F5F6"/>
      </a:lt2>
      <a:accent1>
        <a:srgbClr val="FFC72C"/>
      </a:accent1>
      <a:accent2>
        <a:srgbClr val="86BF72"/>
      </a:accent2>
      <a:accent3>
        <a:srgbClr val="A87A00"/>
      </a:accent3>
      <a:accent4>
        <a:srgbClr val="3F7F2E"/>
      </a:accent4>
      <a:accent5>
        <a:srgbClr val="FFEFC0"/>
      </a:accent5>
      <a:accent6>
        <a:srgbClr val="E2F2DA"/>
      </a:accent6>
      <a:hlink>
        <a:srgbClr val="3F7F2E"/>
      </a:hlink>
      <a:folHlink>
        <a:srgbClr val="A87A00"/>
      </a:folHlink>
    </a:clrScheme>
    <a:fontScheme name="DRD Purg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Share Retention to Purge Strategy</dc:title>
  <dc:subject>PptxGenJS Presentation</dc:subject>
  <dc:creator>Office of Data Governance</dc:creator>
  <cp:lastModifiedBy>Office of Data Governance</cp:lastModifiedBy>
  <cp:revision>1</cp:revision>
  <dcterms:created xsi:type="dcterms:W3CDTF">2026-10-21T18:02:28Z</dcterms:created>
  <dcterms:modified xsi:type="dcterms:W3CDTF">2026-10-21T18:02:28Z</dcterms:modified>
</cp:coreProperties>
</file>